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platform as a research-facing system rather than as a coding project.</a:t>
            </a:r>
          </a:p>
          <a:p>
            <a:r>
              <a:t>The title slide should immediately connect natural-language requests with quantum-chemistry outputs.</a:t>
            </a:r>
          </a:p>
          <a:p>
            <a:r>
              <a:t>Emphasize that the audience is mixed, so the presentation will stay at the level of motivation, workflow, and impact.</a:t>
            </a:r>
          </a:p>
          <a:p>
            <a:r>
              <a:t>Point to the browser and molecular-visualization pairing as the main visual motif for the whole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agenda to reassure the audience that the talk will move from motivation to impact in a logical arc.</a:t>
            </a:r>
          </a:p>
          <a:p>
            <a:r>
              <a:t>The main goal is to show why this matters, how it works conceptually, and what it can already do.</a:t>
            </a:r>
          </a:p>
          <a:p>
            <a:r>
              <a:t>Mention that technical appendix material is available later for anyone who wants more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 the one-sentence thesis slowly and clearly.</a:t>
            </a:r>
          </a:p>
          <a:p>
            <a:r>
              <a:t>The audience should leave this slide understanding that the interface shift is the main idea.</a:t>
            </a:r>
          </a:p>
          <a:p>
            <a:r>
              <a:t>Frame the remaining slides as evidence supporting this transformation.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divider marks the transition from opening claims to the motivation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Reinforce that the system matters only because the underlying chemical questions matter.</a:t>
            </a:r>
          </a:p>
          <a:p>
            <a:r>
              <a:t>Use HOMO/LUMO, ESP, optimization, and charge analysis as recognizable examples for both experimentalists and computational chemists.</a:t>
            </a:r>
          </a:p>
          <a:p>
            <a:r>
              <a:t>Position the platform as a way to access these outputs more easily, not as a replacement for scientific judgment.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should make the conventional path look operationally heavy.</a:t>
            </a:r>
          </a:p>
          <a:p>
            <a:r>
              <a:t>Stress that compute time is only one piece of the delay; handoffs and tool changes are equally important.</a:t>
            </a:r>
          </a:p>
          <a:p>
            <a:r>
              <a:t>Set up the contrast for the platform's simplicity without exaggerating.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bottleneck in terms of people, software, and knowledge barriers.</a:t>
            </a:r>
          </a:p>
          <a:p>
            <a:r>
              <a:t>Explain that the problem is not that chemists do not care about computation; it is that the access path is expensive in attention and time.</a:t>
            </a:r>
          </a:p>
          <a:p>
            <a:r>
              <a:t>This is the reason a conversational workflow is valuable.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this project becomes realistic now rather than years ago.</a:t>
            </a:r>
          </a:p>
          <a:p>
            <a:r>
              <a:t>The key point is the intersection of maturing language models, open-source compute engines, and web-based delivery.</a:t>
            </a:r>
          </a:p>
          <a:p>
            <a:r>
              <a:t>This is a workflow innovation story built from several mature ingredients.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Move from motivation into platform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platform as a translator between the scientist's question and the machine's compute workflow.</a:t>
            </a:r>
          </a:p>
          <a:p>
            <a:r>
              <a:t>The system should absorb the operational burden while keeping the scientific result visible.</a:t>
            </a:r>
          </a:p>
          <a:p>
            <a:r>
              <a:t>This framing is more useful than focusing on implementation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orient the audience around the major building blocks without diving into code.</a:t>
            </a:r>
          </a:p>
          <a:p>
            <a:r>
              <a:t>The most important takeaway is that each layer has a clear role in the overall workflow.</a:t>
            </a:r>
          </a:p>
          <a:p>
            <a:r>
              <a:t>Avoid overselling the language model; keep PySCF central as the compute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clearly that the AI layer does not replace quantum chemistry.</a:t>
            </a:r>
          </a:p>
          <a:p>
            <a:r>
              <a:t>PySCF is where the scientific calculation actually happens.</a:t>
            </a:r>
          </a:p>
          <a:p>
            <a:r>
              <a:t>That distinction improves credibility with computational chemists in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MCP as the model's hands and feet.</a:t>
            </a:r>
          </a:p>
          <a:p>
            <a:r>
              <a:t>The important distinction is between language interpretation and explicit tool execution.</a:t>
            </a:r>
          </a:p>
          <a:p>
            <a:r>
              <a:t>This helps the audience understand why the system is more than a text-only chatbot.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 through the architecture diagram.</a:t>
            </a:r>
          </a:p>
          <a:p>
            <a:r>
              <a:t>Separate the user-facing path from the external structure sources and the optional scale-out runtime.</a:t>
            </a:r>
          </a:p>
          <a:p>
            <a:r>
              <a:t>Remind the audience that the browser experience hides these internal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operational memory slide: question, routing, structure preparation, computation, packaging, and visualization.</a:t>
            </a:r>
          </a:p>
          <a:p>
            <a:r>
              <a:t>Use it to emphasize that the platform is an end-to-end pipeline.</a:t>
            </a:r>
          </a:p>
          <a:p>
            <a:r>
              <a:t>The system is valuable because it automates the transitions between these stages.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analogy only to make the workflow intuitive, not to trivialize the science.</a:t>
            </a:r>
          </a:p>
          <a:p>
            <a:r>
              <a:t>The scientist orders the result, the system translates, the compute engine executes, and the browser serves.</a:t>
            </a:r>
          </a:p>
          <a:p>
            <a:r>
              <a:t>This works especially well for a mixed lab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from architecture into concrete user-visible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proves that the platform is not a one-off HOMO demo.</a:t>
            </a:r>
          </a:p>
          <a:p>
            <a:r>
              <a:t>Highlight the spread across compute modes, interpretation support, and session continuity.</a:t>
            </a:r>
          </a:p>
          <a:p>
            <a:r>
              <a:t>The table at the bottom ties each feature to a chemical use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orbital preview as the most immediate bridge between computation and chemical intuition.</a:t>
            </a:r>
          </a:p>
          <a:p>
            <a:r>
              <a:t>Stress the user experience: one question, one browser result, no manual cube handling.</a:t>
            </a:r>
          </a:p>
          <a:p>
            <a:r>
              <a:t>This is likely the best first feature to show in a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optimization is both a standalone result and a precondition for later analysis.</a:t>
            </a:r>
          </a:p>
          <a:p>
            <a:r>
              <a:t>This is a good slide to remind the audience that the platform handles more than visualization alone.</a:t>
            </a:r>
          </a:p>
          <a:p>
            <a:r>
              <a:t>Emphasize continuity between optimization and later feature requests.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ESP is often the easiest bridge from calculation to interaction intuition.</a:t>
            </a:r>
          </a:p>
          <a:p>
            <a:r>
              <a:t>This slide should make the electrostatic interpretation visually obvious.</a:t>
            </a:r>
          </a:p>
          <a:p>
            <a:r>
              <a:t>Mention that the system supports it directly from the same chat-driven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broadens the audience's sense of what already exists in the system.</a:t>
            </a:r>
          </a:p>
          <a:p>
            <a:r>
              <a:t>The value is not only in headline images but also in continuity, clarification, and advisor-style support.</a:t>
            </a:r>
          </a:p>
          <a:p>
            <a:r>
              <a:t>That combination pushes the project toward a workflow platform rather than a single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browser visualization is not cosmetic; it is the final step that determines usability.</a:t>
            </a:r>
          </a:p>
          <a:p>
            <a:r>
              <a:t>If users still need another tool, much of the workflow simplification is lost.</a:t>
            </a:r>
          </a:p>
          <a:p>
            <a:r>
              <a:t>That is why the viewer matters as much as the backend route.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from capability description to presentation strategy and evidence framing.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 a demo sequence that starts with one question and then stays in the same context.</a:t>
            </a:r>
          </a:p>
          <a:p>
            <a:r>
              <a:t>The audience should experience continuity rather than a disconnected feature tour.</a:t>
            </a:r>
          </a:p>
          <a:p>
            <a:r>
              <a:t>If live reliability is uncertain, say so and use a recorded clip confidently.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chat transcript makes the interaction pattern concrete.</a:t>
            </a:r>
          </a:p>
          <a:p>
            <a:r>
              <a:t>The real point is that a follow-up question can reuse structure and intent context rather than restarting.</a:t>
            </a:r>
          </a:p>
          <a:p>
            <a:r>
              <a:t>That is what makes the system feel like a workflow assistant instead of a static search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visual proof slide that the output is discussion-ready.</a:t>
            </a:r>
          </a:p>
          <a:p>
            <a:r>
              <a:t>A good result view should show state, image, and interpretation together.</a:t>
            </a:r>
          </a:p>
          <a:p>
            <a:r>
              <a:t>Use this slide to show that the browser can be the final destination for the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Stay disciplined here: compare structure and workflow rather than inventing hard timing claims.</a:t>
            </a:r>
          </a:p>
          <a:p>
            <a:r>
              <a:t>The strongest claim is reduced friction, reduced handoffs, and a single interface surface.</a:t>
            </a:r>
          </a:p>
          <a:p>
            <a:r>
              <a:t>That is already meaningful without a formal user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explicit that the repository supports a benchmark plan, not a finished benchmark paper.</a:t>
            </a:r>
          </a:p>
          <a:p>
            <a:r>
              <a:t>This is a strength rather than a weakness if it is stated honestly.</a:t>
            </a:r>
          </a:p>
          <a:p>
            <a:r>
              <a:t>It positions the next research step clearly.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a deliberate honesty layer.</a:t>
            </a:r>
          </a:p>
          <a:p>
            <a:r>
              <a:t>It helps the audience separate implemented capabilities from unfinished validation and scaling work.</a:t>
            </a:r>
          </a:p>
          <a:p>
            <a:r>
              <a:t>That distinction usually improves trust rather than weakening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three numbers are intentionally conservative and verifiable.</a:t>
            </a:r>
          </a:p>
          <a:p>
            <a:r>
              <a:t>They summarize breadth, accessibility, and cost posture without overclaiming.</a:t>
            </a:r>
          </a:p>
          <a:p>
            <a:r>
              <a:t>This slide works well before the impact section because it resets the audience around concrete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from current-state evidence into implications and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Clarify that the novelty is workflow integration, not a new electronic-structure method.</a:t>
            </a:r>
          </a:p>
          <a:p>
            <a:r>
              <a:t>This distinction matters for credibility and for paper framing.</a:t>
            </a:r>
          </a:p>
          <a:p>
            <a:r>
              <a:t>The intersection view helps explain that novelty succinctly.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strongest practical claim is autonomy for experimentalists and better use of expert computational attention.</a:t>
            </a:r>
          </a:p>
          <a:p>
            <a:r>
              <a:t>Also highlight teaching value; it broadens the audience for the project.</a:t>
            </a:r>
          </a:p>
          <a:p>
            <a:r>
              <a:t>Keep the tone pragmatic rather than utopian.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that the current codebase already hints at a worker-separated runtime and modular extension path.</a:t>
            </a:r>
          </a:p>
          <a:p>
            <a:r>
              <a:t>That makes the roadmap look grounded rather than aspirational.</a:t>
            </a:r>
          </a:p>
          <a:p>
            <a:r>
              <a:t>Different audience members will care about different parts of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 paper as a story about workflow innovation plus validation.</a:t>
            </a:r>
          </a:p>
          <a:p>
            <a:r>
              <a:t>Invite feedback on target journal fit and benchmark scope.</a:t>
            </a:r>
          </a:p>
          <a:p>
            <a:r>
              <a:t>This slide converts technical work into a research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three memorable ideas: question-first interface, compute-backed execution, and lab relevance.</a:t>
            </a:r>
          </a:p>
          <a:p>
            <a:r>
              <a:t>This is the slide the audience should remember after details fade.</a:t>
            </a:r>
          </a:p>
          <a:p>
            <a:r>
              <a:t>Avoid reopening implementation detail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Turn the end of the talk into a collaboration invitation rather than a one-way report.</a:t>
            </a:r>
          </a:p>
          <a:p>
            <a:r>
              <a:t>Ask for real molecules, real questions, and real benchmark criteria from the group.</a:t>
            </a:r>
          </a:p>
          <a:p>
            <a:r>
              <a:t>That invites ownership from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prompt bullets to keep discussion on useful topics if the room goes quiet.</a:t>
            </a:r>
          </a:p>
          <a:p>
            <a:r>
              <a:t>Likely questions will be about validation, scope, and next features.</a:t>
            </a:r>
          </a:p>
          <a:p>
            <a:r>
              <a:t>Answer by distinguishing clearly between current capability and planned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backup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if someone wants a slightly deeper system view without code-level detail.</a:t>
            </a:r>
          </a:p>
          <a:p>
            <a:r>
              <a:t>The layered framing is often enough for a technical audience in a lab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good backup slide when the audience asks how molecule text becomes a usable structure.</a:t>
            </a:r>
          </a:p>
          <a:p>
            <a:r>
              <a:t>It highlights that structure resolution is a serious problem, not a trivial pre-step.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when questions shift toward runtime scale, queueing, or concurrency.</a:t>
            </a:r>
          </a:p>
          <a:p>
            <a:r>
              <a:t>The main message is that the system already has a path toward separating serving and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useful when the room wants to discuss what 'validation' should mean in practice.</a:t>
            </a:r>
          </a:p>
          <a:p>
            <a:r>
              <a:t>Keep the distinction between scientific validity and usability clear.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the appendix by acknowledging the open-source foundation and by listing the key assets still needed for a polished conference version.</a:t>
            </a:r>
          </a:p>
          <a:p>
            <a:r>
              <a:t>This slide is also useful when sharing the deck after the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6583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0F172A"/>
                </a:solidFill>
                <a:latin typeface="Calibri"/>
              </a:rPr>
              <a:t>Quantum Chemistry Automation Platform</a:t>
            </a:r>
          </a:p>
          <a:p>
            <a:r>
              <a:rPr sz="2000" b="0" i="0">
                <a:solidFill>
                  <a:srgbClr val="334155"/>
                </a:solidFill>
                <a:latin typeface="Calibri"/>
              </a:rPr>
              <a:t>LLM + MCP + PySCF for conversational computation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965960"/>
            <a:ext cx="54864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This presentation frames the project as a research tool that lets experimental chemists ask for quantum-chemistry analyses in natural language and receive visualization-ready outputs.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2880360"/>
            <a:ext cx="1463040" cy="219456"/>
          </a:xfrm>
          <a:prstGeom prst="rect">
            <a:avLst/>
          </a:prstGeom>
          <a:solidFill>
            <a:srgbClr val="D92B2B"/>
          </a:solidFill>
          <a:ln>
            <a:solidFill>
              <a:srgbClr val="D9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Refined V2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3246120"/>
            <a:ext cx="2011680" cy="21945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Lab Meeting Deck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2788920" y="3246120"/>
            <a:ext cx="219456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Browser-Based UI</a:t>
            </a:r>
          </a:p>
        </p:txBody>
      </p:sp>
      <p:sp>
        <p:nvSpPr>
          <p:cNvPr id="7" name="Rectangle 6"/>
          <p:cNvSpPr/>
          <p:nvPr/>
        </p:nvSpPr>
        <p:spPr>
          <a:xfrm>
            <a:off x="5102352" y="3246120"/>
            <a:ext cx="1554480" cy="219456"/>
          </a:xfrm>
          <a:prstGeom prst="rect">
            <a:avLst/>
          </a:prstGeom>
          <a:solidFill>
            <a:srgbClr val="0A8A3E"/>
          </a:solidFill>
          <a:ln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Open Source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0" y="685800"/>
            <a:ext cx="3840480" cy="429768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[IMAGE PLACEHOLDER]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Type     : Composite hero visual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Content  : Molecular orbital rendering on the left and chatbot UI screenshot on the right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Source   : Directly generated for the presentation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Filename : hero_quantum_chatbot.png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Alt-text : Hero image combining molecular visualization and the chat interface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589520" y="685800"/>
            <a:ext cx="3840480" cy="429768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7589520" y="685800"/>
            <a:ext cx="3840480" cy="429768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5623560"/>
            <a:ext cx="4754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1">
                <a:solidFill>
                  <a:srgbClr val="94A3B8"/>
                </a:solidFill>
                <a:latin typeface="Calibri"/>
              </a:rPr>
              <a:t>Presenter: Lab member / Date: 2026-03-28 / Context: mixed experimental and computational audience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292608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332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332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334155"/>
                </a:solidFill>
                <a:latin typeface="Calibri"/>
              </a:rPr>
              <a:t>From motivation to platform architecture, capabilities, and next steps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9768" y="1078992"/>
            <a:ext cx="11167567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94360" y="1143000"/>
            <a:ext cx="1100297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417320"/>
            <a:ext cx="548640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Why quantum chemistry remains essential for experimental decision-making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Why the conventional workflow is slow, fragmented, and expert-dependent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How the platform turns a natural-language request into a compute workflow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What the current system can already calculate and visualize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How the browser-based demo experience should be shown in a live talk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What the practical and academic impact could be for the lab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What validation, roadmap, and publication steps come next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417320"/>
            <a:ext cx="4846320" cy="4069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56832" y="1490472"/>
            <a:ext cx="155448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Talk 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12280" y="1965960"/>
            <a:ext cx="1874519" cy="310896"/>
          </a:xfrm>
          <a:prstGeom prst="rect">
            <a:avLst/>
          </a:prstGeom>
          <a:solidFill>
            <a:srgbClr val="D92B2B"/>
          </a:solidFill>
          <a:ln w="15875">
            <a:solidFill>
              <a:srgbClr val="D9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Background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44968" y="2276856"/>
            <a:ext cx="0" cy="146304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10800000">
            <a:off x="7681468" y="235966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12280" y="2441448"/>
            <a:ext cx="1874519" cy="310896"/>
          </a:xfrm>
          <a:prstGeom prst="rect">
            <a:avLst/>
          </a:prstGeom>
          <a:solidFill>
            <a:srgbClr val="D92B2B"/>
          </a:solidFill>
          <a:ln w="15875">
            <a:solidFill>
              <a:srgbClr val="D9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44968" y="2752344"/>
            <a:ext cx="0" cy="146304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10800000">
            <a:off x="7681468" y="2835148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12280" y="2916936"/>
            <a:ext cx="1874519" cy="310896"/>
          </a:xfrm>
          <a:prstGeom prst="rect">
            <a:avLst/>
          </a:prstGeom>
          <a:solidFill>
            <a:srgbClr val="0055D4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Platform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44968" y="3227832"/>
            <a:ext cx="0" cy="146304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10800000">
            <a:off x="7681468" y="3310636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12280" y="3392424"/>
            <a:ext cx="1874519" cy="310896"/>
          </a:xfrm>
          <a:prstGeom prst="rect">
            <a:avLst/>
          </a:prstGeom>
          <a:solidFill>
            <a:srgbClr val="0A8A3E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Capabilities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44968" y="3703320"/>
            <a:ext cx="0" cy="146304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10800000">
            <a:off x="7681468" y="3786124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12280" y="3867912"/>
            <a:ext cx="1874519" cy="310896"/>
          </a:xfrm>
          <a:prstGeom prst="rect">
            <a:avLst/>
          </a:prstGeom>
          <a:solidFill>
            <a:srgbClr val="EA580C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44968" y="4178808"/>
            <a:ext cx="0" cy="146304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10800000">
            <a:off x="7681468" y="4261612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12280" y="4343400"/>
            <a:ext cx="1874519" cy="310896"/>
          </a:xfrm>
          <a:prstGeom prst="rect">
            <a:avLst/>
          </a:prstGeom>
          <a:solidFill>
            <a:srgbClr val="7C3AED"/>
          </a:solidFill>
          <a:ln w="1587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Appendix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292608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332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One-sentence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332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334155"/>
                </a:solidFill>
                <a:latin typeface="Calibri"/>
              </a:rPr>
              <a:t>The deck should open with the main transformation, not with implementation details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9768" y="1078992"/>
            <a:ext cx="11167567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868680" y="1554480"/>
            <a:ext cx="10378440" cy="1463040"/>
          </a:xfrm>
          <a:prstGeom prst="rect">
            <a:avLst/>
          </a:prstGeom>
          <a:solidFill>
            <a:srgbClr val="F1F5F9"/>
          </a:solidFill>
          <a:ln w="25400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300" b="1" i="1">
                <a:solidFill>
                  <a:srgbClr val="0055D4"/>
                </a:solidFill>
                <a:latin typeface="Calibri"/>
              </a:rPr>
              <a:t>If a chemist can describe the molecule and the analysis in plain English, the system can route the computation and return a visualization-ready result.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3657600"/>
            <a:ext cx="3749039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D9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D92B2B"/>
                </a:solidFill>
                <a:latin typeface="Calibri"/>
              </a:rPr>
              <a:t>Before: Input files, tool chains, and specialist mediation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3657600"/>
            <a:ext cx="3749039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0A8A3E"/>
                </a:solidFill>
                <a:latin typeface="Calibri"/>
              </a:rPr>
              <a:t>After: One browser entry point, one question-driven workflow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0" y="4114800"/>
            <a:ext cx="2057400" cy="0"/>
          </a:xfrm>
          <a:prstGeom prst="line">
            <a:avLst/>
          </a:prstGeom>
          <a:ln w="20320">
            <a:solidFill>
              <a:srgbClr val="0055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400000">
            <a:off x="7023100" y="4051300"/>
            <a:ext cx="127000" cy="127000"/>
          </a:xfrm>
          <a:prstGeom prst="triangle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47548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334155"/>
                </a:solidFill>
                <a:latin typeface="Calibri"/>
              </a:rPr>
              <a:t>Accessibility is the real innovation layer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Why This Problem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241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Scientific need, workflow friction, and the current research gap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292608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332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Why experimental chemists still need quantum chemistry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332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334155"/>
                </a:solidFill>
                <a:latin typeface="Calibri"/>
              </a:rPr>
              <a:t>The platform matters only if the underlying scientific questions are real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9768" y="1078992"/>
            <a:ext cx="11167567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325880"/>
            <a:ext cx="5623560" cy="4526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Quantum chemistry provides electronic-structure information that experiments often cannot observe directly.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HOMO/LUMO analysis helps frame reactivity, electron donation, and electron acceptance in an intuitive way.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Geometry optimization identifies a more stable reference structure before downstream interpretation.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Electrostatic potential maps reveal electron-rich and electron-poor regions on the molecular surface.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Partial charges and dipole moments help rationalize intermolecular interactions and selectivity trends.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For transient species or difficult-to-observe intermediates, calculations become a hypothesis-building tool.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value proposition is not to replace experiments, but to sharpen explanation, planning, and interpretation.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9400" y="1417320"/>
            <a:ext cx="4663440" cy="388620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[IMAGE PLACEHOLDER]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Type     : Molecular visualization set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Content  : One orbital image, one ESP surface, and one optimized structure comparison panel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Source   : Directly generated from project outputs or recreated for the deck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Filename : quantum_value_triptych.png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Alt-text : Three molecular panels showing why quantum calculations matter in practice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629400" y="1417320"/>
            <a:ext cx="4663440" cy="388620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6629400" y="1417320"/>
            <a:ext cx="4663440" cy="388620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75120" y="54406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Use an image triptych here so the audience immediately sees that the outputs are chemically meaningful, not merely computational artifacts.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292608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332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Traditional workflow is fragmented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332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334155"/>
                </a:solidFill>
                <a:latin typeface="Calibri"/>
              </a:rPr>
              <a:t>The slow part is not only the compute time, but the human and software chain around it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9768" y="1078992"/>
            <a:ext cx="11167567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40080" y="1828800"/>
            <a:ext cx="123444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 i="0">
                <a:solidFill>
                  <a:srgbClr val="0F172A"/>
                </a:solidFill>
                <a:latin typeface="Calibri"/>
              </a:rPr>
              <a:t>Experimental question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74520" y="2194560"/>
            <a:ext cx="18288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>
          <a:xfrm rot="5400000">
            <a:off x="1993900" y="213106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57400" y="1828800"/>
            <a:ext cx="1234440" cy="731520"/>
          </a:xfrm>
          <a:prstGeom prst="rect">
            <a:avLst/>
          </a:prstGeom>
          <a:solidFill>
            <a:srgbClr val="D92B2B"/>
          </a:solidFill>
          <a:ln w="15875">
            <a:solidFill>
              <a:srgbClr val="D9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Ask a specialist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91840" y="2194560"/>
            <a:ext cx="18288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3411220" y="213106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828800"/>
            <a:ext cx="123444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 i="0">
                <a:solidFill>
                  <a:srgbClr val="0F172A"/>
                </a:solidFill>
                <a:latin typeface="Calibri"/>
              </a:rPr>
              <a:t>Prepare geometry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09160" y="2194560"/>
            <a:ext cx="18288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5400000">
            <a:off x="4828540" y="213106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92040" y="1828800"/>
            <a:ext cx="1234440" cy="731520"/>
          </a:xfrm>
          <a:prstGeom prst="rect">
            <a:avLst/>
          </a:prstGeom>
          <a:solidFill>
            <a:srgbClr val="D92B2B"/>
          </a:solidFill>
          <a:ln w="15875">
            <a:solidFill>
              <a:srgbClr val="D9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Write input files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126480" y="2194560"/>
            <a:ext cx="18288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5400000">
            <a:off x="6245860" y="213106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828800"/>
            <a:ext cx="123444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 i="0">
                <a:solidFill>
                  <a:srgbClr val="0F172A"/>
                </a:solidFill>
                <a:latin typeface="Calibri"/>
              </a:rPr>
              <a:t>Run compute code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543800" y="2194560"/>
            <a:ext cx="182879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7663179" y="213106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26679" y="1828800"/>
            <a:ext cx="123444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 i="0">
                <a:solidFill>
                  <a:srgbClr val="0F172A"/>
                </a:solidFill>
                <a:latin typeface="Calibri"/>
              </a:rPr>
              <a:t>Parse outputs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961119" y="2194560"/>
            <a:ext cx="182881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9080500" y="213106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828800"/>
            <a:ext cx="1234440" cy="731520"/>
          </a:xfrm>
          <a:prstGeom prst="rect">
            <a:avLst/>
          </a:prstGeom>
          <a:solidFill>
            <a:srgbClr val="D92B2B"/>
          </a:solidFill>
          <a:ln w="15875">
            <a:solidFill>
              <a:srgbClr val="D9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Visualize elsewhere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378440" y="2194560"/>
            <a:ext cx="182879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5400000">
            <a:off x="10497819" y="213106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61319" y="1828800"/>
            <a:ext cx="123444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 i="0">
                <a:solidFill>
                  <a:srgbClr val="0F172A"/>
                </a:solidFill>
                <a:latin typeface="Calibri"/>
              </a:rPr>
              <a:t>Explain results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840480"/>
            <a:ext cx="10424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0F172A"/>
                </a:solidFill>
                <a:latin typeface="Calibri"/>
              </a:rPr>
              <a:t>This chain requires multiple tools, repeated file conversion, and repeated interpretation. If any assumption changes, the workflow loops back upstream and the turn-around time grows quickly.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4937760"/>
            <a:ext cx="2011680" cy="219456"/>
          </a:xfrm>
          <a:prstGeom prst="rect">
            <a:avLst/>
          </a:prstGeom>
          <a:solidFill>
            <a:srgbClr val="D92B2B"/>
          </a:solidFill>
          <a:ln>
            <a:solidFill>
              <a:srgbClr val="D9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Pain concentrates here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292608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332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What makes the current workflow painful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332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334155"/>
                </a:solidFill>
                <a:latin typeface="Calibri"/>
              </a:rPr>
              <a:t>The bottleneck is structural: people, tools, and knowledge are all serialized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9768" y="1078992"/>
            <a:ext cx="11167567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417320"/>
            <a:ext cx="566928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A small number of computational experts become the routing bottleneck for routine requests.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Different tools handle structure preparation, execution, parsing, and visualization separately.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Users must understand basis sets, functionals, convergence behavior, and failure recovery.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Commercial software and viewers introduce cost, access-control, and licensing constraints.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Experimentalists often receive outputs without enough interpretive context to act immediately.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Changing the question usually means repeating the same slow loop with a specialist in the middle.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720840" y="1554480"/>
            <a:ext cx="4480560" cy="365760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[IMAGE PLACEHOLDER]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Type     : Concept illustration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Content  : Fragmented legacy workflow with many disconnected software tools and a human bottleneck in the middle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Source   : Custom figure for the presentation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Filename : legacy_workflow_pain.png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Alt-text : Illustration of a fragmented multi-tool workflow with a specialist bottleneck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720840" y="1554480"/>
            <a:ext cx="4480560" cy="365760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6720840" y="1554480"/>
            <a:ext cx="4480560" cy="365760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292608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332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The research gap is now actionable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332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334155"/>
                </a:solidFill>
                <a:latin typeface="Calibri"/>
              </a:rPr>
              <a:t>The enabling condition is the intersection of mature open chemistry, language models, and tool orchestration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9768" y="1078992"/>
            <a:ext cx="11167567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914400" y="1554480"/>
            <a:ext cx="10149840" cy="3337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87552" y="1627632"/>
            <a:ext cx="155448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Intersection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4440" y="2240280"/>
            <a:ext cx="2468880" cy="914400"/>
          </a:xfrm>
          <a:prstGeom prst="rect">
            <a:avLst/>
          </a:prstGeom>
          <a:solidFill>
            <a:srgbClr val="0055D4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Natural-language interpretation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828800"/>
            <a:ext cx="2743200" cy="914400"/>
          </a:xfrm>
          <a:prstGeom prst="rect">
            <a:avLst/>
          </a:prstGeom>
          <a:solidFill>
            <a:srgbClr val="0A8A3E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Open quantum-chemistry engines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2240280"/>
            <a:ext cx="2468880" cy="914400"/>
          </a:xfrm>
          <a:prstGeom prst="rect">
            <a:avLst/>
          </a:prstGeom>
          <a:solidFill>
            <a:srgbClr val="0891B2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Web-native automation and visualization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3246120"/>
            <a:ext cx="32918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055D4"/>
                </a:solidFill>
                <a:latin typeface="Calibri"/>
              </a:rPr>
              <a:t>Practical conversational computation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703320" y="2697480"/>
            <a:ext cx="548640" cy="91440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8942175">
            <a:off x="4188460" y="354838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H="1">
            <a:off x="5897880" y="2743200"/>
            <a:ext cx="45720" cy="50292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11111666">
            <a:off x="5834380" y="318262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H="1">
            <a:off x="7543800" y="2697480"/>
            <a:ext cx="502920" cy="91440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12528648">
            <a:off x="7480300" y="354838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2120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Calibri"/>
              </a:rPr>
              <a:t>Earlier attempts simplified individual tools. The current opportunity is to connect language understanding, tool routing, and open compute backends into one user experience.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Platform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241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How the system converts a natural-language request into a compute-backed result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292608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332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Core idea: question in, insight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332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334155"/>
                </a:solidFill>
                <a:latin typeface="Calibri"/>
              </a:rPr>
              <a:t>The system should hide workflow friction while keeping scientific outputs visible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9768" y="1078992"/>
            <a:ext cx="11167567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822960" y="1645920"/>
            <a:ext cx="2148840" cy="960120"/>
          </a:xfrm>
          <a:prstGeom prst="rect">
            <a:avLst/>
          </a:prstGeom>
          <a:solidFill>
            <a:srgbClr val="0055D4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User question
"Show the HOMO of acetone"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71800" y="2121408"/>
            <a:ext cx="1600200" cy="0"/>
          </a:xfrm>
          <a:prstGeom prst="line">
            <a:avLst/>
          </a:prstGeom>
          <a:ln w="2032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>
          <a:xfrm rot="5400000">
            <a:off x="4508500" y="2057908"/>
            <a:ext cx="127000" cy="127000"/>
          </a:xfrm>
          <a:prstGeom prst="triangle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1645920"/>
            <a:ext cx="2240280" cy="960120"/>
          </a:xfrm>
          <a:prstGeom prst="rect">
            <a:avLst/>
          </a:prstGeom>
          <a:solidFill>
            <a:srgbClr val="0891B2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Intent extraction
molecule + task + context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12280" y="2121408"/>
            <a:ext cx="1554480" cy="0"/>
          </a:xfrm>
          <a:prstGeom prst="line">
            <a:avLst/>
          </a:prstGeom>
          <a:ln w="2032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8303260" y="2057908"/>
            <a:ext cx="127000" cy="127000"/>
          </a:xfrm>
          <a:prstGeom prst="triangle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66760" y="1645920"/>
            <a:ext cx="2788920" cy="960120"/>
          </a:xfrm>
          <a:prstGeom prst="rect">
            <a:avLst/>
          </a:prstGeom>
          <a:solidFill>
            <a:srgbClr val="0A8A3E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Compute route
structure + PySCF + result packaging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154680"/>
            <a:ext cx="100584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user no longer has to think in terms of file formats, command-line options, or post-processing tools.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platform decides which compute path to run and packages the result for immediate use.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Follow-up questions can reuse the same session context instead of restarting from zero.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design goal is not fewer scientific details, but less operational friction around those details.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292608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332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Technology stack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332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334155"/>
                </a:solidFill>
                <a:latin typeface="Calibri"/>
              </a:rPr>
              <a:t>The system combines an open compute engine, a routing layer, and a browser-native presentation layer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9768" y="1078992"/>
            <a:ext cx="11167567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417320"/>
          <a:ext cx="1083564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1880"/>
                <a:gridCol w="3611880"/>
                <a:gridCol w="3611880"/>
              </a:tblGrid>
              <a:tr h="497204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Role in the platform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Compute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PySCF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Runs single-point, orbital, ESP, charge, and optimization workflows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Language interface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LLM providers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Interprets requests, helps route tasks, and explains outputs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Tool bridge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MCP-style tool layer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Connects language intent to explicit compute or helper functions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Web application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FastAPI + WebSocket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Delivers chat, job status, and result retrieval in real time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Visualization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3Dmol.js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Renders molecular structures, surfaces, and orbital views in the browser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External structure data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MolChat / PubChem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Resolves candidate structures before computation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</a:tr>
              <a:tr h="497211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Scalable runtime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Redis + arq (optional)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Separates web serving from job execution when needed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53212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The talk should present these as a coherent pipeline rather than as disconnected frameworks.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292608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332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Why PySCF is the compute backbone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332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334155"/>
                </a:solidFill>
                <a:latin typeface="Calibri"/>
              </a:rPr>
              <a:t>The AI layer routes requests, but PySCF performs the actual electronic-structure work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9768" y="1078992"/>
            <a:ext cx="11167567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417320"/>
            <a:ext cx="5486400" cy="4434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PySCF is an open-source quantum-chemistry framework with strong Python interoperability.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That interoperability makes it well suited for an automated pipeline rather than a manual file-centric workflow.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In this project it underpins single-point energy, orbital preview, ESP mapping, charge analysis, and geometry optimization.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open-source model lowers cost and improves reproducibility compared with commercial-only setups.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platform should therefore be described as a compute-automation system, not as an AI model pretending to calculate.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9400" y="1463040"/>
            <a:ext cx="4572000" cy="361188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[IMAGE PLACEHOLDER]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Type     : Logo plus compute capability graphic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Content  : PySCF logo or text logo with small capability icons for energy, orbitals, ESP, charges, and optimization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Source   : Custom figure or official logo asset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Filename : pyscf_stack_badge.png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Alt-text : PySCF logo with annotated compute capabilities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629400" y="1463040"/>
            <a:ext cx="4572000" cy="361188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6629400" y="1463040"/>
            <a:ext cx="4572000" cy="361188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292608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332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Why LLM + MCP changes the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332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334155"/>
                </a:solidFill>
                <a:latin typeface="Calibri"/>
              </a:rPr>
              <a:t>The novelty lies in turning natural language into explicit tool calls rather than into vague text-only answers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9768" y="1078992"/>
            <a:ext cx="11167567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822960" y="1920240"/>
            <a:ext cx="210312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User request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26080" y="2331720"/>
            <a:ext cx="1645920" cy="0"/>
          </a:xfrm>
          <a:prstGeom prst="line">
            <a:avLst/>
          </a:prstGeom>
          <a:ln w="20320">
            <a:solidFill>
              <a:srgbClr val="0055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>
          <a:xfrm rot="5400000">
            <a:off x="4508500" y="2268220"/>
            <a:ext cx="127000" cy="127000"/>
          </a:xfrm>
          <a:prstGeom prst="triangle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1920240"/>
            <a:ext cx="2011680" cy="822960"/>
          </a:xfrm>
          <a:prstGeom prst="rect">
            <a:avLst/>
          </a:prstGeom>
          <a:solidFill>
            <a:srgbClr val="0055D4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LLM
interpretation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83680" y="2331720"/>
            <a:ext cx="1463040" cy="0"/>
          </a:xfrm>
          <a:prstGeom prst="line">
            <a:avLst/>
          </a:prstGeom>
          <a:ln w="20320">
            <a:solidFill>
              <a:srgbClr val="0055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7983220" y="2268220"/>
            <a:ext cx="127000" cy="127000"/>
          </a:xfrm>
          <a:prstGeom prst="triangle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920240"/>
            <a:ext cx="2194560" cy="822960"/>
          </a:xfrm>
          <a:prstGeom prst="rect">
            <a:avLst/>
          </a:prstGeom>
          <a:solidFill>
            <a:srgbClr val="0891B2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MCP-style
 tool layer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241280" y="2331720"/>
            <a:ext cx="868680" cy="0"/>
          </a:xfrm>
          <a:prstGeom prst="line">
            <a:avLst/>
          </a:prstGeom>
          <a:ln w="20320">
            <a:solidFill>
              <a:srgbClr val="0055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5400000">
            <a:off x="11046460" y="2268220"/>
            <a:ext cx="127000" cy="127000"/>
          </a:xfrm>
          <a:prstGeom prst="triangle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012680" y="3108960"/>
            <a:ext cx="1554480" cy="731520"/>
          </a:xfrm>
          <a:prstGeom prst="rect">
            <a:avLst/>
          </a:prstGeom>
          <a:solidFill>
            <a:srgbClr val="0A8A3E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PySCF / resolver /
visualizer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4000" y="2743200"/>
            <a:ext cx="1051560" cy="36576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6550740">
            <a:off x="10132060" y="304546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069080"/>
            <a:ext cx="1005840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LLM reads the request in human language and identifies molecule, task, and follow-up context.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tool layer makes the next step explicit: calculate ESP, preview an orbital, resolve a structure, or build a summary.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This division reduces the risk of a text-only model speaking as if it had already run a calculation.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That is why MCP is best explained as the model's hands and feet rather than as another chatbot feature.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292608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332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End-to-end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332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334155"/>
                </a:solidFill>
                <a:latin typeface="Calibri"/>
              </a:rPr>
              <a:t>A single browser experience sits on top of routing, structure resolution, compute, and result presentation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9768" y="1078992"/>
            <a:ext cx="11167567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31520" y="1783080"/>
            <a:ext cx="192024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Browser client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063240" y="1783080"/>
            <a:ext cx="2194560" cy="822960"/>
          </a:xfrm>
          <a:prstGeom prst="rect">
            <a:avLst/>
          </a:prstGeom>
          <a:solidFill>
            <a:srgbClr val="0055D4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Chat and compute routes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623560" y="1783080"/>
            <a:ext cx="2057400" cy="822960"/>
          </a:xfrm>
          <a:prstGeom prst="rect">
            <a:avLst/>
          </a:prstGeom>
          <a:solidFill>
            <a:srgbClr val="0891B2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Structure resolver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783080"/>
            <a:ext cx="1965960" cy="822960"/>
          </a:xfrm>
          <a:prstGeom prst="rect">
            <a:avLst/>
          </a:prstGeom>
          <a:solidFill>
            <a:srgbClr val="0A8A3E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PySCF runner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95560" y="1783080"/>
            <a:ext cx="132588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Result UI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51760" y="2194560"/>
            <a:ext cx="41148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5400000">
            <a:off x="2999740" y="213106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257800" y="2194560"/>
            <a:ext cx="36576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5400000">
            <a:off x="5560060" y="213106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7680960" y="2194560"/>
            <a:ext cx="36576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7983220" y="213106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0012680" y="2194560"/>
            <a:ext cx="18288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10132060" y="213106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0" y="3657600"/>
            <a:ext cx="23774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891B2"/>
                </a:solidFill>
                <a:latin typeface="Calibri"/>
              </a:rPr>
              <a:t>MolChat / PubChem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3657600"/>
            <a:ext cx="23774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A8A3E"/>
                </a:solidFill>
                <a:latin typeface="Calibri"/>
              </a:rPr>
              <a:t>Advisor and explanation layer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72600" y="3657600"/>
            <a:ext cx="182880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7C3AED"/>
                </a:solidFill>
                <a:latin typeface="Calibri"/>
              </a:rPr>
              <a:t>Redis / worker (optional)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4846320" y="2606040"/>
            <a:ext cx="914400" cy="1051560"/>
          </a:xfrm>
          <a:prstGeom prst="line">
            <a:avLst/>
          </a:prstGeom>
          <a:ln w="20320">
            <a:solidFill>
              <a:srgbClr val="089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13260545">
            <a:off x="4782820" y="3594100"/>
            <a:ext cx="127000" cy="127000"/>
          </a:xfrm>
          <a:prstGeom prst="triangle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 flipH="1">
            <a:off x="7863840" y="2606040"/>
            <a:ext cx="1143000" cy="1051560"/>
          </a:xfrm>
          <a:prstGeom prst="line">
            <a:avLst/>
          </a:prstGeom>
          <a:ln w="20320">
            <a:solidFill>
              <a:srgbClr val="0A8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13643157">
            <a:off x="7800340" y="3594100"/>
            <a:ext cx="127000" cy="127000"/>
          </a:xfrm>
          <a:prstGeom prst="triangle">
            <a:avLst/>
          </a:prstGeom>
          <a:solidFill>
            <a:srgbClr val="0A8A3E"/>
          </a:solidFill>
          <a:ln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9006840" y="2606040"/>
            <a:ext cx="1280160" cy="105156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7764040">
            <a:off x="10223500" y="3594100"/>
            <a:ext cx="127000" cy="127000"/>
          </a:xfrm>
          <a:prstGeom prst="triangl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489204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The slide should visually separate the user-facing path, the structure-preparation path, and the optional scale-out runtime path.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292608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332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Pipeline from question to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332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334155"/>
                </a:solidFill>
                <a:latin typeface="Calibri"/>
              </a:rPr>
              <a:t>This is the operational sequence that the audience should remember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9768" y="1078992"/>
            <a:ext cx="11167567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85800" y="1828800"/>
            <a:ext cx="1325880" cy="713232"/>
          </a:xfrm>
          <a:prstGeom prst="rect">
            <a:avLst/>
          </a:prstGeom>
          <a:solidFill>
            <a:srgbClr val="0055D4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1. User request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11680" y="2185416"/>
            <a:ext cx="27432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>
          <a:xfrm rot="5400000">
            <a:off x="2222500" y="2121916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1828800"/>
            <a:ext cx="1325880" cy="713232"/>
          </a:xfrm>
          <a:prstGeom prst="rect">
            <a:avLst/>
          </a:prstGeom>
          <a:solidFill>
            <a:srgbClr val="0055D4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2. Intent extraction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11880" y="2185416"/>
            <a:ext cx="27432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3822700" y="2121916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86200" y="1828800"/>
            <a:ext cx="1325880" cy="713232"/>
          </a:xfrm>
          <a:prstGeom prst="rect">
            <a:avLst/>
          </a:prstGeom>
          <a:solidFill>
            <a:srgbClr val="0891B2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3. Structure preparation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212080" y="2185416"/>
            <a:ext cx="27432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5400000">
            <a:off x="5422900" y="2121916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0" y="1828800"/>
            <a:ext cx="1325880" cy="713232"/>
          </a:xfrm>
          <a:prstGeom prst="rect">
            <a:avLst/>
          </a:prstGeom>
          <a:solidFill>
            <a:srgbClr val="0891B2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4. Task selection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12280" y="2185416"/>
            <a:ext cx="27432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5400000">
            <a:off x="7023100" y="2121916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86600" y="1828800"/>
            <a:ext cx="1325880" cy="713232"/>
          </a:xfrm>
          <a:prstGeom prst="rect">
            <a:avLst/>
          </a:prstGeom>
          <a:solidFill>
            <a:srgbClr val="0A8A3E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5. PySCF execution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412480" y="2185416"/>
            <a:ext cx="27432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8623300" y="2121916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0" y="1828800"/>
            <a:ext cx="1325880" cy="713232"/>
          </a:xfrm>
          <a:prstGeom prst="rect">
            <a:avLst/>
          </a:prstGeom>
          <a:solidFill>
            <a:srgbClr val="0A8A3E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6. Result packaging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012680" y="2185416"/>
            <a:ext cx="27432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10223500" y="2121916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287000" y="1828800"/>
            <a:ext cx="1325880" cy="713232"/>
          </a:xfrm>
          <a:prstGeom prst="rect">
            <a:avLst/>
          </a:prstGeom>
          <a:solidFill>
            <a:srgbClr val="EA580C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7. Browser visualization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154680"/>
            <a:ext cx="105613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first three steps determine whether the system correctly understands what the user really wants.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middle steps determine whether the requested calculation is executed on a chemically meaningful structure.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final step determines whether the output is actually useful to a non-expert without another software round-trip.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That is why the platform should be presented as a full workflow, not as a thin wrapper around a compute engine.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292608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332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A restaurant analogy for 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332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334155"/>
                </a:solidFill>
                <a:latin typeface="Calibri"/>
              </a:rPr>
              <a:t>The analogy helps a mixed audience grasp the division of labor without code-level detail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9768" y="1078992"/>
            <a:ext cx="11167567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822960" y="2011680"/>
            <a:ext cx="1645920" cy="822960"/>
          </a:xfrm>
          <a:prstGeom prst="rect">
            <a:avLst/>
          </a:prstGeom>
          <a:solidFill>
            <a:srgbClr val="0055D4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Experimentalist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68880" y="2423160"/>
            <a:ext cx="50292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>
          <a:xfrm rot="5400000">
            <a:off x="2908300" y="235966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71800" y="2011680"/>
            <a:ext cx="1645920" cy="822960"/>
          </a:xfrm>
          <a:prstGeom prst="rect">
            <a:avLst/>
          </a:prstGeom>
          <a:solidFill>
            <a:srgbClr val="0891B2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LLM waiter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617720" y="2423160"/>
            <a:ext cx="50292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5057140" y="235966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20640" y="2011680"/>
            <a:ext cx="1645920" cy="822960"/>
          </a:xfrm>
          <a:prstGeom prst="rect">
            <a:avLst/>
          </a:prstGeom>
          <a:solidFill>
            <a:srgbClr val="EA580C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Tool menu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766560" y="2423160"/>
            <a:ext cx="50292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5400000">
            <a:off x="7205980" y="235966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69480" y="2011680"/>
            <a:ext cx="1645920" cy="822960"/>
          </a:xfrm>
          <a:prstGeom prst="rect">
            <a:avLst/>
          </a:prstGeom>
          <a:solidFill>
            <a:srgbClr val="0A8A3E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PySCF kitchen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915400" y="2423160"/>
            <a:ext cx="50292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5400000">
            <a:off x="9354820" y="235966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18320" y="2011680"/>
            <a:ext cx="1645920" cy="822960"/>
          </a:xfrm>
          <a:prstGeom prst="rect">
            <a:avLst/>
          </a:prstGeom>
          <a:solidFill>
            <a:srgbClr val="0055D4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Visualization plating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657600"/>
            <a:ext cx="100584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scientist states the desired outcome in natural language, just as a diner places an order.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LLM interprets the order, while the tool layer translates it into an explicit kitchen action.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compute engine performs the actual work, and the result is plated for direct inspection in the browser.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metaphor is useful because it emphasizes that users should not need to know the kitchen's internal recipe syntax.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241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What the current system can already calculate and present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292608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332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Capability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332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334155"/>
                </a:solidFill>
                <a:latin typeface="Calibri"/>
              </a:rPr>
              <a:t>The platform already covers several high-value workflows rather than a single demo task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9768" y="1078992"/>
            <a:ext cx="11167567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822960" y="1645920"/>
            <a:ext cx="214884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055D4"/>
                </a:solidFill>
                <a:latin typeface="Calibri"/>
              </a:rPr>
              <a:t>Orbital preview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1645920"/>
            <a:ext cx="214884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891B2"/>
                </a:solidFill>
                <a:latin typeface="Calibri"/>
              </a:rPr>
              <a:t>ESP map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645920"/>
            <a:ext cx="214884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A8A3E"/>
                </a:solidFill>
                <a:latin typeface="Calibri"/>
              </a:rPr>
              <a:t>Partial charges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641080" y="1645920"/>
            <a:ext cx="214884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EA580C"/>
                </a:solidFill>
                <a:latin typeface="Calibri"/>
              </a:rPr>
              <a:t>Geometry optimization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560320"/>
            <a:ext cx="214884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7C3AED"/>
                </a:solidFill>
                <a:latin typeface="Calibri"/>
              </a:rPr>
              <a:t>Single-point energy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2560320"/>
            <a:ext cx="214884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055D4"/>
                </a:solidFill>
                <a:latin typeface="Calibri"/>
              </a:rPr>
              <a:t>Integrated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2560320"/>
            <a:ext cx="214884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891B2"/>
                </a:solidFill>
                <a:latin typeface="Calibri"/>
              </a:rPr>
              <a:t>Session continuation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560320"/>
            <a:ext cx="214884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A8A3E"/>
                </a:solidFill>
                <a:latin typeface="Calibri"/>
              </a:rPr>
              <a:t>Result explanation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77240" y="3886200"/>
          <a:ext cx="106070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5303520"/>
              </a:tblGrid>
              <a:tr h="25908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Why it matters chemically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HOMO/LUMO preview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Supports intuitive discussion of donation, acceptance, and reactivity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ESP map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Highlights electrostatic regions linked to intermolecular interaction patterns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Optimization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Establishes a more stable reference geometry before interpretation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Charge analysis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Provides atom-level descriptors useful for mechanistic discussion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Continuation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Allows follow-up questions without re-entering the same context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292608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332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Feature deep dive: HOMO/LUMO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332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334155"/>
                </a:solidFill>
                <a:latin typeface="Calibri"/>
              </a:rPr>
              <a:t>Use the most visually persuasive feature first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9768" y="1078992"/>
            <a:ext cx="11167567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417320"/>
            <a:ext cx="548640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HOMO/LUMO views connect directly to familiar reactivity language.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user asks in natural language and receives a browser-ready orbital surface.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result is not just a file; it is an interactive 3D object with context.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This makes orbital concepts easier to discuss in both research and teaching settings.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For a live audience, this is often the strongest first demonstration image.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37960" y="1417320"/>
            <a:ext cx="4709160" cy="393192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[IMAGE PLACEHOLDER]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Type     : Molecular orbital render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Content  : HOMO and LUMO renderings of one representative molecule, shown side by side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Source   : Direct output screenshot or recreated render for the talk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Filename : feature_homo_lumo.png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Alt-text : HOMO and LUMO renderings of one representative molecule, shown side by side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37960" y="1417320"/>
            <a:ext cx="4709160" cy="393192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6537960" y="1417320"/>
            <a:ext cx="4709160" cy="393192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292608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332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Feature deep dive: geometry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332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334155"/>
                </a:solidFill>
                <a:latin typeface="Calibri"/>
              </a:rPr>
              <a:t>Optimization matters because many later interpretations depend on the starting structure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9768" y="1078992"/>
            <a:ext cx="11167567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417320"/>
            <a:ext cx="548640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Optimization finds a more stable reference geometry under the chosen level of theory.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This matters because orbital or ESP interpretation is more meaningful on a chemically sensible structure.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platform supports optimization as a direct natural-language request.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output can be shown as an updated 3D geometry in the same interface.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This turns a traditionally file-heavy pre-processing step into a direct part of the conversation.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37960" y="1417320"/>
            <a:ext cx="4709160" cy="393192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[IMAGE PLACEHOLDER]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Type     : Optimized geometry comparison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Content  : Before-and-after geometry panels with one representative optimized structure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Source   : Direct output screenshot or recreated render for the talk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Filename : feature_optimization.png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Alt-text : Before-and-after geometry panels with one representative optimized structure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37960" y="1417320"/>
            <a:ext cx="4709160" cy="393192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6537960" y="1417320"/>
            <a:ext cx="4709160" cy="393192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292608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332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Feature deep dive: ESP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332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334155"/>
                </a:solidFill>
                <a:latin typeface="Calibri"/>
              </a:rPr>
              <a:t>ESP is one of the most intuitive ways to talk about electrostatic patterns on a molecular surface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9768" y="1078992"/>
            <a:ext cx="11167567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417320"/>
            <a:ext cx="548640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ESP maps turn charge-distribution information into an interpretable color surface.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browser delivery matters because it removes the usual handoff into a separate visualization tool.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For many experimentalists, this image is easier to interpret quickly than a raw charge table.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feature also complements orbital analysis by focusing on the molecular surface rather than an orbital isosurface.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In the talk, use it to connect electronic structure to interaction patterns and selectivity language.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37960" y="1417320"/>
            <a:ext cx="4709160" cy="393192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[IMAGE PLACEHOLDER]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Type     : ESP surface render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Content  : High-contrast electrostatic potential map with visible color scale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Source   : Direct output screenshot or recreated render for the talk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Filename : feature_esp.png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Alt-text : High-contrast electrostatic potential map with visible color scale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37960" y="1417320"/>
            <a:ext cx="4709160" cy="393192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6537960" y="1417320"/>
            <a:ext cx="4709160" cy="393192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292608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332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Additional capabilities beyond the headline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332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334155"/>
                </a:solidFill>
                <a:latin typeface="Calibri"/>
              </a:rPr>
              <a:t>The project already combines computation, continuity, and explanation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9768" y="1078992"/>
            <a:ext cx="11167567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417320"/>
          <a:ext cx="1088136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555171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Function in the platform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Why it matters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Single-point energy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Provides a fast reference electronic-energy calculation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Supports quick comparison and baseline analysis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Partial charge analysis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Summarizes atom-wise charge distribution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Useful for bond polarity and reactivity discussion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Analyze workflow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Packages multiple outputs into one result contract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Improves usability for non-experts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Session continuation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Carries molecule and task context across follow-up requests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Makes the chat interface genuinely interactive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Clarification flow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Asks for missing detail when the request is ambiguous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Reduces misrouted calculations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555174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Advisor layer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Adds presets, methods text, and interpretation support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Improves reproducibility and communication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046720" y="5440680"/>
            <a:ext cx="3246120" cy="86868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[IMAGE PLACEHOLDER]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Type     : Small UI strip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Content  : Compact screenshot showing session history, follow-up controls, or advisor recommendations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Source   : Browser screenshot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Filename : continuation_advisor_strip.png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Alt-text : UI strip illustrating continuation and recommendation features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046720" y="5440680"/>
            <a:ext cx="3246120" cy="86868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8046720" y="5440680"/>
            <a:ext cx="3246120" cy="86868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292608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332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Visualization is the last mile of usability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332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334155"/>
                </a:solidFill>
                <a:latin typeface="Calibri"/>
              </a:rPr>
              <a:t>Results are most useful when they arrive as inspectable browser objects rather than as raw files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9768" y="1078992"/>
            <a:ext cx="11167567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417320"/>
            <a:ext cx="51663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browser view can host structures, orbital surfaces, ESP surfaces, and summary panels in one place.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Users can rotate, zoom, and switch between result tabs without opening a second desktop application.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That removes one of the most common breakpoints in the conventional workflow: post-processing and re-rendering.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For a mixed audience, this is also the most persuasive evidence that the system is more than a backend API.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417320"/>
            <a:ext cx="2331720" cy="384048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[IMAGE PLACEHOLDER]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Type     : Browser UI screenshot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Content  : Result panel with molecular viewer, tabs, and computation summary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Source   : Web-app screenshot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Filename : viewer_ui_browser.png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Alt-text : Browser interface showing the 3D viewer and result panel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263640" y="1417320"/>
            <a:ext cx="2331720" cy="384048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6263640" y="1417320"/>
            <a:ext cx="2331720" cy="384048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823960" y="1417320"/>
            <a:ext cx="2331720" cy="384048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[IMAGE PLACEHOLDER]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Type     : Molecular output screenshot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Content  : High-contrast orbital or ESP render for one representative molecule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Source   : Web-app screenshot or regenerated still image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Filename : viewer_output_example.png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Alt-text : Representative molecular visualization from the browser UI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823960" y="1417320"/>
            <a:ext cx="2331720" cy="384048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8823960" y="1417320"/>
            <a:ext cx="2331720" cy="384048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Demo And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241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How to show the platform convincingly without unsupported benchmark claims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292608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332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Recommended live-demo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332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334155"/>
                </a:solidFill>
                <a:latin typeface="Calibri"/>
              </a:rPr>
              <a:t>A good demo shows continuity, not just one flashy still image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9768" y="1078992"/>
            <a:ext cx="11167567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31520" y="1463040"/>
            <a:ext cx="4937760" cy="4389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" y="1536192"/>
            <a:ext cx="155448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Demo A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463040"/>
            <a:ext cx="4937760" cy="4389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28232" y="1536192"/>
            <a:ext cx="155448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Demo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45262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Start with a request such as 'Show the HOMO of acetone.'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Use the first result to prove the platform can turn a plain-English request into a visualization.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Then ask a follow-up question on the same molecule rather than switching context immediately.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This reveals that the session stores enough context to support continuity.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828800"/>
            <a:ext cx="45262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Ask for an ESP map or geometry optimization on the same structure.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Show progress updates to emphasize that a real compute path is running.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If live reliability is uncertain, replace the live segment with a short pre-recorded clip.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key criterion is continuity from question to result, not theatrical speed.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3886200"/>
            <a:ext cx="1965960" cy="150876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[IMAGE PLACEHOLDER]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Type     : Chat UI snapshot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Content  : Opening request in the browser chat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Source   : Web-app screenshot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Filename : demo_chat_start.png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Alt-text : Chat interface with the opening HOMO request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60120" y="3886200"/>
            <a:ext cx="1965960" cy="150876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960120" y="3886200"/>
            <a:ext cx="1965960" cy="150876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154680" y="3886200"/>
            <a:ext cx="1965960" cy="150876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[IMAGE PLACEHOLDER]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Type     : Result snapshot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Content  : Initial orbital result with viewer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Source   : Web-app screenshot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Filename : demo_homo_result.png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Alt-text : Initial HOMO result in the browser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54680" y="3886200"/>
            <a:ext cx="1965960" cy="150876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3154680" y="3886200"/>
            <a:ext cx="1965960" cy="150876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583680" y="3886200"/>
            <a:ext cx="1965960" cy="150876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[IMAGE PLACEHOLDER]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Type     : Progress snapshot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Content  : Compute progress status panel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Source   : Web-app screenshot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Filename : demo_progress.png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Alt-text : Progress screen showing computation status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83680" y="3886200"/>
            <a:ext cx="1965960" cy="150876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583680" y="3886200"/>
            <a:ext cx="1965960" cy="150876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8778240" y="3886200"/>
            <a:ext cx="1965960" cy="150876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[IMAGE PLACEHOLDER]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Type     : Follow-up result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Content  : ESP or optimization follow-up result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Source   : Web-app screenshot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Filename : demo_followup.png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Alt-text : Follow-up result on the same molecular context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78240" y="3886200"/>
            <a:ext cx="1965960" cy="150876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8778240" y="3886200"/>
            <a:ext cx="1965960" cy="150876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292608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332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Conversation flow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332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334155"/>
                </a:solidFill>
                <a:latin typeface="Calibri"/>
              </a:rPr>
              <a:t>The deck should show that the interface supports sequential scientific questioning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9768" y="1078992"/>
            <a:ext cx="11167567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822960" y="1417320"/>
            <a:ext cx="10332720" cy="45262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6112" y="1490472"/>
            <a:ext cx="155448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Chat transcript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828800"/>
            <a:ext cx="4572000" cy="502920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USER: Show the HOMO of benzene.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2542032"/>
            <a:ext cx="5852160" cy="50292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SYSTEM: Preparing the structure and launching orbital preview.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3255264"/>
            <a:ext cx="5852160" cy="50292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SYSTEM: The HOMO visualization is ready in the 3D viewer.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968496"/>
            <a:ext cx="4572000" cy="502920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USER: Now show the LUMO and add an ESP map.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4681728"/>
            <a:ext cx="5852160" cy="50292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SYSTEM: Reusing the same structure context and starting the follow-up jobs.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292608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332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What the result screen should communicate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332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334155"/>
                </a:solidFill>
                <a:latin typeface="Calibri"/>
              </a:rPr>
              <a:t>A result screen must show state, visualization, and interpretation at the same time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9768" y="1078992"/>
            <a:ext cx="11167567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77240" y="1417320"/>
            <a:ext cx="5212080" cy="420624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[IMAGE PLACEHOLDER]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Type     : Browser result screen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Content  : Main application screenshot showing the viewer, job metadata, and selected result tab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Source   : Web-app screenshot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Filename : result_screen_full.png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Alt-text : Main result screen of the application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1417320"/>
            <a:ext cx="5212080" cy="420624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777240" y="1417320"/>
            <a:ext cx="5212080" cy="420624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355080" y="1417320"/>
            <a:ext cx="4754880" cy="297180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[IMAGE PLACEHOLDER]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Type     : Rendered molecular output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Content  : Large orbital or ESP still image for publication-style readability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Source   : Viewer screenshot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Filename : result_visual_focus.png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Alt-text : Focused molecular visualization from the result view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355080" y="1417320"/>
            <a:ext cx="4754880" cy="297180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6355080" y="1417320"/>
            <a:ext cx="4754880" cy="297180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0" y="4617720"/>
            <a:ext cx="45720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result view should answer three questions immediately: what was run, what was found, and where to look first.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A molecular viewer without context is not enough; it needs state labels and a concise interpretation panel.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For a conference-style audience, the slide should also imply that the browser output is discussion-ready.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292608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332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Before vs.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332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334155"/>
                </a:solidFill>
                <a:latin typeface="Calibri"/>
              </a:rPr>
              <a:t>The most defensible comparison is structural, not exaggerated speed claims without user-study data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9768" y="1078992"/>
            <a:ext cx="11167567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417320"/>
          <a:ext cx="649224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4080"/>
                <a:gridCol w="2164080"/>
                <a:gridCol w="2164080"/>
              </a:tblGrid>
              <a:tr h="662939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Traditional workflow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This platform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Entry point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Input files and specialist mediation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Natural-language browser interaction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Tool count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Multiple compute and post-processing tools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One browser-centered entry point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Interpretation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Output parsing required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Visualization plus explanation layer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Iteration style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Human re-request loop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Follow-up continuation in one session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</a:tr>
              <a:tr h="662944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Cost model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Commercial software may be required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Open-source-first stack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635240" y="1691640"/>
            <a:ext cx="333756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Conceptual time-to-insight comparison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818120" y="2743200"/>
            <a:ext cx="2560320" cy="347472"/>
          </a:xfrm>
          <a:prstGeom prst="rect">
            <a:avLst/>
          </a:prstGeom>
          <a:solidFill>
            <a:srgbClr val="D92B2B"/>
          </a:solidFill>
          <a:ln>
            <a:solidFill>
              <a:srgbClr val="D9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2560320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Traditional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18120" y="3566160"/>
            <a:ext cx="1371600" cy="347472"/>
          </a:xfrm>
          <a:prstGeom prst="rect">
            <a:avLst/>
          </a:prstGeom>
          <a:solidFill>
            <a:srgbClr val="0A8A3E"/>
          </a:solidFill>
          <a:ln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3383280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Platform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292608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332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Validation framework rather than unsupported 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332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334155"/>
                </a:solidFill>
                <a:latin typeface="Calibri"/>
              </a:rPr>
              <a:t>The repository supports a benchmark plan, not a finished internal accuracy paper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9768" y="1078992"/>
            <a:ext cx="11167567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417320"/>
          <a:ext cx="108813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Validation area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Comparison target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What should be checked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Relative energies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Reference quantum-chemistry output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Rank ordering and magnitude consistency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Optimized geometry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Reference structure parameters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Bond lengths, angles, and stable minima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Orbital results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Reference orbital analysis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Ordering, qualitative shape, and interpretive consistency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ESP and charges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Reference electrostatic descriptors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Region trends rather than decorative similarity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Usability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Lab-user pilot study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Time to first result and clarity of interpretation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53212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This framing is honest and still strong: the platform is compelling, and benchmark work is the next formal step.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292608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332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Current boundaries and responsible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332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334155"/>
                </a:solidFill>
                <a:latin typeface="Calibri"/>
              </a:rPr>
              <a:t>A stronger talk separates what is already implemented from what still needs validation or scale-up work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9768" y="1078992"/>
            <a:ext cx="11167567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31520" y="1417320"/>
            <a:ext cx="5120640" cy="4480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" y="1490472"/>
            <a:ext cx="155448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Already solid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17320"/>
            <a:ext cx="5120640" cy="4480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82512" y="1490472"/>
            <a:ext cx="155448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Still to mature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457200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browser workflow, routing logic, and result packaging are already concrete and demo-ready.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Core compute paths are present for orbital preview, ESP, partial charges, optimization, and integrated analysis.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Session continuation and real-time progress updates already strengthen the user experience beyond a static demo.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optional worker path shows that the architecture was designed with scale-out in mind.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57200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Formal accuracy benchmarks against reference software still need to be completed and reported systematically.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Structure resolution remains a scientifically important quality gate before downstream interpretation.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Operational hardening for broader multi-user deployment is a next-step engineering task rather than a finished claim.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Publication-grade scientific conclusions should still be reviewed through expert interpretation and validation.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292608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332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Platform value in three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332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334155"/>
                </a:solidFill>
                <a:latin typeface="Calibri"/>
              </a:rPr>
              <a:t>Use only numbers that are directly defensible from the current project scan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9768" y="1078992"/>
            <a:ext cx="11167567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914400" y="1828800"/>
            <a:ext cx="292608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 i="0">
                <a:solidFill>
                  <a:srgbClr val="0055D4"/>
                </a:solidFill>
                <a:latin typeface="Calibri"/>
              </a:rPr>
              <a:t>6</a:t>
            </a:r>
          </a:p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core compute modes</a:t>
            </a:r>
          </a:p>
          <a:p>
            <a:pPr algn="ctr"/>
            <a:r>
              <a:rPr sz="1100" b="0" i="0">
                <a:solidFill>
                  <a:srgbClr val="334155"/>
                </a:solidFill>
                <a:latin typeface="Calibri"/>
              </a:rPr>
              <a:t>single-point, orbital, ESP, charges, optimization, integrated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617720" y="1828800"/>
            <a:ext cx="292608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 i="0">
                <a:solidFill>
                  <a:srgbClr val="0A8A3E"/>
                </a:solidFill>
                <a:latin typeface="Calibri"/>
              </a:rPr>
              <a:t>1</a:t>
            </a:r>
          </a:p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browser entry point</a:t>
            </a:r>
          </a:p>
          <a:p>
            <a:pPr algn="ctr"/>
            <a:r>
              <a:rPr sz="1100" b="0" i="0">
                <a:solidFill>
                  <a:srgbClr val="334155"/>
                </a:solidFill>
                <a:latin typeface="Calibri"/>
              </a:rPr>
              <a:t>chat, progress tracking, and visualization live in one UI surface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1040" y="1828800"/>
            <a:ext cx="292608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 i="0">
                <a:solidFill>
                  <a:srgbClr val="EA580C"/>
                </a:solidFill>
                <a:latin typeface="Calibri"/>
              </a:rPr>
              <a:t>0</a:t>
            </a:r>
          </a:p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commercial-license dependency</a:t>
            </a:r>
          </a:p>
          <a:p>
            <a:pPr algn="ctr"/>
            <a:r>
              <a:rPr sz="1100" b="0" i="0">
                <a:solidFill>
                  <a:srgbClr val="334155"/>
                </a:solidFill>
                <a:latin typeface="Calibri"/>
              </a:rPr>
              <a:t>the current stack is centered on open-source components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100584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These numbers are intentionally modest and verifiable.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They communicate breadth, simplicity of access, and cost structure without inventing benchmark claims.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This slide works well before the impact section because it resets the audience around concrete takeaways.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Impact And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241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Why the platform matters for the lab, and how it could evolve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292608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332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Academic novelty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332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334155"/>
                </a:solidFill>
                <a:latin typeface="Calibri"/>
              </a:rPr>
              <a:t>The novelty claim should focus on workflow integration, accessibility, and tool-mediated computation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9768" y="1078992"/>
            <a:ext cx="11167567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914400" y="1874519"/>
            <a:ext cx="2743200" cy="868680"/>
          </a:xfrm>
          <a:prstGeom prst="rect">
            <a:avLst/>
          </a:prstGeom>
          <a:solidFill>
            <a:srgbClr val="0055D4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Language-driven request handling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709160" y="1874519"/>
            <a:ext cx="2743200" cy="868680"/>
          </a:xfrm>
          <a:prstGeom prst="rect">
            <a:avLst/>
          </a:prstGeom>
          <a:solidFill>
            <a:srgbClr val="0A8A3E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Open quantum-chemistry execution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1874519"/>
            <a:ext cx="2743200" cy="868680"/>
          </a:xfrm>
          <a:prstGeom prst="rect">
            <a:avLst/>
          </a:prstGeom>
          <a:solidFill>
            <a:srgbClr val="0891B2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Browser-native scientific presentation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3246120"/>
            <a:ext cx="448056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055D4"/>
                </a:solidFill>
                <a:latin typeface="Calibri"/>
              </a:rPr>
              <a:t>Workflow innovation at the intersection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86000" y="2743200"/>
            <a:ext cx="1874520" cy="50292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6301102">
            <a:off x="4097020" y="318262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6080760" y="2743200"/>
            <a:ext cx="0" cy="50292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10800000">
            <a:off x="6017260" y="318262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H="1">
            <a:off x="8001000" y="2743200"/>
            <a:ext cx="1874520" cy="50292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15298898">
            <a:off x="7937500" y="318262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38912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platform is not claiming a new electronic-structure method.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Its novelty lies in making open quantum-chemistry workflows conversational, tool-mediated, and presentation-ready.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That combination sits at the intersection of computational chemistry, AI interfaces, and research automation.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292608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332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Practical impact for the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332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334155"/>
                </a:solidFill>
                <a:latin typeface="Calibri"/>
              </a:rPr>
              <a:t>The strongest value proposition is autonomy and iteration speed, not AI spectacle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9768" y="1078992"/>
            <a:ext cx="11167567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868680" y="1828800"/>
            <a:ext cx="320040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0055D4"/>
                </a:solidFill>
                <a:latin typeface="Calibri"/>
              </a:rPr>
              <a:t>Experimental chemists
can ask directly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1828800"/>
            <a:ext cx="320040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0A8A3E"/>
                </a:solidFill>
                <a:latin typeface="Calibri"/>
              </a:rPr>
              <a:t>Computational chemists
can focus on harder problems</a:t>
            </a:r>
          </a:p>
        </p:txBody>
      </p:sp>
      <p:sp>
        <p:nvSpPr>
          <p:cNvPr id="8" name="Rectangle 7"/>
          <p:cNvSpPr/>
          <p:nvPr/>
        </p:nvSpPr>
        <p:spPr>
          <a:xfrm>
            <a:off x="8092440" y="1828800"/>
            <a:ext cx="320040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EA580C"/>
                </a:solidFill>
                <a:latin typeface="Calibri"/>
              </a:rPr>
              <a:t>Students
learn through interaction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54680"/>
            <a:ext cx="10195560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A conversational interface lowers the threshold for asking exploratory questions early in a project.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Experts are not replaced; instead, routine routing work can be reduced so that expert attention shifts to validation and interpretation.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same interface doubles as a teaching aid because concepts such as orbitals or ESP become immediately inspectable.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Open-source deployment also improves accessibility for labs without a large commercial software budget.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292608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332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Roadmap for the next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332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334155"/>
                </a:solidFill>
                <a:latin typeface="Calibri"/>
              </a:rPr>
              <a:t>The current codebase already hints at both functional and runtime scalability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9768" y="1078992"/>
            <a:ext cx="11167567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914400" y="1783080"/>
            <a:ext cx="1371600" cy="502920"/>
          </a:xfrm>
          <a:prstGeom prst="rect">
            <a:avLst/>
          </a:prstGeom>
          <a:solidFill>
            <a:srgbClr val="0055D4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80" y="1783080"/>
            <a:ext cx="841248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Current: orbital, ESP, partial charges, optimization, integrated analysis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600200" y="2286000"/>
            <a:ext cx="0" cy="36576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10800000">
            <a:off x="1536700" y="258826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651760"/>
            <a:ext cx="1371600" cy="502920"/>
          </a:xfrm>
          <a:prstGeom prst="rect">
            <a:avLst/>
          </a:prstGeom>
          <a:solidFill>
            <a:srgbClr val="0891B2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2651760"/>
            <a:ext cx="841248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Next analyses: TD-DFT, NMR prediction, vibrational workflows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600200" y="3154680"/>
            <a:ext cx="0" cy="36576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10800000">
            <a:off x="1536700" y="345694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3520440"/>
            <a:ext cx="1371600" cy="502920"/>
          </a:xfrm>
          <a:prstGeom prst="rect">
            <a:avLst/>
          </a:prstGeom>
          <a:solidFill>
            <a:srgbClr val="0A8A3E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0" y="3520440"/>
            <a:ext cx="841248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System scale: multi-user runtime and stronger worker separation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00200" y="4023360"/>
            <a:ext cx="0" cy="36576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10800000">
            <a:off x="1536700" y="432562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4389120"/>
            <a:ext cx="1371600" cy="502920"/>
          </a:xfrm>
          <a:prstGeom prst="rect">
            <a:avLst/>
          </a:prstGeom>
          <a:solidFill>
            <a:srgbClr val="EA580C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Phase 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68880" y="4389120"/>
            <a:ext cx="841248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Deployment scale: cloud or HPC-backed execution paths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292608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332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Publication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332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334155"/>
                </a:solidFill>
                <a:latin typeface="Calibri"/>
              </a:rPr>
              <a:t>Position the paper as workflow innovation plus validation, not as an unsupported benchmark claim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9768" y="1078992"/>
            <a:ext cx="11167567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" y="1417320"/>
          <a:ext cx="6492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/>
                <a:gridCol w="3246120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Paper block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Primary content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Problem and gap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Why conventional quantum-chemistry access remains expert-gated and slow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System design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Conversational routing, structure resolution, compute execution, browser visualization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Representative scenarios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HOMO/LUMO, ESP, optimization, and follow-up continuation examples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Validation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Accuracy benchmark plan plus user-study framing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Impact discussion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Research productivity, accessibility, education, and open-science implications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543800" y="1600200"/>
            <a:ext cx="3657600" cy="274320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[IMAGE PLACEHOLDER]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Type     : Paper structure diagram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Content  : Five-block figure summarizing the planned manuscript narrative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Source   : Custom figure for the talk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Filename : paper_storyline.png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Alt-text : Diagram of the planned paper structure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543800" y="1600200"/>
            <a:ext cx="3657600" cy="274320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7543800" y="1600200"/>
            <a:ext cx="3657600" cy="274320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498079" y="4572000"/>
            <a:ext cx="3794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Candidate targets include chemistry-informatics or computational-chemistry venues in the ACS ecosystem.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benchmark and user-evaluation sections should mature in parallel rather than sequentially.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292608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332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Take-home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332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334155"/>
                </a:solidFill>
                <a:latin typeface="Calibri"/>
              </a:rPr>
              <a:t>Keep the close simple: interface shift, workflow automation, and research impact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9768" y="1078992"/>
            <a:ext cx="11167567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914400" y="1828800"/>
            <a:ext cx="32004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 i="0">
                <a:solidFill>
                  <a:srgbClr val="0055D4"/>
                </a:solidFill>
                <a:latin typeface="Calibri"/>
              </a:rPr>
              <a:t>Question-first</a:t>
            </a:r>
          </a:p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Interface shift</a:t>
            </a:r>
          </a:p>
          <a:p>
            <a:pPr algn="ctr"/>
            <a:r>
              <a:rPr sz="1100" b="0" i="0">
                <a:solidFill>
                  <a:srgbClr val="334155"/>
                </a:solidFill>
                <a:latin typeface="Calibri"/>
              </a:rPr>
              <a:t>Chemists describe what they want instead of assembling input syntax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1828800"/>
            <a:ext cx="32004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 i="0">
                <a:solidFill>
                  <a:srgbClr val="0A8A3E"/>
                </a:solidFill>
                <a:latin typeface="Calibri"/>
              </a:rPr>
              <a:t>Compute-backed</a:t>
            </a:r>
          </a:p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Not text-only AI</a:t>
            </a:r>
          </a:p>
          <a:p>
            <a:pPr algn="ctr"/>
            <a:r>
              <a:rPr sz="1100" b="0" i="0">
                <a:solidFill>
                  <a:srgbClr val="334155"/>
                </a:solidFill>
                <a:latin typeface="Calibri"/>
              </a:rPr>
              <a:t>A real quantum-chemistry engine still performs the scientific 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1828800"/>
            <a:ext cx="32004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 i="0">
                <a:solidFill>
                  <a:srgbClr val="EA580C"/>
                </a:solidFill>
                <a:latin typeface="Calibri"/>
              </a:rPr>
              <a:t>Lab-relevant</a:t>
            </a:r>
          </a:p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Practical impact</a:t>
            </a:r>
          </a:p>
          <a:p>
            <a:pPr algn="ctr"/>
            <a:r>
              <a:rPr sz="1100" b="0" i="0">
                <a:solidFill>
                  <a:srgbClr val="334155"/>
                </a:solidFill>
                <a:latin typeface="Calibri"/>
              </a:rPr>
              <a:t>The target is autonomy, faster iteration, and easier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0690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 i="1">
                <a:solidFill>
                  <a:srgbClr val="0055D4"/>
                </a:solidFill>
                <a:latin typeface="Calibri"/>
              </a:rPr>
              <a:t>The talk should end by moving the audience from 'Is this possible?' to 'How do we validate and deploy it responsibly?'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292608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332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Where the lab can contribute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332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334155"/>
                </a:solidFill>
                <a:latin typeface="Calibri"/>
              </a:rPr>
              <a:t>The next progress step depends on representative use cases, validation choices, and user feedback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9768" y="1078992"/>
            <a:ext cx="11167567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914400" y="1874519"/>
            <a:ext cx="301752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055D4"/>
                </a:solidFill>
                <a:latin typeface="Calibri"/>
              </a:rPr>
              <a:t>Experimental input
representative use cases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874519"/>
            <a:ext cx="301752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A8A3E"/>
                </a:solidFill>
                <a:latin typeface="Calibri"/>
              </a:rPr>
              <a:t>Computational input
benchmark 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1874519"/>
            <a:ext cx="301752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EA580C"/>
                </a:solidFill>
                <a:latin typeface="Calibri"/>
              </a:rPr>
              <a:t>Training input
teaching and onboarding needs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931920" y="2286000"/>
            <a:ext cx="64008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400000">
            <a:off x="4508500" y="222250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7589520" y="2286000"/>
            <a:ext cx="64008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5400000">
            <a:off x="8166100" y="222250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83280"/>
            <a:ext cx="100584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Ask the group which molecules and questions would make the most convincing first internal pilot study.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Ask computational chemists which benchmark criteria are non-negotiable for credibility.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Ask students what explanations or tutorial cues would make the system easier to learn from.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Frame the project as a shared lab asset rather than as an isolated software prototype.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292608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332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Questions and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332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334155"/>
                </a:solidFill>
                <a:latin typeface="Calibri"/>
              </a:rPr>
              <a:t>Useful discussion topics are validation, use-case priority, and deployment strategy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9768" y="1078992"/>
            <a:ext cx="11167567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1737360"/>
            <a:ext cx="10149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1">
                <a:solidFill>
                  <a:srgbClr val="0055D4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98755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Which internal use case would be the best first benchmark scenario?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Which quantitative comparison would matter most to this lab: energies, geometry, orbital interpretation, or usability?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What would make the system most useful for experimental planning rather than only for retrospective explanation?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Which new compute mode would add the largest marginal value in the next development phase?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241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Backup slides for architecture, runtime, and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292608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332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Appendix: architecture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332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334155"/>
                </a:solidFill>
                <a:latin typeface="Calibri"/>
              </a:rPr>
              <a:t>Useful when the audience wants a slightly deeper but still non-code explanation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9768" y="1078992"/>
            <a:ext cx="11167567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914400" y="1737360"/>
            <a:ext cx="1920240" cy="530352"/>
          </a:xfrm>
          <a:prstGeom prst="rect">
            <a:avLst/>
          </a:prstGeom>
          <a:solidFill>
            <a:srgbClr val="0055D4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4680" y="1737360"/>
            <a:ext cx="7772400" cy="530352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Chat UI, result panels, 3D viewer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606040"/>
            <a:ext cx="1920240" cy="530352"/>
          </a:xfrm>
          <a:prstGeom prst="rect">
            <a:avLst/>
          </a:prstGeom>
          <a:solidFill>
            <a:srgbClr val="0891B2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Routing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2606040"/>
            <a:ext cx="7772400" cy="530352"/>
          </a:xfrm>
          <a:prstGeom prst="rect">
            <a:avLst/>
          </a:prstGeom>
          <a:solidFill>
            <a:srgbClr val="FFFFFF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Chat route, compute route, session continuity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474720"/>
            <a:ext cx="1920240" cy="530352"/>
          </a:xfrm>
          <a:prstGeom prst="rect">
            <a:avLst/>
          </a:prstGeom>
          <a:solidFill>
            <a:srgbClr val="0A8A3E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Computation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3474720"/>
            <a:ext cx="7772400" cy="530352"/>
          </a:xfrm>
          <a:prstGeom prst="rect">
            <a:avLst/>
          </a:prstGeom>
          <a:solidFill>
            <a:srgbClr val="FFFFFF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Structure resolver, PySCF runner, result packaging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343400"/>
            <a:ext cx="1920240" cy="530352"/>
          </a:xfrm>
          <a:prstGeom prst="rect">
            <a:avLst/>
          </a:prstGeom>
          <a:solidFill>
            <a:srgbClr val="7C3AED"/>
          </a:solidFill>
          <a:ln w="1587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Scale-out option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54680" y="4343400"/>
            <a:ext cx="7772400" cy="530352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Redis-backed job store and arq worker path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292608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332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Appendix: structure resolution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332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334155"/>
                </a:solidFill>
                <a:latin typeface="Calibri"/>
              </a:rPr>
              <a:t>A realistic automation pipeline must solve structure preparation before it can solve computation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9768" y="1078992"/>
            <a:ext cx="11167567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822960" y="1920240"/>
            <a:ext cx="205740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User molecule 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1920240"/>
            <a:ext cx="2194560" cy="777240"/>
          </a:xfrm>
          <a:prstGeom prst="rect">
            <a:avLst/>
          </a:prstGeom>
          <a:solidFill>
            <a:srgbClr val="0891B2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Resolver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806440" y="1417320"/>
            <a:ext cx="201168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891B2"/>
                </a:solidFill>
                <a:latin typeface="Calibri"/>
              </a:rPr>
              <a:t>MolChat</a:t>
            </a:r>
          </a:p>
        </p:txBody>
      </p:sp>
      <p:sp>
        <p:nvSpPr>
          <p:cNvPr id="9" name="Rectangle 8"/>
          <p:cNvSpPr/>
          <p:nvPr/>
        </p:nvSpPr>
        <p:spPr>
          <a:xfrm>
            <a:off x="5806440" y="2423160"/>
            <a:ext cx="201168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891B2"/>
                </a:solidFill>
                <a:latin typeface="Calibri"/>
              </a:rPr>
              <a:t>PubChem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75320" y="1920240"/>
            <a:ext cx="2377440" cy="777240"/>
          </a:xfrm>
          <a:prstGeom prst="rect">
            <a:avLst/>
          </a:prstGeom>
          <a:solidFill>
            <a:srgbClr val="0A8A3E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Prepared structure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80360" y="2304288"/>
            <a:ext cx="36576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5400000">
            <a:off x="3182620" y="2240788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5440680" y="1810512"/>
            <a:ext cx="365760" cy="274319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3187812">
            <a:off x="5742940" y="1747012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440680" y="2523744"/>
            <a:ext cx="365760" cy="292608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7719588">
            <a:off x="5742940" y="2752852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7818120" y="2304288"/>
            <a:ext cx="45720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8211820" y="2240788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8620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This resolver layer is one of the most important hidden parts of the platform.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If structure inference fails, the downstream computation cannot be trusted no matter how elegant the interface is.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That makes structure preparation an important target for both validation and future improvement.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292608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332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Appendix: execution model and queueing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332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334155"/>
                </a:solidFill>
                <a:latin typeface="Calibri"/>
              </a:rPr>
              <a:t>The current system already contains a path toward separation of web serving and compute execution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9768" y="1078992"/>
            <a:ext cx="11167567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822960" y="1828800"/>
            <a:ext cx="210312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Browser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828800"/>
            <a:ext cx="2377440" cy="777240"/>
          </a:xfrm>
          <a:prstGeom prst="rect">
            <a:avLst/>
          </a:prstGeom>
          <a:solidFill>
            <a:srgbClr val="0055D4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FastAPI web 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325880"/>
            <a:ext cx="210312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A8A3E"/>
                </a:solidFill>
                <a:latin typeface="Calibri"/>
              </a:rPr>
              <a:t>In-memory job path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2331720"/>
            <a:ext cx="210312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7C3AED"/>
                </a:solidFill>
                <a:latin typeface="Calibri"/>
              </a:rPr>
              <a:t>Redis job store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0" y="2331720"/>
            <a:ext cx="2011680" cy="777240"/>
          </a:xfrm>
          <a:prstGeom prst="rect">
            <a:avLst/>
          </a:prstGeom>
          <a:solidFill>
            <a:srgbClr val="7C3AED"/>
          </a:solidFill>
          <a:ln w="1587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arq worker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0" y="1325880"/>
            <a:ext cx="2011680" cy="777240"/>
          </a:xfrm>
          <a:prstGeom prst="rect">
            <a:avLst/>
          </a:prstGeom>
          <a:solidFill>
            <a:srgbClr val="0A8A3E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PySCF execution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26080" y="2212848"/>
            <a:ext cx="36576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3228340" y="2149348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V="1">
            <a:off x="5669280" y="1719072"/>
            <a:ext cx="320040" cy="246888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3141143">
            <a:off x="5925820" y="1655572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5669280" y="2459736"/>
            <a:ext cx="320040" cy="265176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7778650">
            <a:off x="5925820" y="2661412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8092440" y="2724912"/>
            <a:ext cx="41148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5400000">
            <a:off x="8440420" y="2661412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 flipV="1">
            <a:off x="9509760" y="2103120"/>
            <a:ext cx="0" cy="22860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>
            <a:off x="9446260" y="203962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79476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simple mode is good for development and small demos.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Redis and worker path matters when computation time or user concurrency grows.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Real-time WebSocket progress updates are part of the user-value proposition, not only a backend detail.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292608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332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Appendix: evaluation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332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334155"/>
                </a:solidFill>
                <a:latin typeface="Calibri"/>
              </a:rPr>
              <a:t>A convincing paper must evaluate both scientific validity and usability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9768" y="1078992"/>
            <a:ext cx="11167567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914400" y="1737360"/>
            <a:ext cx="4114800" cy="502920"/>
          </a:xfrm>
          <a:prstGeom prst="rect">
            <a:avLst/>
          </a:prstGeom>
          <a:solidFill>
            <a:srgbClr val="0055D4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Scientific validity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1737360"/>
            <a:ext cx="4114800" cy="502920"/>
          </a:xfrm>
          <a:prstGeom prst="rect">
            <a:avLst/>
          </a:prstGeom>
          <a:solidFill>
            <a:srgbClr val="0A8A3E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Usability and workflow value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2423160"/>
          <a:ext cx="41148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Energy consistency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Relative energy ranking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Geometry fidelity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Bond lengths and angles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Orbital interpretation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Ordering and qualitative agreement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ESP trend quality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Region-level electrostatic agreement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0" y="2423160"/>
          <a:ext cx="41148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Time to first result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From question to first usable view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Follow-up success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How often continuation works as expected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Interpretability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Can users explain what they see next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Workflow compression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How many tools and handoffs remain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292608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332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Appendix: references and assets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332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334155"/>
                </a:solidFill>
                <a:latin typeface="Calibri"/>
              </a:rPr>
              <a:t>Use this slide to acknowledge the open-source base and to list the figure assets still needed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9768" y="1078992"/>
            <a:ext cx="11167567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417320"/>
            <a:ext cx="55321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PySCF for open quantum-chemistry execution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FastAPI and WebSocket runtime for browser interaction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3Dmol.js for molecular visualization in the browser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MolChat and PubChem for structure look-up support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Integrated deep-scan report and project README as the basis for this deck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Still-needed visual assets: browser screenshots, orbital stills, ESP stills, and one composite title image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1554480"/>
            <a:ext cx="4572000" cy="361188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[IMAGE PLACEHOLDER]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Type     : Asset board placeholder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Content  : Grid of the final screenshots and renders to replace placeholders in a polished conference version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Source   : Custom assembly for final design pass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Filename : asset_board.png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Alt-text : Asset board showing the final images still needed for a polished conference deck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675120" y="1554480"/>
            <a:ext cx="4572000" cy="361188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6675120" y="1554480"/>
            <a:ext cx="4572000" cy="361188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