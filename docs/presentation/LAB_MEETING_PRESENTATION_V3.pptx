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platform as a research-facing system rather than as a coding project.</a:t>
            </a:r>
          </a:p>
          <a:p>
            <a:r>
              <a:t>The title slide should immediately connect natural-language requests with quantum-chemistry outputs.</a:t>
            </a:r>
          </a:p>
          <a:p>
            <a:r>
              <a:t>Emphasize that the audience is mixed, so the presentation will stay at the level of motivation, workflow, and impact.</a:t>
            </a:r>
          </a:p>
          <a:p>
            <a:r>
              <a:t>Point to the browser and molecular-visualization pairing as the main visual motif for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agenda to reassure the audience that the talk will move from motivation to impact in a logical arc.</a:t>
            </a:r>
          </a:p>
          <a:p>
            <a:r>
              <a:t>The main goal is to show why this matters, how it works conceptually, and what it can already do.</a:t>
            </a:r>
          </a:p>
          <a:p>
            <a:r>
              <a:t>Mention that technical appendix material is available later for anyone who wants more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the one-sentence thesis slowly and clearly.</a:t>
            </a:r>
          </a:p>
          <a:p>
            <a:r>
              <a:t>The audience should leave this slide understanding that the interface shift is the main idea.</a:t>
            </a:r>
          </a:p>
          <a:p>
            <a:r>
              <a:t>Frame the remaining slides as evidence supporting this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divider marks the transition from opening claims to the motivation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that the system matters only because the underlying chemical questions matter.</a:t>
            </a:r>
          </a:p>
          <a:p>
            <a:r>
              <a:t>Use HOMO/LUMO, ESP, optimization, and charge analysis as recognizable examples for both experimentalists and computational chemists.</a:t>
            </a:r>
          </a:p>
          <a:p>
            <a:r>
              <a:t>Position the platform as a way to access these outputs more easily, not as a replacement for scientific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should make the conventional path look operationally heavy.</a:t>
            </a:r>
          </a:p>
          <a:p>
            <a:r>
              <a:t>Stress that compute time is only one piece of the delay; handoffs and tool changes are equally important.</a:t>
            </a:r>
          </a:p>
          <a:p>
            <a:r>
              <a:t>Set up the contrast for the platform's simplicity without exaggerating.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bottleneck in terms of people, software, and knowledge barriers.</a:t>
            </a:r>
          </a:p>
          <a:p>
            <a:r>
              <a:t>Explain that the problem is not that chemists do not care about computation; it is that the access path is expensive in attention and time.</a:t>
            </a:r>
          </a:p>
          <a:p>
            <a:r>
              <a:t>This is the reason a conversational workflow is valuable.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this project becomes realistic now rather than years ago.</a:t>
            </a:r>
          </a:p>
          <a:p>
            <a:r>
              <a:t>The key point is the intersection of maturing language models, open-source compute engines, and web-based delivery.</a:t>
            </a:r>
          </a:p>
          <a:p>
            <a:r>
              <a:t>This is a workflow innovation story built from several mature ingredients.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from motivation into platform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platform as a translator between the scientist's question and the machine's compute workflow.</a:t>
            </a:r>
          </a:p>
          <a:p>
            <a:r>
              <a:t>The system should absorb the operational burden while keeping the scientific result visible.</a:t>
            </a:r>
          </a:p>
          <a:p>
            <a:r>
              <a:t>This framing is more useful than focusing on implementation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orient the audience around the major building blocks without diving into code.</a:t>
            </a:r>
          </a:p>
          <a:p>
            <a:r>
              <a:t>The most important takeaway is that each layer has a clear role in the overall workflow.</a:t>
            </a:r>
          </a:p>
          <a:p>
            <a:r>
              <a:t>Avoid overselling the language model; keep PySCF central as the compute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clearly that the AI layer does not replace quantum chemistry.</a:t>
            </a:r>
          </a:p>
          <a:p>
            <a:r>
              <a:t>PySCF is where the scientific calculation actually happens.</a:t>
            </a:r>
          </a:p>
          <a:p>
            <a:r>
              <a:t>That distinction improves credibility with computational chemists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MCP as the model's hands and feet.</a:t>
            </a:r>
          </a:p>
          <a:p>
            <a:r>
              <a:t>The important distinction is between language interpretation and explicit tool execution.</a:t>
            </a:r>
          </a:p>
          <a:p>
            <a:r>
              <a:t>This helps the audience understand why the system is more than a text-only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through the architecture diagram.</a:t>
            </a:r>
          </a:p>
          <a:p>
            <a:r>
              <a:t>Separate the user-facing path from the external structure sources and the optional scale-out runtime.</a:t>
            </a:r>
          </a:p>
          <a:p>
            <a:r>
              <a:t>Remind the audience that the browser experience hides these internal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operational memory slide: question, routing, structure preparation, computation, packaging, and visualization.</a:t>
            </a:r>
          </a:p>
          <a:p>
            <a:r>
              <a:t>Use it to emphasize that the platform is an end-to-end pipeline.</a:t>
            </a:r>
          </a:p>
          <a:p>
            <a:r>
              <a:t>The system is valuable because it automates the transitions between these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analogy only to make the workflow intuitive, not to trivialize the science.</a:t>
            </a:r>
          </a:p>
          <a:p>
            <a:r>
              <a:t>The scientist orders the result, the system translates, the compute engine executes, and the browser serves.</a:t>
            </a:r>
          </a:p>
          <a:p>
            <a:r>
              <a:t>This works especially well for a mixed lab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architecture into concrete user-visible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proves that the platform is not a one-off HOMO demo.</a:t>
            </a:r>
          </a:p>
          <a:p>
            <a:r>
              <a:t>Highlight the spread across compute modes, interpretation support, and session continuity.</a:t>
            </a:r>
          </a:p>
          <a:p>
            <a:r>
              <a:t>The table at the bottom ties each feature to a chemical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orbital preview as the most immediate bridge between computation and chemical intuition.</a:t>
            </a:r>
          </a:p>
          <a:p>
            <a:r>
              <a:t>Stress the user experience: one question, one browser result, no manual cube handling.</a:t>
            </a:r>
          </a:p>
          <a:p>
            <a:r>
              <a:t>This is likely the best first feature to show in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optimization is both a standalone result and a precondition for later analysis.</a:t>
            </a:r>
          </a:p>
          <a:p>
            <a:r>
              <a:t>This is a good slide to remind the audience that the platform handles more than visualization alone.</a:t>
            </a:r>
          </a:p>
          <a:p>
            <a:r>
              <a:t>Emphasize continuity between optimization and later feature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ESP is often the easiest bridge from calculation to interaction intuition.</a:t>
            </a:r>
          </a:p>
          <a:p>
            <a:r>
              <a:t>This slide should make the electrostatic interpretation visually obvious.</a:t>
            </a:r>
          </a:p>
          <a:p>
            <a:r>
              <a:t>Mention that the system supports it directly from the same chat-driven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broadens the audience's sense of what already exists in the system.</a:t>
            </a:r>
          </a:p>
          <a:p>
            <a:r>
              <a:t>The value is not only in headline images but also in continuity, clarification, and advisor-style support.</a:t>
            </a:r>
          </a:p>
          <a:p>
            <a:r>
              <a:t>That combination pushes the project toward a workflow platform rather than a single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browser visualization is not cosmetic; it is the final step that determines usability.</a:t>
            </a:r>
          </a:p>
          <a:p>
            <a:r>
              <a:t>If users still need another tool, much of the workflow simplification is lost.</a:t>
            </a:r>
          </a:p>
          <a:p>
            <a:r>
              <a:t>That is why the viewer matters as much as the backend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capability description to presentation strategy and evidence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a demo sequence that starts with one question and then stays in the same context.</a:t>
            </a:r>
          </a:p>
          <a:p>
            <a:r>
              <a:t>The audience should experience continuity rather than a disconnected feature tour.</a:t>
            </a:r>
          </a:p>
          <a:p>
            <a:r>
              <a:t>If live reliability is uncertain, say so and use a recorded clip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chat transcript makes the interaction pattern concrete.</a:t>
            </a:r>
          </a:p>
          <a:p>
            <a:r>
              <a:t>The real point is that a follow-up question can reuse structure and intent context rather than restarting.</a:t>
            </a:r>
          </a:p>
          <a:p>
            <a:r>
              <a:t>That is what makes the system feel like a workflow assistant instead of a static search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visual proof slide that the output is discussion-ready.</a:t>
            </a:r>
          </a:p>
          <a:p>
            <a:r>
              <a:t>A good result view should show state, image, and interpretation together.</a:t>
            </a:r>
          </a:p>
          <a:p>
            <a:r>
              <a:t>Use this slide to show that the browser can be the final destination for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disciplined here: compare structure and workflow rather than inventing hard timing claims.</a:t>
            </a:r>
          </a:p>
          <a:p>
            <a:r>
              <a:t>The strongest claim is reduced friction, reduced handoffs, and a single interface surface.</a:t>
            </a:r>
          </a:p>
          <a:p>
            <a:r>
              <a:t>That is already meaningful without a formal user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repository supports a benchmark plan, not a finished benchmark paper.</a:t>
            </a:r>
          </a:p>
          <a:p>
            <a:r>
              <a:t>This is a strength rather than a weakness if it is stated honestly.</a:t>
            </a:r>
          </a:p>
          <a:p>
            <a:r>
              <a:t>It positions the next research step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deliberate honesty layer.</a:t>
            </a:r>
          </a:p>
          <a:p>
            <a:r>
              <a:t>It helps the audience separate implemented capabilities from unfinished validation and scaling work.</a:t>
            </a:r>
          </a:p>
          <a:p>
            <a:r>
              <a:t>That distinction usually improves trust rather than weakening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numbers are intentionally conservative and verifiable.</a:t>
            </a:r>
          </a:p>
          <a:p>
            <a:r>
              <a:t>They summarize breadth, accessibility, and cost posture without overclaiming.</a:t>
            </a:r>
          </a:p>
          <a:p>
            <a:r>
              <a:t>This slide works well before the impact section because it resets the audience around concrete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current-state evidence into implications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that the novelty is workflow integration, not a new electronic-structure method.</a:t>
            </a:r>
          </a:p>
          <a:p>
            <a:r>
              <a:t>This distinction matters for credibility and for paper framing.</a:t>
            </a:r>
          </a:p>
          <a:p>
            <a:r>
              <a:t>The intersection view helps explain that novelty succinctly.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practical claim is autonomy for experimentalists and better use of expert computational attention.</a:t>
            </a:r>
          </a:p>
          <a:p>
            <a:r>
              <a:t>Also highlight teaching value; it broadens the audience for the project.</a:t>
            </a:r>
          </a:p>
          <a:p>
            <a:r>
              <a:t>Keep the tone pragmatic rather than utopian.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current codebase already hints at a worker-separated runtime and modular extension path.</a:t>
            </a:r>
          </a:p>
          <a:p>
            <a:r>
              <a:t>That makes the roadmap look grounded rather than aspirational.</a:t>
            </a:r>
          </a:p>
          <a:p>
            <a:r>
              <a:t>Different audience members will care about different parts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paper as a story about workflow innovation plus validation.</a:t>
            </a:r>
          </a:p>
          <a:p>
            <a:r>
              <a:t>Invite feedback on target journal fit and benchmark scope.</a:t>
            </a:r>
          </a:p>
          <a:p>
            <a:r>
              <a:t>This slide converts technical work into a research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three memorable ideas: question-first interface, compute-backed execution, and lab relevance.</a:t>
            </a:r>
          </a:p>
          <a:p>
            <a:r>
              <a:t>This is the slide the audience should remember after details fade.</a:t>
            </a:r>
          </a:p>
          <a:p>
            <a:r>
              <a:t>Avoid reopening implementation detail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the end of the talk into a collaboration invitation rather than a one-way report.</a:t>
            </a:r>
          </a:p>
          <a:p>
            <a:r>
              <a:t>Ask for real molecules, real questions, and real benchmark criteria from the group.</a:t>
            </a:r>
          </a:p>
          <a:p>
            <a:r>
              <a:t>That invites ownership from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prompt bullets to keep discussion on useful topics if the room goes quiet.</a:t>
            </a:r>
          </a:p>
          <a:p>
            <a:r>
              <a:t>Likely questions will be about validation, scope, and next features.</a:t>
            </a:r>
          </a:p>
          <a:p>
            <a:r>
              <a:t>Answer by distinguishing clearly between current capability and planned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backup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if someone wants a slightly deeper system view without code-level detail.</a:t>
            </a:r>
          </a:p>
          <a:p>
            <a:r>
              <a:t>The layered framing is often enough for a technical audience in a lab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good backup slide when the audience asks how molecule text becomes a usable structure.</a:t>
            </a:r>
          </a:p>
          <a:p>
            <a:r>
              <a:t>It highlights that structure resolution is a serious problem, not a trivial pre-step.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when questions shift toward runtime scale, queueing, or concurrency.</a:t>
            </a:r>
          </a:p>
          <a:p>
            <a:r>
              <a:t>The main message is that the system already has a path toward separating serving and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useful when the room wants to discuss what 'validation' should mean in practice.</a:t>
            </a:r>
          </a:p>
          <a:p>
            <a:r>
              <a:t>Keep the distinction between scientific validity and usability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appendix by acknowledging the open-source foundation and by listing the key assets still needed for a polished conference version.</a:t>
            </a:r>
          </a:p>
          <a:p>
            <a:r>
              <a:t>This slide is also useful when sharing the deck after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30352"/>
            <a:ext cx="63093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72" y="603504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60920" y="530352"/>
            <a:ext cx="4160520" cy="46451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6368" y="658368"/>
            <a:ext cx="1874519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Hero Figure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22960"/>
            <a:ext cx="580644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300" b="1" i="0">
                <a:solidFill>
                  <a:srgbClr val="0F172A"/>
                </a:solidFill>
                <a:latin typeface="Calibri"/>
              </a:rPr>
              <a:t>Quantum Chemistry Automation Platform</a:t>
            </a:r>
          </a:p>
          <a:p>
            <a:r>
              <a:rPr sz="1900" b="0" i="0">
                <a:solidFill>
                  <a:srgbClr val="334155"/>
                </a:solidFill>
                <a:latin typeface="Calibri"/>
              </a:rPr>
              <a:t>LLM + MCP + PySCF for conversational computation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54864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This presentation frames the project as a research tool that lets experimental chemists ask for quantum-chemistry analyses in natural language and receive visualization-ready outputs.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3401568"/>
            <a:ext cx="182880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Conference-style V3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730752"/>
            <a:ext cx="196596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Lab Meeting Deck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3730752"/>
            <a:ext cx="22402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Browser-Based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3730752"/>
            <a:ext cx="160020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71231" y="987552"/>
            <a:ext cx="3730752" cy="3858768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Composite hero visual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Molecular orbital rendering on the left and chatbot UI screenshot on the right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Directly generated for the presentation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hero_quantum_chatbot.png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Hero image combining molecular visualization and the chat interface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71231" y="987552"/>
            <a:ext cx="3730752" cy="3858768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571231" y="987552"/>
            <a:ext cx="3730752" cy="3858768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16368" y="4617720"/>
            <a:ext cx="3657600" cy="31089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Target visual: orbital render + chat screenshot + clean browser result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23560"/>
            <a:ext cx="548640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Calibri"/>
              </a:rPr>
              <a:t>Presenter: Lab member / Date: 2026-03-28 / Context: mixed experimental and computational audience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From motivation to platform architecture, capabilities,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3232" y="1143000"/>
            <a:ext cx="10765231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1417320"/>
            <a:ext cx="5486400" cy="4389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Why quantum chemistry remains essential for experimental decision-making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Why the conventional workflow is slow, fragmented, and expert-dependent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How the platform turns a natural-language request into a compute workflow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the current system can already calculate and visualize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How the browser-based demo experience should be shown in a live talk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the practical and academic impact could be for the lab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validation, roadmap, and publication steps come next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417320"/>
            <a:ext cx="4846320" cy="40690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5683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Talk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965960"/>
            <a:ext cx="1874519" cy="310896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44968" y="2276856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7681468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2441448"/>
            <a:ext cx="1874519" cy="310896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4968" y="2752344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0800000">
            <a:off x="7681468" y="283514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2916936"/>
            <a:ext cx="1874519" cy="310896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44968" y="3227832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7681468" y="331063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12280" y="3392424"/>
            <a:ext cx="1874519" cy="310896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44968" y="3703320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7681468" y="3786124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80" y="3867912"/>
            <a:ext cx="1874519" cy="310896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44968" y="4178808"/>
            <a:ext cx="0" cy="146304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10800000">
            <a:off x="7681468" y="42616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12280" y="4343400"/>
            <a:ext cx="1874519" cy="310896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One-sentence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deck should open with the main transformation, not with implementation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1554480"/>
            <a:ext cx="10378440" cy="1463040"/>
          </a:xfrm>
          <a:prstGeom prst="rect">
            <a:avLst/>
          </a:prstGeom>
          <a:solidFill>
            <a:srgbClr val="F1F5F9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 i="1">
                <a:solidFill>
                  <a:srgbClr val="0055D4"/>
                </a:solidFill>
                <a:latin typeface="Calibri"/>
              </a:rPr>
              <a:t>If a chemist can describe the molecule and the analysis in plain English, the system can route the computation and return a visualization-ready result.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3657600"/>
            <a:ext cx="374903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 i="0">
                <a:solidFill>
                  <a:srgbClr val="D92B2B"/>
                </a:solidFill>
                <a:latin typeface="Calibri"/>
              </a:rPr>
              <a:t>Before: Input files, tool chains, and specialist mediation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657600"/>
            <a:ext cx="3749039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 i="0">
                <a:solidFill>
                  <a:srgbClr val="0A8A3E"/>
                </a:solidFill>
                <a:latin typeface="Calibri"/>
              </a:rPr>
              <a:t>After: One browser entry point, one question-driven workflow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0" y="4114800"/>
            <a:ext cx="205740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7023100" y="405130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4754880"/>
            <a:ext cx="2743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Accessibility is the real innovation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000000">
            <a:off x="137160" y="4736592"/>
            <a:ext cx="61264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7772400" y="36576"/>
            <a:ext cx="3749039" cy="65836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6092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41732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24028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306324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88620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470916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137160"/>
            <a:ext cx="41148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Quantum Chemistry Automation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097280"/>
            <a:ext cx="2240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SECTION</a:t>
            </a:r>
          </a:p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65960"/>
            <a:ext cx="6492240" cy="8046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Why This Problem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926080"/>
            <a:ext cx="6766560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Scientific need, workflow friction, and the current research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77840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50992"/>
            <a:ext cx="1645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1">
                <a:solidFill>
                  <a:srgbClr val="334155"/>
                </a:solidFill>
                <a:latin typeface="Calibri"/>
              </a:rPr>
              <a:t>Section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5705856"/>
            <a:ext cx="192024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Scientific need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5705856"/>
            <a:ext cx="192024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Workflow friction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9984" y="5705856"/>
            <a:ext cx="192024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Why experimental chemists still need quantum chemistry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platform matters only if the underlying scientific questions are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325880"/>
            <a:ext cx="5623560" cy="4526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Quantum chemistry provides electronic-structure information that experiments often cannot observe directly.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HOMO/LUMO analysis helps frame reactivity, electron donation, and electron acceptance in an intuitive way.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Geometry optimization identifies a more stable reference structure before downstream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Electrostatic potential maps reveal electron-rich and electron-poor regions on the molecular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Partial charges and dipole moments help rationalize intermolecular interactions and selectivity trends.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transient species or difficult-to-observe intermediates, calculations become a hypothesis-building tool.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value proposition is not to replace experiments, but to sharpen explanation, planning, and interpretation.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417320"/>
            <a:ext cx="4663440" cy="38862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visualization set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One orbital image, one ESP surface, and one optimized structure comparison panel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Directly generated from project outputs or recreated for the deck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quantum_value_triptych.png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Three molecular panels showing why quantum calculations matter in practice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1417320"/>
            <a:ext cx="4663440" cy="3886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629400" y="1417320"/>
            <a:ext cx="4663440" cy="3886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20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Use an image triptych here so the audience immediately sees that the outputs are chemically meaningful, not merely computational artifacts.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Traditional workflow is fragmented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slow part is not only the compute time, but the human and software chain around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Experimental question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7452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199390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Ask a specialist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184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41122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Prepare geometry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0916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82854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9204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Write input files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62458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Run compute code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543800" y="2194560"/>
            <a:ext cx="182879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7663179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Parse outputs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19" y="2194560"/>
            <a:ext cx="182881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08050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0" y="1828800"/>
            <a:ext cx="1234440" cy="731520"/>
          </a:xfrm>
          <a:prstGeom prst="rect">
            <a:avLst/>
          </a:prstGeom>
          <a:solidFill>
            <a:srgbClr val="D92B2B"/>
          </a:solidFill>
          <a:ln w="15875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Visualize elsewhere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78440" y="2194560"/>
            <a:ext cx="182879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10497819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61319" y="1828800"/>
            <a:ext cx="12344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Explain 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840480"/>
            <a:ext cx="10424160" cy="1417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600" b="0" i="0">
                <a:solidFill>
                  <a:srgbClr val="0F172A"/>
                </a:solidFill>
                <a:latin typeface="Calibri"/>
              </a:rPr>
              <a:t>This chain requires multiple tools, repeated file conversion, and repeated interpretation. If any assumption changes, the workflow loops back upstream and the turn-around time grows quickly.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937760"/>
            <a:ext cx="2011680" cy="219456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Pain concentrates here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What makes the current workflow painful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bottleneck is structural: people, tools, and knowledge are all serialized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417320"/>
            <a:ext cx="5669280" cy="4297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 small number of computational experts become the routing bottleneck for routine requests.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Different tools handle structure preparation, execution, parsing, and visualization separately.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Users must understand basis sets, functionals, convergence behavior, and failure recovery.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Commercial software and viewers introduce cost, access-control, and licensing constraints.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Experimentalists often receive outputs without enough interpretive context to act immediately.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Changing the question usually means repeating the same slow loop with a specialist in the middle.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554480"/>
            <a:ext cx="4480560" cy="36576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Concept illustration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Fragmented legacy workflow with many disconnected software tools and a human bottleneck in the middle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for the presentation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legacy_workflow_pain.png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Illustration of a fragmented multi-tool workflow with a specialist bottleneck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20840" y="1554480"/>
            <a:ext cx="4480560" cy="36576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720840" y="1554480"/>
            <a:ext cx="4480560" cy="36576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The research gap is now actionable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enabling condition is the intersection of mature open chemistry, language models, and tool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554480"/>
            <a:ext cx="10149840" cy="3337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" y="162763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Intersection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4440" y="2240280"/>
            <a:ext cx="2468880" cy="91440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Natural-language interpretation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828800"/>
            <a:ext cx="2743200" cy="91440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quantum-chemistry engines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240280"/>
            <a:ext cx="2468880" cy="91440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Web-native automation and visualization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246120"/>
            <a:ext cx="3291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Practical conversational computation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03320" y="2697480"/>
            <a:ext cx="548640" cy="9144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8942175">
            <a:off x="4188460" y="354838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5897880" y="2743200"/>
            <a:ext cx="457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1111666">
            <a:off x="583438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7543800" y="2697480"/>
            <a:ext cx="502920" cy="9144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2528648">
            <a:off x="7480300" y="354838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100584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Earlier attempts simplified individual tools. The current opportunity is to connect language understanding, tool routing, and open compute backends into one user experience.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000000">
            <a:off x="137160" y="4736592"/>
            <a:ext cx="61264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7772400" y="36576"/>
            <a:ext cx="3749039" cy="6583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6092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41732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24028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306324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88620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470916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137160"/>
            <a:ext cx="41148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Quantum Chemistry Automation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097280"/>
            <a:ext cx="2240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SECTION</a:t>
            </a:r>
          </a:p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65960"/>
            <a:ext cx="6492240" cy="8046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Platform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926080"/>
            <a:ext cx="6766560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How the system converts a natural-language request into a compute-backed result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77840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50992"/>
            <a:ext cx="1645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1">
                <a:solidFill>
                  <a:srgbClr val="334155"/>
                </a:solidFill>
                <a:latin typeface="Calibri"/>
              </a:rPr>
              <a:t>Section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5705856"/>
            <a:ext cx="19202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Language entry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5705856"/>
            <a:ext cx="19202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Tool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9984" y="5705856"/>
            <a:ext cx="19202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PySCF execution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Core idea: question in, insight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system should hide workflow friction while keeping scientific outputs 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1645920"/>
            <a:ext cx="2148840" cy="9601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 question
"Show the HOMO of acetone"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2121408"/>
            <a:ext cx="160020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508500" y="2057908"/>
            <a:ext cx="127000" cy="127000"/>
          </a:xfrm>
          <a:prstGeom prst="triangl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645920"/>
            <a:ext cx="2240280" cy="96012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Intent extraction
molecule + task + context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12280" y="2121408"/>
            <a:ext cx="1554480" cy="0"/>
          </a:xfrm>
          <a:prstGeom prst="line">
            <a:avLst/>
          </a:prstGeom>
          <a:ln w="2032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8303260" y="2057908"/>
            <a:ext cx="127000" cy="127000"/>
          </a:xfrm>
          <a:prstGeom prst="triangl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1645920"/>
            <a:ext cx="2788920" cy="9601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Compute route
structure + PySCF + result 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154680"/>
            <a:ext cx="10058400" cy="1920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user no longer has to think in terms of file formats, command-line options, or post-processing tools.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decides which compute path to run and packages the result for immediate use.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Follow-up questions can reuse the same session context instead of restarting from zero.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design goal is not fewer scientific details, but less operational friction around those details.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Technology stack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system combines an open compute engine, a routing layer, and a browser-native presentation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417320"/>
          <a:ext cx="108356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Role in the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PySCF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Runs single-point, orbital, ESP, charge, and optimization workflows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Language interface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LLM providers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Interprets requests, helps route tasks, and explains outputs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Tool bridge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MCP-style tool layer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Connects language intent to explicit compute or helper functions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Web application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FastAPI + WebSocket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Delivers chat, job status, and result retrieval in real time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3Dmol.js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Renders molecular structures, surfaces, and orbital views in the browser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External structure data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MolChat / PubChem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Resolves candidate structures before computation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9721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Scalable runtime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Redis + arq (optional)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Separates web serving from job execution when needed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5532120"/>
            <a:ext cx="106070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The talk should present these as a coherent pipeline rather than as disconnected frameworks.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Why PySCF is the compute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AI layer routes requests, but PySCF performs the actual electronic-structure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417320"/>
            <a:ext cx="5486400" cy="44348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PySCF is an open-source quantum-chemistry framework with strong Python interoperability.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interoperability makes it well suited for an automated pipeline rather than a manual file-centric workflow.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In this project it underpins single-point energy, orbital preview, ESP mapping, charge analysis, and geometry optimization.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open-source model lowers cost and improves reproducibility compared with commercial-only setups.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should therefore be described as a compute-automation system, not as an AI model pretending to calculate.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1463040"/>
            <a:ext cx="4572000" cy="36118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Logo plus compute capability graphic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PySCF logo or text logo with small capability icons for energy, orbitals, ESP, charges, and optimization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or official logo asset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pyscf_stack_badge.png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PySCF logo with annotated compute capabilities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146304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629400" y="146304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Why LLM + MCP changes 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novelty lies in turning natural language into explicit tool calls rather than into vague text-only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1920240"/>
            <a:ext cx="21031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User 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2331720"/>
            <a:ext cx="164592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450850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920240"/>
            <a:ext cx="201168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
interpretation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0" y="2331720"/>
            <a:ext cx="146304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798322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920240"/>
            <a:ext cx="219456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MCP-style
 tool layer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41280" y="2331720"/>
            <a:ext cx="868680" cy="0"/>
          </a:xfrm>
          <a:prstGeom prst="line">
            <a:avLst/>
          </a:prstGeom>
          <a:ln w="20320">
            <a:solidFill>
              <a:srgbClr val="005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1046460" y="2268220"/>
            <a:ext cx="127000" cy="127000"/>
          </a:xfrm>
          <a:prstGeom prst="triangle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12680" y="3108960"/>
            <a:ext cx="1554480" cy="7315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PySCF / resolver /
visualizer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0" y="2743200"/>
            <a:ext cx="105156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6550740">
            <a:off x="10132060" y="30454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69080"/>
            <a:ext cx="100584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LLM reads the request in human language and identifies molecule, task, and follow-up context.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tool layer makes the next step explicit: calculate ESP, preview an orbital, resolve a structure, or build a summary.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division reduces the risk of a text-only model speaking as if it had already run a calculation.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is why MCP is best explained as the model's hands and feet rather than as another chatbot feature.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End-to-end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A single browser experience sits on top of routing, structure resolution, compute, and result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" y="1783080"/>
            <a:ext cx="192024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Browser 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1783080"/>
            <a:ext cx="219456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Chat and compute 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1783080"/>
            <a:ext cx="205740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Structure resolver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1965960" cy="82296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runner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5560" y="1783080"/>
            <a:ext cx="13258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Result UI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194560"/>
            <a:ext cx="4114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99974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257800" y="2194560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5600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680960" y="2194560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98322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0012680" y="2194560"/>
            <a:ext cx="1828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10132060" y="21310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365760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MolChat / PubChem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657600"/>
            <a:ext cx="2377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Advisor and explanation layer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3657600"/>
            <a:ext cx="18288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Redis / worker (optional)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4846320" y="2606040"/>
            <a:ext cx="914400" cy="1051560"/>
          </a:xfrm>
          <a:prstGeom prst="line">
            <a:avLst/>
          </a:prstGeom>
          <a:ln w="2032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3260545">
            <a:off x="4782820" y="3594100"/>
            <a:ext cx="127000" cy="127000"/>
          </a:xfrm>
          <a:prstGeom prst="triangl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H="1">
            <a:off x="7863840" y="2606040"/>
            <a:ext cx="1143000" cy="1051560"/>
          </a:xfrm>
          <a:prstGeom prst="line">
            <a:avLst/>
          </a:prstGeom>
          <a:ln w="20320">
            <a:solidFill>
              <a:srgbClr val="0A8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3643157">
            <a:off x="7800340" y="3594100"/>
            <a:ext cx="127000" cy="127000"/>
          </a:xfrm>
          <a:prstGeom prst="triangle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006840" y="2606040"/>
            <a:ext cx="1280160" cy="105156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7764040">
            <a:off x="10223500" y="3594100"/>
            <a:ext cx="127000" cy="127000"/>
          </a:xfrm>
          <a:prstGeom prst="triangl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892040"/>
            <a:ext cx="1042416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The slide should visually separate the user-facing path, the structure-preparation path, and the optional scale-out runtime path.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Pipeline from question to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This is the operational sequence that the audience should remember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85800" y="1828800"/>
            <a:ext cx="1325880" cy="71323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User request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116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2225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1828800"/>
            <a:ext cx="1325880" cy="71323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Intent extraction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8227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86200" y="1828800"/>
            <a:ext cx="1325880" cy="71323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Structure preparation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120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4229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0" y="1828800"/>
            <a:ext cx="1325880" cy="71323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Task selection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122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0231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1828800"/>
            <a:ext cx="1325880" cy="71323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 PySCF execution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86233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1828800"/>
            <a:ext cx="1325880" cy="71323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6. Result packaging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12680" y="2185416"/>
            <a:ext cx="2743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10223500" y="2121916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87000" y="1828800"/>
            <a:ext cx="1325880" cy="713232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7. Browser 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154680"/>
            <a:ext cx="10561320" cy="2011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first three steps determine whether the system correctly understands what the user really wants.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middle steps determine whether the requested calculation is executed on a chemically meaningful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final step determines whether the output is actually useful to a non-expert without another software round-trip.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is why the platform should be presented as a full workflow, not as a thin wrapper around a compute engine.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 restaurant analogy for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analogy helps a mixed audience grasp the division of labor without code-level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2011680"/>
            <a:ext cx="164592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Experimentalist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6888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0830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2011680"/>
            <a:ext cx="1645920" cy="82296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LLM waiter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1772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505714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011680"/>
            <a:ext cx="1645920" cy="822960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Tool menu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720598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2011680"/>
            <a:ext cx="1645920" cy="82296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kitchen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15400" y="2423160"/>
            <a:ext cx="50292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9354820" y="23596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2011680"/>
            <a:ext cx="1645920" cy="82296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Visualization plating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57600"/>
            <a:ext cx="10058400" cy="1737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scientist states the desired outcome in natural language, just as a diner places an order.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LLM interprets the order, while the tool layer translates it into an explicit kitchen action.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compute engine performs the actual work, and the result is plated for direct inspection in the browser.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metaphor is useful because it emphasizes that users should not need to know the kitchen's internal recipe syntax.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000000">
            <a:off x="137160" y="4736592"/>
            <a:ext cx="61264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7772400" y="36576"/>
            <a:ext cx="3749039" cy="658368"/>
          </a:xfrm>
          <a:prstGeom prst="rect">
            <a:avLst/>
          </a:prstGeom>
          <a:solidFill>
            <a:srgbClr val="0A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6092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41732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24028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306324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88620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470916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137160"/>
            <a:ext cx="41148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Quantum Chemistry Automation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097280"/>
            <a:ext cx="2240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SECTION</a:t>
            </a:r>
          </a:p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65960"/>
            <a:ext cx="6492240" cy="8046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926080"/>
            <a:ext cx="6766560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What the current system can already calculate and present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77840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50992"/>
            <a:ext cx="1645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1">
                <a:solidFill>
                  <a:srgbClr val="334155"/>
                </a:solidFill>
                <a:latin typeface="Calibri"/>
              </a:rPr>
              <a:t>Section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5705856"/>
            <a:ext cx="192024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Orbitals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5705856"/>
            <a:ext cx="192024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9984" y="5705856"/>
            <a:ext cx="192024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ESP and charges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Capability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platform already covers several high-value workflows rather than a single demo 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Orbital preview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ESP 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Partial charges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16459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EA580C"/>
                </a:solidFill>
                <a:latin typeface="Calibri"/>
              </a:rPr>
              <a:t>Geometry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Single-point energy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Integrated analysis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Session continuation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560320"/>
            <a:ext cx="214884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Result explanation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77240" y="388620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 chemically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HOMO/LUMO preview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Supports intuitive discussion of donation, acceptance, and reactivity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ESP map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Highlights electrostatic regions linked to intermolecular interaction patterns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Optimization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Establishes a more stable reference geometry before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Charge analysis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Provides atom-level descriptors useful for mechanistic discussion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Continuation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Allows follow-up questions without re-entering the same context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Feature deep dive: HOMO/LUMO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Use the most visually persuasive feature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HOMO/LUMO views connect directly to familiar reactivity language.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user asks in natural language and receives a browser-ready orbital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result is not just a file; it is an interactive 3D object with context.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makes orbital concepts easier to discuss in both research and teaching settings.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a live audience, this is often the strongest first demonstration image.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orbital render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HOMO and LUMO renderings of one representative molecule, shown side by side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feature_homo_lumo.png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HOMO and LUMO renderings of one representative molecule, shown side by side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Feature deep dive: geometry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Optimization matters because many later interpretations depend on the starting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Optimization finds a more stable reference geometry under the chosen level of theory.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matters because orbital or ESP interpretation is more meaningful on a chemically sensible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supports optimization as a direct natural-language request.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output can be shown as an updated 3D geometry in the same interface.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turns a traditionally file-heavy pre-processing step into a direct part of the conversation.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Optimized geometry comparison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Before-and-after geometry panels with one representative optimized structure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feature_optimization.png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Before-and-after geometry panels with one representative optimized structure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Feature deep dive: ESP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ESP is one of the most intuitive ways to talk about electrostatic patterns on a molecular surface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417320"/>
            <a:ext cx="548640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ESP maps turn charge-distribution information into an interpretable color 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browser delivery matters because it removes the usual handoff into a separate visualization tool.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many experimentalists, this image is easier to interpret quickly than a raw charge table.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feature also complements orbital analysis by focusing on the molecular surface rather than an orbital isosurface.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In the talk, use it to connect electronic structure to interaction patterns and selectivity language.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417320"/>
            <a:ext cx="4709160" cy="393192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ESP surface render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High-contrast electrostatic potential map with visible color scale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Direct output screenshot or recreated render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feature_esp.png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High-contrast electrostatic potential map with visible color scale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537960" y="1417320"/>
            <a:ext cx="4709160" cy="393192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Additional capabilities beyond the headline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project already combines computation, continuity, and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" y="1417320"/>
          <a:ext cx="108813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Function in the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Single-point energy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Provides a fast reference electronic-energy calculation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Supports quick comparison and baseline analysis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Partial charge analysis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Summarizes atom-wise charge distribution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Useful for bond polarity and reactivity discussion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Analyze workflow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Packages multiple outputs into one result contract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Improves usability for non-experts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Session continuation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Carries molecule and task context across follow-up requests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Makes the chat interface genuinely interactive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Clarification flow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Asks for missing detail when the request is ambiguous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Reduces misrouted calculations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55517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Advisor layer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Adds presets, methods text, and interpretation support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Improves reproducibility and communication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046720" y="5440680"/>
            <a:ext cx="3246120" cy="8686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Small UI strip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Compact screenshot showing session history, follow-up controls, or advisor recommendations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Browser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continuation_advisor_strip.png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UI strip illustrating continuation and recommendation features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46720" y="5440680"/>
            <a:ext cx="3246120" cy="868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046720" y="5440680"/>
            <a:ext cx="3246120" cy="8686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Visualization is the last mile of usability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Results are most useful when they arrive as inspectable browser objects rather than as raw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417320"/>
            <a:ext cx="516636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browser view can host structures, orbital surfaces, ESP surfaces, and summary panels in one place.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Users can rotate, zoom, and switch between result tabs without opening a second desktop application.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removes one of the most common breakpoints in the conventional workflow: post-processing and re-rendering.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a mixed audience, this is also the most persuasive evidence that the system is more than a backend API.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331720" cy="38404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Browser UI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Result panel with molecular viewer, tabs, and computation summary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viewer_ui_browser.png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Browser interface showing the 3D viewer and result panel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6364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26364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823960" y="1417320"/>
            <a:ext cx="2331720" cy="38404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Molecular output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High-contrast orbital or ESP render for one representative molecule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 or regenerated still image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viewer_output_example.png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Representative molecular visualization from the browser UI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2396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823960" y="1417320"/>
            <a:ext cx="2331720" cy="38404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000000">
            <a:off x="137160" y="4736592"/>
            <a:ext cx="61264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7772400" y="36576"/>
            <a:ext cx="3749039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6092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41732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24028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306324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88620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470916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137160"/>
            <a:ext cx="41148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Quantum Chemistry Automation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097280"/>
            <a:ext cx="2240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SECTION</a:t>
            </a:r>
          </a:p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65960"/>
            <a:ext cx="6492240" cy="8046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Demo And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926080"/>
            <a:ext cx="6766560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How to show the platform convincingly without unsupported benchmark claims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77840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50992"/>
            <a:ext cx="1645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1">
                <a:solidFill>
                  <a:srgbClr val="334155"/>
                </a:solidFill>
                <a:latin typeface="Calibri"/>
              </a:rPr>
              <a:t>Section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5705856"/>
            <a:ext cx="1920240" cy="21945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5705856"/>
            <a:ext cx="1920240" cy="21945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9984" y="5705856"/>
            <a:ext cx="1920240" cy="219456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Validation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Recommended live-demo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A good demo shows continuity, not just one flashy still image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" y="1463040"/>
            <a:ext cx="493776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153619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463040"/>
            <a:ext cx="4937760" cy="4389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28232" y="153619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Demo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28800"/>
            <a:ext cx="4526280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Start with a request such as 'Show the HOMO of acetone.'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Use the first result to prove the platform can turn a plain-English request into a visualization.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Then ask a follow-up question on the same molecule rather than switching context immediately.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reveals that the session stores enough context to support continuity.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28800"/>
            <a:ext cx="4526280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for an ESP map or geometry optimization on the same structure.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Show progress updates to emphasize that a real compute path is running.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If live reliability is uncertain, replace the live segment with a short pre-recorded clip.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key criterion is continuity from question to result, not theatrical speed.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Chat UI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Opening request in the browser chat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demo_chat_start.png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Chat interface with the opening HOMO request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6012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15468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Result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Initial orbital result with viewer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demo_homo_result.png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Initial HOMO result in the browser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54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154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58368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Progress snapshot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Compute progress status panel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demo_progress.png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Progress screen showing computation status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58368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778240" y="3886200"/>
            <a:ext cx="1965960" cy="150876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Follow-up result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ESP or optimization follow-up result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demo_followup.png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Follow-up result on the same molecular context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7824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778240" y="3886200"/>
            <a:ext cx="1965960" cy="150876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Conversation flow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deck should show that the interface supports sequential scientific questioning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1417320"/>
            <a:ext cx="10332720" cy="45262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Chat transcript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828800"/>
            <a:ext cx="4572000" cy="502920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USER: Show the HOMO of benzene.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542032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Preparing the structure and launching orbital preview.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255264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The HOMO visualization is ready in the 3D viewer.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968496"/>
            <a:ext cx="4572000" cy="502920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USER: Now show the LUMO and add an ESP map.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4681728"/>
            <a:ext cx="5852160" cy="50292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SYSTEM: Reusing the same structure context and starting the follow-up jobs.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What the result screen should communicate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A result screen must show state, visualization, and interpretation at the same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77240" y="1417320"/>
            <a:ext cx="5212080" cy="420624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Browser result screen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Main application screenshot showing the viewer, job metadata, and selected result tab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Web-app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result_screen_full.png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Main result screen of the application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1417320"/>
            <a:ext cx="5212080" cy="420624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77240" y="1417320"/>
            <a:ext cx="5212080" cy="420624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355080" y="1417320"/>
            <a:ext cx="4754880" cy="29718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Rendered molecular output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Large orbital or ESP still image for publication-style readability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Viewer screenshot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result_visual_focus.png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Focused molecular visualization from the result view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1417320"/>
            <a:ext cx="4754880" cy="29718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355080" y="1417320"/>
            <a:ext cx="4754880" cy="29718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4617720"/>
            <a:ext cx="4572000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result view should answer three questions immediately: what was run, what was found, and where to look first.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 molecular viewer without context is not enough; it needs state labels and a concise interpretation panel.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 a conference-style audience, the slide should also imply that the browser output is discussion-ready.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Before vs. after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most defensible comparison is structural, not exaggerated speed claims without user-study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1417320"/>
          <a:ext cx="6492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164080"/>
                <a:gridCol w="2164080"/>
              </a:tblGrid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Traditional workflow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This platform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Entry point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Input files and specialist mediation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Natural-language browser interaction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Tool count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Multiple compute and post-processing tools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One browser-centered entry point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Output parsing required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Visualization plus explanation layer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Iteration style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Human re-request loop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Follow-up continuation in one session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Cost model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Commercial software may be required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Open-source-first stack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635240" y="1691640"/>
            <a:ext cx="333756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Conceptual time-to-insight comparison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743200"/>
            <a:ext cx="2560320" cy="347472"/>
          </a:xfrm>
          <a:prstGeom prst="rect">
            <a:avLst/>
          </a:prstGeom>
          <a:solidFill>
            <a:srgbClr val="D92B2B"/>
          </a:solidFill>
          <a:ln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560320"/>
            <a:ext cx="292608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Traditional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3566160"/>
            <a:ext cx="1371600" cy="347472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383280"/>
            <a:ext cx="2926080" cy="182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Validation framework rather than unsupported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repository supports a benchmark plan, not a finished internal accuracy 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58368" y="14173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Validation area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Comparison target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What should be checked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Relative energies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quantum-chemistry output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Rank ordering and magnitude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Optimized geometry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structure parameters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Bond lengths, angles, and stable minima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Orbital results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orbital analysis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Ordering, qualitative shape, and interpretive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ESP and charges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Reference electrostatic descriptors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Region trends rather than decorative similarity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Usability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Lab-user pilot study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Time to first result and clarity of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31520" y="5532120"/>
            <a:ext cx="106070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This framing is honest and still strong: the platform is compelling, and benchmark work is the next formal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Current boundaries and responsible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A stronger talk separates what is already implemented from what still needs validation or scale-up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520" y="1417320"/>
            <a:ext cx="512064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Already solid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5120640" cy="4480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2512" y="1490472"/>
            <a:ext cx="155448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Still to mature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828800"/>
            <a:ext cx="4572000" cy="3017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browser workflow, routing logic, and result packaging are already concrete and demo-ready.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Core compute paths are present for orbital preview, ESP, partial charges, optimization, and integrated analysis.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Session continuation and real-time progress updates already strengthen the user experience beyond a static demo.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optional worker path shows that the architecture was designed with scale-out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4572000" cy="3017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Formal accuracy benchmarks against reference software still need to be completed and reported systematically.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Structure resolution remains a scientifically important quality gate before downstream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Operational hardening for broader multi-user deployment is a next-step engineering task rather than a finished claim.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Publication-grade scientific conclusions should still be reviewed through expert interpretation and validation.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Platform value in three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Use only numbers that are directly defensible from the current project scan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6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core compute modes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single-point, orbital, ESP, charges, optimization, integrated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3000" b="1" i="0">
                <a:solidFill>
                  <a:srgbClr val="0A8A3E"/>
                </a:solidFill>
                <a:latin typeface="Calibri"/>
              </a:rPr>
              <a:t>1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browser entry point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chat, progress tracking, and visualization live in one UI surface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29260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3000" b="1" i="0">
                <a:solidFill>
                  <a:srgbClr val="EA580C"/>
                </a:solidFill>
                <a:latin typeface="Calibri"/>
              </a:rPr>
              <a:t>0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commercial-license dependency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the current stack is centered on open-source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058400" cy="1143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These numbers are intentionally modest and verifiable.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They communicate breadth, simplicity of access, and cost structure without inventing benchmark claims.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slide works well before the impact section because it resets the audience around concrete takeaways.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000000">
            <a:off x="137160" y="4736592"/>
            <a:ext cx="61264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7772400" y="36576"/>
            <a:ext cx="3749039" cy="658368"/>
          </a:xfrm>
          <a:prstGeom prst="rect">
            <a:avLst/>
          </a:prstGeom>
          <a:solidFill>
            <a:srgbClr val="0A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6092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41732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24028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306324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88620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470916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137160"/>
            <a:ext cx="41148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Quantum Chemistry Automation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097280"/>
            <a:ext cx="2240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SECTION</a:t>
            </a:r>
          </a:p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65960"/>
            <a:ext cx="6492240" cy="8046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Impact And Outlook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926080"/>
            <a:ext cx="6766560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Why the platform matters for the lab, and how it could evolve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77840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50992"/>
            <a:ext cx="1645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1">
                <a:solidFill>
                  <a:srgbClr val="334155"/>
                </a:solidFill>
                <a:latin typeface="Calibri"/>
              </a:rPr>
              <a:t>Section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5705856"/>
            <a:ext cx="192024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Lab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5705856"/>
            <a:ext cx="192024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Expansion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9984" y="5705856"/>
            <a:ext cx="1920240" cy="219456"/>
          </a:xfrm>
          <a:prstGeom prst="rect">
            <a:avLst/>
          </a:prstGeom>
          <a:solidFill>
            <a:srgbClr val="0A8A3E"/>
          </a:solidFill>
          <a:ln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Publication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Academic 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novelty claim should focus on workflow integration, accessibility, and tool-mediated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874519"/>
            <a:ext cx="2743200" cy="86868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Language-driven request handling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874519"/>
            <a:ext cx="2743200" cy="86868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Open quantum-chemistry 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874519"/>
            <a:ext cx="2743200" cy="86868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Browser-native scientific presentation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3246120"/>
            <a:ext cx="44805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Workflow innovation at the intersection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743200"/>
            <a:ext cx="18745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6301102">
            <a:off x="409702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080760" y="2743200"/>
            <a:ext cx="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601726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H="1">
            <a:off x="8001000" y="2743200"/>
            <a:ext cx="1874520" cy="50292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5298898">
            <a:off x="7937500" y="3182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89120"/>
            <a:ext cx="10058400" cy="10058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platform is not claiming a new electronic-structure method.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Its novelty lies in making open quantum-chemistry workflows conversational, tool-mediated, and presentation-ready.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combination sits at the intersection of computational chemistry, AI interfaces, and research automation.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Practical impact for the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strongest value proposition is autonomy and iteration speed, not AI spectacle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500" b="1" i="0">
                <a:solidFill>
                  <a:srgbClr val="0055D4"/>
                </a:solidFill>
                <a:latin typeface="Calibri"/>
              </a:rPr>
              <a:t>Experimental chemists
can ask directly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500" b="1" i="0">
                <a:solidFill>
                  <a:srgbClr val="0A8A3E"/>
                </a:solidFill>
                <a:latin typeface="Calibri"/>
              </a:rPr>
              <a:t>Computational chemists
can focus on harder problems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828800"/>
            <a:ext cx="320040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500" b="1" i="0">
                <a:solidFill>
                  <a:srgbClr val="EA580C"/>
                </a:solidFill>
                <a:latin typeface="Calibri"/>
              </a:rPr>
              <a:t>Students
learn through interaction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154680"/>
            <a:ext cx="10195560" cy="187451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 conversational interface lowers the threshold for asking exploratory questions early in a project.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Experts are not replaced; instead, routine routing work can be reduced so that expert attention shifts to validation and interpretation.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same interface doubles as a teaching aid because concepts such as orbitals or ESP become immediately inspectable.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Open-source deployment also improves accessibility for labs without a large commercial software budget.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Roadmap for the next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current codebase already hints at both functional and runtime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783080"/>
            <a:ext cx="1371600" cy="5029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78308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Current: orbital, ESP, partial charges, optimization, integrated analysis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228600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1536700" y="258826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2651760"/>
            <a:ext cx="1371600" cy="50292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65176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Next analyses: TD-DFT, NMR prediction, vibrational workflows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00200" y="315468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1536700" y="345694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520440"/>
            <a:ext cx="1371600" cy="5029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352044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System scale: multi-user runtime and stronger worker separation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00200" y="4023360"/>
            <a:ext cx="0" cy="36576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1536700" y="4325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389120"/>
            <a:ext cx="1371600" cy="502920"/>
          </a:xfrm>
          <a:prstGeom prst="rect">
            <a:avLst/>
          </a:prstGeom>
          <a:solidFill>
            <a:srgbClr val="EA580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4389120"/>
            <a:ext cx="841248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Deployment scale: cloud or HPC-backed execution paths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Publication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Position the paper as workflow innovation plus validation, not as an unsupported benchmark claim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3232" y="1417320"/>
          <a:ext cx="6492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32461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Paper block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Primary content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Problem and gap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Why conventional quantum-chemistry access remains expert-gated and slow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System design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Conversational routing, structure resolution, compute execution, browser visualization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Representative scenarios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HOMO/LUMO, ESP, optimization, and follow-up continuation examples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Accuracy benchmark plan plus user-study framing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Impact discussion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Research productivity, accessibility, education, and open-science implications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543800" y="1600200"/>
            <a:ext cx="3657600" cy="274320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Paper structure diagram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Five-block figure summarizing the planned manuscript narrative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figure for the talk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paper_storyline.png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Diagram of the planned paper structure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43800" y="1600200"/>
            <a:ext cx="3657600" cy="2743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543800" y="1600200"/>
            <a:ext cx="3657600" cy="274320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79" y="4572000"/>
            <a:ext cx="379476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Candidate targets include chemistry-informatics or computational-chemistry venues in the ACS ecosystem.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benchmark and user-evaluation sections should mature in parallel rather than sequentially.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Take-home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Keep the close simple: interface shift, workflow automation, and research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Question-first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Interface shift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Chemists describe what they want instead of assembling input syntax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3000" b="1" i="0">
                <a:solidFill>
                  <a:srgbClr val="0A8A3E"/>
                </a:solidFill>
                <a:latin typeface="Calibri"/>
              </a:rPr>
              <a:t>Compute-backed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Not text-only AI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A real quantum-chemistry engine still performs the scientific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2004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3000" b="1" i="0">
                <a:solidFill>
                  <a:srgbClr val="EA580C"/>
                </a:solidFill>
                <a:latin typeface="Calibri"/>
              </a:rPr>
              <a:t>Lab-relevant</a:t>
            </a:r>
          </a:p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Practical impact</a:t>
            </a:r>
          </a:p>
          <a:p>
            <a:pPr algn="ctr"/>
            <a:r>
              <a:rPr sz="1100" b="0" i="0">
                <a:solidFill>
                  <a:srgbClr val="334155"/>
                </a:solidFill>
                <a:latin typeface="Calibri"/>
              </a:rPr>
              <a:t>The target is autonomy, faster iteration, and easier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100584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1900" b="1" i="1">
                <a:solidFill>
                  <a:srgbClr val="0055D4"/>
                </a:solidFill>
                <a:latin typeface="Calibri"/>
              </a:rPr>
              <a:t>The talk should end by moving the audience from 'Is this possible?' to 'How do we validate and deploy it responsibly?'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Where the lab can contribute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next progress step depends on representative use cases, validation choices, and user feedback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055D4"/>
                </a:solidFill>
                <a:latin typeface="Calibri"/>
              </a:rPr>
              <a:t>Experimental input
representative use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Computational input
benchmark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74519"/>
            <a:ext cx="30175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EA580C"/>
                </a:solidFill>
                <a:latin typeface="Calibri"/>
              </a:rPr>
              <a:t>Training input
teaching and onboarding needs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286000"/>
            <a:ext cx="6400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508500" y="222250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589520" y="2286000"/>
            <a:ext cx="6400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8166100" y="222250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83280"/>
            <a:ext cx="10058400" cy="1737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the group which molecules and questions would make the most convincing first internal pilot study.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computational chemists which benchmark criteria are non-negotiable for credibility.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Ask students what explanations or tutorial cues would make the system easier to learn from.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Frame the project as a shared lab asset rather than as an isolated software prototype.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Useful discussion topics are validation, use-case priority, and deployment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1737360"/>
            <a:ext cx="1014984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800" b="1" i="1">
                <a:solidFill>
                  <a:srgbClr val="0055D4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43200"/>
            <a:ext cx="9875520" cy="2194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Which internal use case would be the best first benchmark scenario?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Which quantitative comparison would matter most to this lab: energies, geometry, orbital interpretation, or usability?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What would make the system most useful for experimental planning rather than only for retrospective explanation?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Which new compute mode would add the largest marginal value in the next development phase?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0"/>
            <a:ext cx="162763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1000000">
            <a:off x="137160" y="4736592"/>
            <a:ext cx="6126480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7772400" y="36576"/>
            <a:ext cx="3749039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36092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55279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566928"/>
            <a:ext cx="0" cy="4645152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86600" y="141732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86600" y="224028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306324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86600" y="388620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86600" y="4709160"/>
            <a:ext cx="3154680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137160"/>
            <a:ext cx="4114800" cy="20116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200" b="1" i="1">
                <a:solidFill>
                  <a:srgbClr val="FFFFFF"/>
                </a:solidFill>
                <a:latin typeface="Calibri"/>
              </a:rPr>
              <a:t>Quantum Chemistry Automation Platform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097280"/>
            <a:ext cx="2240280" cy="12801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SECTION</a:t>
            </a:r>
          </a:p>
          <a:p>
            <a:pPr algn="ctr"/>
            <a:r>
              <a:rPr sz="3000" b="1" i="0">
                <a:solidFill>
                  <a:srgbClr val="0055D4"/>
                </a:solidFill>
                <a:latin typeface="Calibr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65960"/>
            <a:ext cx="6492240" cy="8046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926080"/>
            <a:ext cx="6766560" cy="4754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alibri"/>
              </a:rPr>
              <a:t>Backup slides for architecture, runtime, and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577840"/>
            <a:ext cx="10698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5650992"/>
            <a:ext cx="1645920" cy="16459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100" b="1" i="1">
                <a:solidFill>
                  <a:srgbClr val="334155"/>
                </a:solidFill>
                <a:latin typeface="Calibri"/>
              </a:rPr>
              <a:t>Section Focus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7168" y="5705856"/>
            <a:ext cx="1920240" cy="21945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8576" y="5705856"/>
            <a:ext cx="1920240" cy="21945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9984" y="5705856"/>
            <a:ext cx="1920240" cy="21945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architecture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Useful when the audience wants a slightly deeper but still non-code explanation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737360"/>
            <a:ext cx="1920240" cy="530352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73736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Chat UI, result panels, 3D viewer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606040"/>
            <a:ext cx="1920240" cy="530352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60604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Chat route, compute route, session continuity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474720"/>
            <a:ext cx="1920240" cy="530352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Computation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347472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Structure resolver, PySCF runner, result packaging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343400"/>
            <a:ext cx="1920240" cy="530352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Scale-out option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4343400"/>
            <a:ext cx="77724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Redis-backed job store and arq worker path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structure resolution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A realistic automation pipeline must solve structure preparation before it can solve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1920240"/>
            <a:ext cx="205740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User molecule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920240"/>
            <a:ext cx="2194560" cy="777240"/>
          </a:xfrm>
          <a:prstGeom prst="rect">
            <a:avLst/>
          </a:prstGeom>
          <a:solidFill>
            <a:srgbClr val="0891B2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Resolver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141732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MolChat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423160"/>
            <a:ext cx="201168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891B2"/>
                </a:solidFill>
                <a:latin typeface="Calibri"/>
              </a:rPr>
              <a:t>PubChem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920240"/>
            <a:ext cx="2377440" cy="77724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Prepared structure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2304288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3182620" y="224078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440680" y="1810512"/>
            <a:ext cx="365760" cy="274319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3187812">
            <a:off x="5742940" y="17470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440680" y="2523744"/>
            <a:ext cx="365760" cy="292608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7719588">
            <a:off x="5742940" y="275285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818120" y="2304288"/>
            <a:ext cx="45720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211820" y="224078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886200"/>
            <a:ext cx="10058400" cy="11887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This resolver layer is one of the most important hidden parts of the platform.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If structure inference fails, the downstream computation cannot be trusted no matter how elegant the interface is.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That makes structure preparation an important target for both validation and future improvement.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execution model and queueing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The current system already contains a path toward separation of web serving and compute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2960" y="182880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  <a:latin typeface="Calibri"/>
              </a:rPr>
              <a:t>Browser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828800"/>
            <a:ext cx="2377440" cy="77724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FastAPI web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32588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0A8A3E"/>
                </a:solidFill>
                <a:latin typeface="Calibri"/>
              </a:rPr>
              <a:t>In-memory job path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331720"/>
            <a:ext cx="210312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Redis job 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331720"/>
            <a:ext cx="2011680" cy="777240"/>
          </a:xfrm>
          <a:prstGeom prst="rect">
            <a:avLst/>
          </a:prstGeom>
          <a:solidFill>
            <a:srgbClr val="7C3AED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arq worker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325880"/>
            <a:ext cx="2011680" cy="77724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PySCF execution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2212848"/>
            <a:ext cx="36576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3228340" y="2149348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5669280" y="1719072"/>
            <a:ext cx="320040" cy="246888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3141143">
            <a:off x="5925820" y="165557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5669280" y="2459736"/>
            <a:ext cx="320040" cy="265176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7778650">
            <a:off x="5925820" y="26614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8092440" y="2724912"/>
            <a:ext cx="411480" cy="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8440420" y="2661412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9509760" y="2103120"/>
            <a:ext cx="0" cy="228600"/>
          </a:xfrm>
          <a:prstGeom prst="line">
            <a:avLst/>
          </a:prstGeom>
          <a:ln w="2032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>
            <a:off x="9446260" y="2039620"/>
            <a:ext cx="127000" cy="127000"/>
          </a:xfrm>
          <a:prstGeom prst="triangle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794760"/>
            <a:ext cx="1005840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simple mode is good for development and small demos.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 Redis and worker path matters when computation time or user concurrency grows.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Real-time WebSocket progress updates are part of the user-value proposition, not only a backend detail.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evaluation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A convincing paper must evaluate both scientific validity and usability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" y="1737360"/>
            <a:ext cx="4114800" cy="502920"/>
          </a:xfrm>
          <a:prstGeom prst="rect">
            <a:avLst/>
          </a:prstGeom>
          <a:solidFill>
            <a:srgbClr val="0055D4"/>
          </a:solidFill>
          <a:ln w="15875"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Scientific validity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737360"/>
            <a:ext cx="4114800" cy="502920"/>
          </a:xfrm>
          <a:prstGeom prst="rect">
            <a:avLst/>
          </a:prstGeom>
          <a:solidFill>
            <a:srgbClr val="0A8A3E"/>
          </a:solidFill>
          <a:ln w="15875">
            <a:solidFill>
              <a:srgbClr val="0A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Usability and workflow value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242316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Energy consistency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Relative energy ranking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Geometry fidelity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Bond lengths and angles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Orbital interpretation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Ordering and qualitative agreement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ESP trend quality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Region-level electrostatic agreement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0" y="2423160"/>
          <a:ext cx="4114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101600" marR="101600" marT="50800" marB="50800">
                    <a:solidFill>
                      <a:srgbClr val="0055D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Time to first result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From question to first usable view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Follow-up success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How often continuation works as expected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Interpretability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Can users explain what they see next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Workflow compression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How many tools and handoffs remain</a:t>
                      </a:r>
                    </a:p>
                  </a:txBody>
                  <a:tcPr marL="101600" marR="101600" marT="50800" marB="508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0624" y="164592"/>
            <a:ext cx="11338560" cy="9875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" y="164592"/>
            <a:ext cx="11338560" cy="508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713232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10896"/>
            <a:ext cx="841248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libri"/>
              </a:rPr>
              <a:t>Appendix: references and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786384"/>
            <a:ext cx="8412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Use this slide to acknowledge the open-source base and to list the figure assets still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372600" y="237744"/>
            <a:ext cx="2240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82328" y="310896"/>
            <a:ext cx="1417320" cy="219456"/>
          </a:xfrm>
          <a:prstGeom prst="rect">
            <a:avLst/>
          </a:prstGeom>
          <a:solidFill>
            <a:srgbClr val="0055D4"/>
          </a:solidFill>
          <a:ln>
            <a:solidFill>
              <a:srgbClr val="005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Research Briefing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482328" y="585216"/>
            <a:ext cx="1005840" cy="219456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832104"/>
            <a:ext cx="1645920" cy="10972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Conference-style V3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552" y="237744"/>
            <a:ext cx="201168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74552" y="603504"/>
            <a:ext cx="201168" cy="14630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48640" y="1078992"/>
            <a:ext cx="11048695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1417320"/>
            <a:ext cx="5532120" cy="4480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PySCF for open quantum-chemistry execution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FastAPI and WebSocket runtime for browser interaction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3Dmol.js for molecular visualization in the browser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MolChat and PubChem for structure look-up support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Integrated deep-scan report and project README as the basis for this deck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600" b="1" i="0">
                <a:solidFill>
                  <a:srgbClr val="0055D4"/>
                </a:solidFill>
                <a:latin typeface="Calibri"/>
              </a:rPr>
              <a:t>■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Still-needed visual assets: browser screenshots, orbital stills, ESP stills, and one composite title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554480"/>
            <a:ext cx="4572000" cy="3611880"/>
          </a:xfrm>
          <a:prstGeom prst="rect">
            <a:avLst/>
          </a:prstGeom>
          <a:solidFill>
            <a:srgbClr val="F1F5F9"/>
          </a:solidFill>
          <a:ln w="25400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200" b="1" i="0">
                <a:solidFill>
                  <a:srgbClr val="334155"/>
                </a:solidFill>
                <a:latin typeface="Calibri"/>
              </a:rPr>
              <a:t>[IMAGE PLACEHOLDER]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Type     : Asset board placeholder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Content  : Grid of the final screenshots and renders to replace placeholders in a polished conference version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Source   : Custom assembly for final design pass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Filename : asset_board.png</a:t>
            </a:r>
          </a:p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334155"/>
                </a:solidFill>
                <a:latin typeface="Calibri"/>
              </a:rPr>
              <a:t>Alt-text : Asset board showing the final images still needed for a polished conference deck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75120" y="155448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675120" y="1554480"/>
            <a:ext cx="4572000" cy="3611880"/>
          </a:xfrm>
          <a:prstGeom prst="line">
            <a:avLst/>
          </a:prstGeom>
          <a:ln w="1270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0" y="6832600"/>
            <a:ext cx="12191695" cy="25400"/>
          </a:xfrm>
          <a:prstGeom prst="rect">
            <a:avLst/>
          </a:prstGeom>
          <a:solidFill>
            <a:srgbClr val="005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5895" y="6556248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