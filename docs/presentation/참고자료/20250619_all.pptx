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72" r:id="rId4"/>
    <p:sldId id="267" r:id="rId5"/>
    <p:sldId id="268" r:id="rId6"/>
    <p:sldId id="269" r:id="rId7"/>
    <p:sldId id="270" r:id="rId8"/>
    <p:sldId id="273" r:id="rId9"/>
    <p:sldId id="274" r:id="rId10"/>
    <p:sldId id="27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CD8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8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918" y="114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60DBAB-F9C6-3FBC-6FFC-3175D9FA8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57EA96C-F2D7-6426-71B2-92A97CB251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2DD55B-92C3-4472-5F27-43A7621AE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3F95F-79F7-4111-958B-B2C0A2C94AEE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B5668E-4B52-32FA-36C9-AC0AB45A3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A8592A-190C-1326-252B-CFDA2ECBC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FB466-570F-44A3-857F-24D8B19A9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060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6DB4BC-1590-02F9-07DE-4CBF947B8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DED915-EA83-287B-E786-03AF0ED51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2F89F1-F50B-7BB5-073E-315CE40E3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3F95F-79F7-4111-958B-B2C0A2C94AEE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6538B2-7F17-D06D-1E10-AD1ED081A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49EDFC-5B2D-86EC-203C-9835D5C45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FB466-570F-44A3-857F-24D8B19A9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074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AEA054-702D-57A8-CBB8-162A92939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3D95AA-7D04-4044-4BB4-986BD55B2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E817D0-B654-9A60-A489-9680048C6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3F95F-79F7-4111-958B-B2C0A2C94AEE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224AF0-C5FA-72E5-BED9-9C2134CF1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39B1F3-77B7-99F7-5A68-3F5C849CA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FB466-570F-44A3-857F-24D8B19A9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07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503FDE-3F8D-034F-B1A9-64AFC5405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12D963-0D5F-8FEB-141B-2073F8AAD0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121B42-248A-458A-5585-5E6F1A523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9095B4-37DD-96F3-46C5-512B27948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3F95F-79F7-4111-958B-B2C0A2C94AEE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C81B62-87CA-37FD-D02F-579D3BAFD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4AEE1C-2663-C1C2-061E-10B5A920B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FB466-570F-44A3-857F-24D8B19A9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586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449C59-085C-BB25-F2AA-6E6A7725B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160102-D256-B766-F3E7-1C4E76362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25A296-5D74-DEAA-FD65-9F2665A63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35CFA8A-28BC-AB24-22C5-518DF5A52D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2C21146-E69E-FD66-801E-9590A1CD79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529F740-4CC9-DFF8-5DB9-27BF5EA35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3F95F-79F7-4111-958B-B2C0A2C94AEE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2C1A711-A6E2-60D4-71F6-BEF3F86E0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8CDF3A9-2CB4-BAC7-B99A-FA77BDB2A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FB466-570F-44A3-857F-24D8B19A9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37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F959EF-0238-B67D-C41E-1E091E698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D43FF21-9AAF-B109-1A7E-B907D2E66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3F95F-79F7-4111-958B-B2C0A2C94AEE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1278866-0B3A-6D69-A07E-92384F33E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619A17-D912-B210-A826-2C5D5A868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FB466-570F-44A3-857F-24D8B19A9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4427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99FB96-D1FA-EA8C-5498-5CC322F84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3F95F-79F7-4111-958B-B2C0A2C94AEE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259BE0-CAEA-4C45-CEB9-05574BD84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B7E095-4E5E-5D24-00DD-1530C782A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FB466-570F-44A3-857F-24D8B19A9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98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561090-62D0-FA90-A9B5-382AAA8EC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2EB392-2B10-F4B9-EEB3-A0E0299CE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42F02F-7690-1496-001F-FFC388FCF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6E31A2-59F7-A8C5-7E9D-8254C0920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3F95F-79F7-4111-958B-B2C0A2C94AEE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C244DF-622A-FE47-E24D-D9E051D68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870F40-3161-7563-AD64-A5A6E14B3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FB466-570F-44A3-857F-24D8B19A9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400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690D11-2753-7C13-1683-31BFC050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C9BD21D-3673-28B6-4BB0-72B0FC61CA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B2BA97-A707-F5D7-96FE-F7ECE9BF4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F5A884-65EE-FF4F-2DF1-3102EA436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3F95F-79F7-4111-958B-B2C0A2C94AEE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C5A2E5-4EAC-6728-7A2A-5AA119B85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01B3F4-D314-7AA7-C022-537194586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FB466-570F-44A3-857F-24D8B19A9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504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A69478-E270-DC48-B8DB-A6068F4EE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52EE035-81E4-C37B-9308-3780000BF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289C3B-0F29-986E-9FEE-990F63E98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3F95F-79F7-4111-958B-B2C0A2C94AEE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260F2B-ED40-9DCF-4C6A-9C016F8F0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BAE86-FB28-3759-A044-10B88349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FB466-570F-44A3-857F-24D8B19A9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8256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F9079C-8722-1A84-D6AC-BB77BC8F75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6D56C50-61E1-5B3C-F7F4-CD6F2ABAF0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CD30AD-D808-AD28-E698-152783B3E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3F95F-79F7-4111-958B-B2C0A2C94AEE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9E6CC7-A6D7-2E22-7152-9A64DE350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312475-1CE0-0CA7-0680-E27DA3F88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FB466-570F-44A3-857F-24D8B19A9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893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E056E79-F82C-62EE-BD96-E0383AF43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524BD5-3295-F50D-44EF-0EB9C2099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60D0BF-0914-4F4E-60CB-A6AD417DFD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23F95F-79F7-4111-958B-B2C0A2C94AEE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43E152-8DE2-420F-F084-33A03506F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1CFDDA-EE6B-B8D8-399F-2F7510629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7FB466-570F-44A3-857F-24D8B19A99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132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6.png"/><Relationship Id="rId1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4.png"/><Relationship Id="rId17" Type="http://schemas.openxmlformats.org/officeDocument/2006/relationships/image" Target="../media/image20.png"/><Relationship Id="rId2" Type="http://schemas.openxmlformats.org/officeDocument/2006/relationships/image" Target="../media/image3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3.png"/><Relationship Id="rId5" Type="http://schemas.openxmlformats.org/officeDocument/2006/relationships/image" Target="../media/image6.png"/><Relationship Id="rId15" Type="http://schemas.openxmlformats.org/officeDocument/2006/relationships/image" Target="../media/image18.png"/><Relationship Id="rId10" Type="http://schemas.openxmlformats.org/officeDocument/2006/relationships/image" Target="../media/image12.png"/><Relationship Id="rId19" Type="http://schemas.openxmlformats.org/officeDocument/2006/relationships/image" Target="../media/image15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3113565-2495-6AEE-D9D2-B8D3686EB8A8}"/>
              </a:ext>
            </a:extLst>
          </p:cNvPr>
          <p:cNvSpPr txBox="1"/>
          <p:nvPr/>
        </p:nvSpPr>
        <p:spPr>
          <a:xfrm>
            <a:off x="1568687" y="1720820"/>
            <a:ext cx="9234582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i="1" u="sng" dirty="0">
                <a:solidFill>
                  <a:srgbClr val="00206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Zwitterion DFT</a:t>
            </a:r>
            <a:r>
              <a:rPr lang="ko-KR" altLang="en-US" sz="4400" b="1" i="1" u="sng" dirty="0">
                <a:solidFill>
                  <a:srgbClr val="00206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en-US" altLang="ko-KR" sz="4400" b="1" i="1" u="sng" dirty="0">
                <a:solidFill>
                  <a:srgbClr val="00206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results</a:t>
            </a:r>
            <a:endParaRPr lang="en-US" altLang="ko-KR" sz="5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endParaRPr lang="en-US" altLang="ko-KR" sz="14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endParaRPr lang="en-US" altLang="ko-KR" sz="14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endParaRPr lang="en-US" altLang="ko-KR" sz="14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endParaRPr lang="en-US" altLang="ko-KR" sz="14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endParaRPr lang="en-US" altLang="ko-KR" sz="14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endParaRPr lang="en-US" altLang="ko-KR" sz="14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endParaRPr lang="en-US" altLang="ko-KR" sz="14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r"/>
            <a:endParaRPr lang="en-US" altLang="ko-KR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r"/>
            <a:r>
              <a:rPr lang="en-US" altLang="ko-KR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2025 / 06 /19</a:t>
            </a:r>
          </a:p>
          <a:p>
            <a:pPr algn="r"/>
            <a:r>
              <a: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경희대학교 안용상</a:t>
            </a:r>
            <a:endParaRPr lang="en-US" altLang="ko-KR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endParaRPr lang="ko-KR" altLang="en-US" b="1" i="1" u="sng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3304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436F5-CF0C-EF76-D437-C323E568A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17340A74-5759-0C6A-5BDF-A2DF72D58393}"/>
              </a:ext>
            </a:extLst>
          </p:cNvPr>
          <p:cNvSpPr txBox="1"/>
          <p:nvPr/>
        </p:nvSpPr>
        <p:spPr>
          <a:xfrm>
            <a:off x="599056" y="110050"/>
            <a:ext cx="8751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1" u="sng" dirty="0">
                <a:solidFill>
                  <a:srgbClr val="002060"/>
                </a:solidFill>
              </a:rPr>
              <a:t>Remind </a:t>
            </a:r>
            <a:r>
              <a:rPr lang="ko-KR" altLang="en-US" b="1" i="1" u="sng" dirty="0">
                <a:solidFill>
                  <a:srgbClr val="002060"/>
                </a:solidFill>
              </a:rPr>
              <a:t>드리는 내용</a:t>
            </a:r>
          </a:p>
        </p:txBody>
      </p: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F18A51CE-2E00-08FA-B6D9-3A5C815388DA}"/>
              </a:ext>
            </a:extLst>
          </p:cNvPr>
          <p:cNvGrpSpPr/>
          <p:nvPr/>
        </p:nvGrpSpPr>
        <p:grpSpPr>
          <a:xfrm>
            <a:off x="-120229" y="1256843"/>
            <a:ext cx="4235981" cy="4640389"/>
            <a:chOff x="233435" y="941884"/>
            <a:chExt cx="4235981" cy="4640389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D56BC075-F3A0-1595-4114-CFE3D3F0AEB7}"/>
                </a:ext>
              </a:extLst>
            </p:cNvPr>
            <p:cNvSpPr/>
            <p:nvPr/>
          </p:nvSpPr>
          <p:spPr>
            <a:xfrm>
              <a:off x="509706" y="1063844"/>
              <a:ext cx="3583448" cy="145085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56716"/>
              <a:endParaRPr lang="ko-KR" altLang="en-US" sz="600" dirty="0">
                <a:solidFill>
                  <a:prstClr val="white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421899E4-B2A4-DF15-E50F-F6C38DBA93C5}"/>
                </a:ext>
              </a:extLst>
            </p:cNvPr>
            <p:cNvGrpSpPr/>
            <p:nvPr/>
          </p:nvGrpSpPr>
          <p:grpSpPr>
            <a:xfrm>
              <a:off x="509706" y="941884"/>
              <a:ext cx="3583448" cy="225508"/>
              <a:chOff x="93067" y="4454074"/>
              <a:chExt cx="3058784" cy="192491"/>
            </a:xfrm>
          </p:grpSpPr>
          <p:cxnSp>
            <p:nvCxnSpPr>
              <p:cNvPr id="113" name="직선 연결선 112">
                <a:extLst>
                  <a:ext uri="{FF2B5EF4-FFF2-40B4-BE49-F238E27FC236}">
                    <a16:creationId xmlns:a16="http://schemas.microsoft.com/office/drawing/2014/main" id="{316D1571-B01D-7E1A-345B-5516490D78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067" y="4528059"/>
                <a:ext cx="3058784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" name="AutoShape 55">
                <a:extLst>
                  <a:ext uri="{FF2B5EF4-FFF2-40B4-BE49-F238E27FC236}">
                    <a16:creationId xmlns:a16="http://schemas.microsoft.com/office/drawing/2014/main" id="{C1DD14F7-72E3-BB47-F79C-D27328782C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447" y="4454074"/>
                <a:ext cx="2701937" cy="192491"/>
              </a:xfrm>
              <a:prstGeom prst="roundRect">
                <a:avLst>
                  <a:gd name="adj" fmla="val 50000"/>
                </a:avLst>
              </a:prstGeom>
              <a:solidFill>
                <a:srgbClr val="002060"/>
              </a:solidFill>
              <a:ln w="317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ko-KR" altLang="en-US" sz="900" b="1" dirty="0">
                    <a:solidFill>
                      <a:srgbClr val="F8F200"/>
                    </a:solidFill>
                    <a:latin typeface="나눔스퀘어OTF" panose="020B0600000101010101" pitchFamily="34" charset="-127"/>
                    <a:ea typeface="나눔스퀘어OTF" panose="020B0600000101010101" pitchFamily="34" charset="-127"/>
                  </a:rPr>
                  <a:t>가설 설정</a:t>
                </a: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39AF11D-0E0E-0C95-2F28-94A0EDAF3877}"/>
                </a:ext>
              </a:extLst>
            </p:cNvPr>
            <p:cNvSpPr txBox="1"/>
            <p:nvPr/>
          </p:nvSpPr>
          <p:spPr>
            <a:xfrm>
              <a:off x="233435" y="1174376"/>
              <a:ext cx="4155642" cy="3605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아미노산의 사슬 길이가 선형적으로 길어질수록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, </a:t>
              </a:r>
            </a:p>
            <a:p>
              <a:pPr algn="ctr"/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양쪽 말단의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NH₃+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와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COO-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간의 내부 정전기적 결합 효과는 감소할 것이다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.</a:t>
              </a:r>
              <a:endParaRPr lang="ko-KR" altLang="en-US" sz="7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EA0F4D-78E5-0106-7BC8-0298BCDAC53D}"/>
                </a:ext>
              </a:extLst>
            </p:cNvPr>
            <p:cNvSpPr txBox="1"/>
            <p:nvPr/>
          </p:nvSpPr>
          <p:spPr>
            <a:xfrm>
              <a:off x="313774" y="1647531"/>
              <a:ext cx="4155642" cy="3605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이러한 상호작용의 감소가 각 말단 그룹의 독립적인 반응성을 증가시켜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, </a:t>
              </a:r>
            </a:p>
            <a:p>
              <a:pPr algn="ctr"/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외부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H+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또는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OH-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와의 반응 접근성을 향상시킨다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.</a:t>
              </a:r>
              <a:endParaRPr lang="ko-KR" altLang="en-US" sz="7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523CCAE-6A79-B5B3-7520-EFA2608BE214}"/>
                </a:ext>
              </a:extLst>
            </p:cNvPr>
            <p:cNvSpPr txBox="1"/>
            <p:nvPr/>
          </p:nvSpPr>
          <p:spPr>
            <a:xfrm>
              <a:off x="939288" y="2140860"/>
              <a:ext cx="2838361" cy="3605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따라서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pH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완충 반응의 반응속도가 증가하고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, </a:t>
              </a:r>
            </a:p>
            <a:p>
              <a:pPr algn="ctr"/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더 빠른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pH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안정화 효과를 기대할 수 있을 것이다</a:t>
              </a:r>
            </a:p>
          </p:txBody>
        </p:sp>
        <p:sp>
          <p:nvSpPr>
            <p:cNvPr id="33" name="이등변 삼각형 32">
              <a:extLst>
                <a:ext uri="{FF2B5EF4-FFF2-40B4-BE49-F238E27FC236}">
                  <a16:creationId xmlns:a16="http://schemas.microsoft.com/office/drawing/2014/main" id="{C31DB973-34EB-B53B-952F-EBE4202A6BAA}"/>
                </a:ext>
              </a:extLst>
            </p:cNvPr>
            <p:cNvSpPr/>
            <p:nvPr/>
          </p:nvSpPr>
          <p:spPr>
            <a:xfrm rot="10800000">
              <a:off x="1886289" y="1545609"/>
              <a:ext cx="733964" cy="101922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sp>
          <p:nvSpPr>
            <p:cNvPr id="34" name="이등변 삼각형 33">
              <a:extLst>
                <a:ext uri="{FF2B5EF4-FFF2-40B4-BE49-F238E27FC236}">
                  <a16:creationId xmlns:a16="http://schemas.microsoft.com/office/drawing/2014/main" id="{96D94E38-6BB7-D7A1-0C73-40BB6790916C}"/>
                </a:ext>
              </a:extLst>
            </p:cNvPr>
            <p:cNvSpPr/>
            <p:nvPr/>
          </p:nvSpPr>
          <p:spPr>
            <a:xfrm rot="10800000">
              <a:off x="1886289" y="2001219"/>
              <a:ext cx="733964" cy="101922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EE1E963E-85C4-C859-4E9C-F76B71302686}"/>
                </a:ext>
              </a:extLst>
            </p:cNvPr>
            <p:cNvGrpSpPr/>
            <p:nvPr/>
          </p:nvGrpSpPr>
          <p:grpSpPr>
            <a:xfrm>
              <a:off x="425672" y="2698904"/>
              <a:ext cx="3675955" cy="2883369"/>
              <a:chOff x="21337" y="5953843"/>
              <a:chExt cx="3137747" cy="2461206"/>
            </a:xfrm>
          </p:grpSpPr>
          <p:grpSp>
            <p:nvGrpSpPr>
              <p:cNvPr id="93" name="그룹 92">
                <a:extLst>
                  <a:ext uri="{FF2B5EF4-FFF2-40B4-BE49-F238E27FC236}">
                    <a16:creationId xmlns:a16="http://schemas.microsoft.com/office/drawing/2014/main" id="{18529F02-0FF2-EE98-D23B-F8A248A48094}"/>
                  </a:ext>
                </a:extLst>
              </p:cNvPr>
              <p:cNvGrpSpPr/>
              <p:nvPr/>
            </p:nvGrpSpPr>
            <p:grpSpPr>
              <a:xfrm>
                <a:off x="21337" y="5953843"/>
                <a:ext cx="3130515" cy="2461206"/>
                <a:chOff x="-633564" y="2609783"/>
                <a:chExt cx="9573598" cy="4091274"/>
              </a:xfrm>
            </p:grpSpPr>
            <p:grpSp>
              <p:nvGrpSpPr>
                <p:cNvPr id="109" name="그룹 108">
                  <a:extLst>
                    <a:ext uri="{FF2B5EF4-FFF2-40B4-BE49-F238E27FC236}">
                      <a16:creationId xmlns:a16="http://schemas.microsoft.com/office/drawing/2014/main" id="{67E8C0E5-FB1C-7F29-4FF2-E25B9A825D4E}"/>
                    </a:ext>
                  </a:extLst>
                </p:cNvPr>
                <p:cNvGrpSpPr/>
                <p:nvPr/>
              </p:nvGrpSpPr>
              <p:grpSpPr>
                <a:xfrm>
                  <a:off x="-633564" y="2724374"/>
                  <a:ext cx="9573598" cy="3976683"/>
                  <a:chOff x="-1" y="1290299"/>
                  <a:chExt cx="21813608" cy="1170458"/>
                </a:xfrm>
              </p:grpSpPr>
              <p:sp>
                <p:nvSpPr>
                  <p:cNvPr id="111" name="직사각형 110">
                    <a:extLst>
                      <a:ext uri="{FF2B5EF4-FFF2-40B4-BE49-F238E27FC236}">
                        <a16:creationId xmlns:a16="http://schemas.microsoft.com/office/drawing/2014/main" id="{EEF627B3-9700-F66D-D8AC-B2FD7ED5715D}"/>
                      </a:ext>
                    </a:extLst>
                  </p:cNvPr>
                  <p:cNvSpPr/>
                  <p:nvPr/>
                </p:nvSpPr>
                <p:spPr>
                  <a:xfrm>
                    <a:off x="-1" y="1304029"/>
                    <a:ext cx="21813608" cy="1156728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156716"/>
                    <a:endParaRPr lang="ko-KR" altLang="en-US" sz="600" dirty="0">
                      <a:solidFill>
                        <a:prstClr val="white"/>
                      </a:solidFill>
                      <a:latin typeface="나눔스퀘어OTF" panose="020B0600000101010101" pitchFamily="34" charset="-127"/>
                      <a:ea typeface="나눔스퀘어OTF" panose="020B0600000101010101" pitchFamily="34" charset="-127"/>
                    </a:endParaRPr>
                  </a:p>
                </p:txBody>
              </p:sp>
              <p:cxnSp>
                <p:nvCxnSpPr>
                  <p:cNvPr id="112" name="직선 연결선 111">
                    <a:extLst>
                      <a:ext uri="{FF2B5EF4-FFF2-40B4-BE49-F238E27FC236}">
                        <a16:creationId xmlns:a16="http://schemas.microsoft.com/office/drawing/2014/main" id="{96419BC0-FDDE-9795-DB1A-FAE3D2C188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-1" y="1290299"/>
                    <a:ext cx="21813608" cy="0"/>
                  </a:xfrm>
                  <a:prstGeom prst="line">
                    <a:avLst/>
                  </a:prstGeom>
                  <a:ln w="19050">
                    <a:solidFill>
                      <a:srgbClr val="C0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10" name="AutoShape 55">
                  <a:extLst>
                    <a:ext uri="{FF2B5EF4-FFF2-40B4-BE49-F238E27FC236}">
                      <a16:creationId xmlns:a16="http://schemas.microsoft.com/office/drawing/2014/main" id="{241E84F2-943E-4460-CC71-FA949C00F4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299825" y="2609783"/>
                  <a:ext cx="8686406" cy="35375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C00000"/>
                </a:solidFill>
                <a:ln w="317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ko-KR" altLang="en-US" sz="1000" b="1" dirty="0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latin typeface="나눔스퀘어OTF" panose="020B0600000101010101" pitchFamily="34" charset="-127"/>
                      <a:ea typeface="나눔스퀘어OTF" panose="020B0600000101010101" pitchFamily="34" charset="-127"/>
                    </a:rPr>
                    <a:t>검증 실험 설계</a:t>
                  </a:r>
                </a:p>
              </p:txBody>
            </p:sp>
          </p:grpSp>
          <p:pic>
            <p:nvPicPr>
              <p:cNvPr id="94" name="그림 93" descr="스크린샷이(가) 표시된 사진&#10;&#10;AI가 생성한 콘텐츠는 부정확할 수 있습니다.">
                <a:extLst>
                  <a:ext uri="{FF2B5EF4-FFF2-40B4-BE49-F238E27FC236}">
                    <a16:creationId xmlns:a16="http://schemas.microsoft.com/office/drawing/2014/main" id="{F6C49980-3621-1CF3-25A5-B5F8A48545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472" t="29236" r="36770" b="32111"/>
              <a:stretch/>
            </p:blipFill>
            <p:spPr>
              <a:xfrm>
                <a:off x="155449" y="6321754"/>
                <a:ext cx="1027173" cy="813619"/>
              </a:xfrm>
              <a:prstGeom prst="rect">
                <a:avLst/>
              </a:prstGeom>
            </p:spPr>
          </p:pic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60C84EC5-2F20-FDE1-5A0E-D841EC3ED313}"/>
                  </a:ext>
                </a:extLst>
              </p:cNvPr>
              <p:cNvSpPr/>
              <p:nvPr/>
            </p:nvSpPr>
            <p:spPr>
              <a:xfrm rot="19866590">
                <a:off x="215997" y="6537344"/>
                <a:ext cx="249277" cy="411380"/>
              </a:xfrm>
              <a:prstGeom prst="ellipse">
                <a:avLst/>
              </a:prstGeom>
              <a:solidFill>
                <a:srgbClr val="0070C0">
                  <a:alpha val="5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atin typeface="나눔스퀘어OTF" panose="020B0600000101010101" pitchFamily="34" charset="-127"/>
                  <a:ea typeface="나눔스퀘어OTF" panose="020B0600000101010101" pitchFamily="34" charset="-127"/>
                  <a:cs typeface="Times" panose="02020603050405020304" pitchFamily="18" charset="0"/>
                </a:endParaRPr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DABF5D41-0633-8171-E6BC-1652E0FE61D0}"/>
                  </a:ext>
                </a:extLst>
              </p:cNvPr>
              <p:cNvSpPr/>
              <p:nvPr/>
            </p:nvSpPr>
            <p:spPr>
              <a:xfrm rot="19866590">
                <a:off x="912656" y="6352916"/>
                <a:ext cx="249277" cy="501128"/>
              </a:xfrm>
              <a:prstGeom prst="ellipse">
                <a:avLst/>
              </a:prstGeom>
              <a:solidFill>
                <a:srgbClr val="FF0000">
                  <a:alpha val="2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나눔스퀘어OTF" panose="020B0600000101010101" pitchFamily="34" charset="-127"/>
                  <a:ea typeface="나눔스퀘어OTF" panose="020B0600000101010101" pitchFamily="34" charset="-127"/>
                  <a:cs typeface="Times" panose="02020603050405020304" pitchFamily="18" charset="0"/>
                </a:endParaRP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85F9C8E0-4425-6FA8-D6A7-0662CC323815}"/>
                  </a:ext>
                </a:extLst>
              </p:cNvPr>
              <p:cNvSpPr txBox="1"/>
              <p:nvPr/>
            </p:nvSpPr>
            <p:spPr>
              <a:xfrm>
                <a:off x="65544" y="6298986"/>
                <a:ext cx="436338" cy="307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>
                    <a:solidFill>
                      <a:srgbClr val="002060"/>
                    </a:solidFill>
                    <a:latin typeface="나눔스퀘어OTF" panose="020B0600000101010101" pitchFamily="34" charset="-127"/>
                    <a:ea typeface="나눔스퀘어OTF" panose="020B0600000101010101" pitchFamily="34" charset="-127"/>
                    <a:cs typeface="Times" panose="02020603050405020304" pitchFamily="18" charset="0"/>
                  </a:rPr>
                  <a:t>+</a:t>
                </a:r>
              </a:p>
              <a:p>
                <a:pPr algn="ctr"/>
                <a:r>
                  <a:rPr lang="en-US" altLang="ko-KR" sz="600" dirty="0">
                    <a:solidFill>
                      <a:srgbClr val="002060"/>
                    </a:solidFill>
                    <a:latin typeface="나눔스퀘어OTF" panose="020B0600000101010101" pitchFamily="34" charset="-127"/>
                    <a:ea typeface="나눔스퀘어OTF" panose="020B0600000101010101" pitchFamily="34" charset="-127"/>
                    <a:cs typeface="Times" panose="02020603050405020304" pitchFamily="18" charset="0"/>
                  </a:rPr>
                  <a:t>Charge</a:t>
                </a:r>
                <a:endParaRPr lang="ko-KR" altLang="en-US" sz="800" dirty="0">
                  <a:solidFill>
                    <a:srgbClr val="002060"/>
                  </a:solidFill>
                  <a:latin typeface="나눔스퀘어OTF" panose="020B0600000101010101" pitchFamily="34" charset="-127"/>
                  <a:ea typeface="나눔스퀘어OTF" panose="020B0600000101010101" pitchFamily="34" charset="-127"/>
                  <a:cs typeface="Times" panose="02020603050405020304" pitchFamily="18" charset="0"/>
                </a:endParaRP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C418E728-F5D2-1389-0F51-AD515806DE3A}"/>
                  </a:ext>
                </a:extLst>
              </p:cNvPr>
              <p:cNvSpPr txBox="1"/>
              <p:nvPr/>
            </p:nvSpPr>
            <p:spPr>
              <a:xfrm>
                <a:off x="903241" y="6774732"/>
                <a:ext cx="436338" cy="307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>
                    <a:solidFill>
                      <a:srgbClr val="C00000"/>
                    </a:solidFill>
                    <a:latin typeface="나눔스퀘어OTF" panose="020B0600000101010101" pitchFamily="34" charset="-127"/>
                    <a:ea typeface="나눔스퀘어OTF" panose="020B0600000101010101" pitchFamily="34" charset="-127"/>
                    <a:cs typeface="Times" panose="02020603050405020304" pitchFamily="18" charset="0"/>
                  </a:rPr>
                  <a:t>-</a:t>
                </a:r>
              </a:p>
              <a:p>
                <a:pPr algn="ctr"/>
                <a:r>
                  <a:rPr lang="en-US" altLang="ko-KR" sz="600" dirty="0">
                    <a:solidFill>
                      <a:srgbClr val="C00000"/>
                    </a:solidFill>
                    <a:latin typeface="나눔스퀘어OTF" panose="020B0600000101010101" pitchFamily="34" charset="-127"/>
                    <a:ea typeface="나눔스퀘어OTF" panose="020B0600000101010101" pitchFamily="34" charset="-127"/>
                    <a:cs typeface="Times" panose="02020603050405020304" pitchFamily="18" charset="0"/>
                  </a:rPr>
                  <a:t>Charge</a:t>
                </a:r>
                <a:endParaRPr lang="ko-KR" altLang="en-US" sz="800" dirty="0">
                  <a:solidFill>
                    <a:srgbClr val="C00000"/>
                  </a:solidFill>
                  <a:latin typeface="나눔스퀘어OTF" panose="020B0600000101010101" pitchFamily="34" charset="-127"/>
                  <a:ea typeface="나눔스퀘어OTF" panose="020B0600000101010101" pitchFamily="34" charset="-127"/>
                  <a:cs typeface="Times" panose="02020603050405020304" pitchFamily="18" charset="0"/>
                </a:endParaRP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7882ED74-287A-7CE0-DB9F-7CE666A3782C}"/>
                  </a:ext>
                </a:extLst>
              </p:cNvPr>
              <p:cNvSpPr txBox="1"/>
              <p:nvPr/>
            </p:nvSpPr>
            <p:spPr>
              <a:xfrm>
                <a:off x="315460" y="7090958"/>
                <a:ext cx="1014532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b="1" dirty="0">
                    <a:latin typeface="나눔스퀘어OTF" panose="020B0600000101010101" pitchFamily="34" charset="-127"/>
                    <a:ea typeface="나눔스퀘어OTF" panose="020B0600000101010101" pitchFamily="34" charset="-127"/>
                    <a:cs typeface="Times" panose="02020603050405020304" pitchFamily="18" charset="0"/>
                  </a:rPr>
                  <a:t>Alanine</a:t>
                </a:r>
                <a:endParaRPr lang="ko-KR" altLang="en-US" sz="600" b="1" dirty="0">
                  <a:latin typeface="나눔스퀘어OTF" panose="020B0600000101010101" pitchFamily="34" charset="-127"/>
                  <a:ea typeface="나눔스퀘어OTF" panose="020B0600000101010101" pitchFamily="34" charset="-127"/>
                  <a:cs typeface="Times" panose="02020603050405020304" pitchFamily="18" charset="0"/>
                </a:endParaRPr>
              </a:p>
            </p:txBody>
          </p:sp>
          <p:pic>
            <p:nvPicPr>
              <p:cNvPr id="100" name="그림 99" descr="스크린샷, 예술, 드론이(가) 표시된 사진&#10;&#10;AI가 생성한 콘텐츠는 부정확할 수 있습니다.">
                <a:extLst>
                  <a:ext uri="{FF2B5EF4-FFF2-40B4-BE49-F238E27FC236}">
                    <a16:creationId xmlns:a16="http://schemas.microsoft.com/office/drawing/2014/main" id="{D7D5A26D-B6A7-8761-1438-957F44045B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775" t="18890" r="22540" b="32111"/>
              <a:stretch/>
            </p:blipFill>
            <p:spPr>
              <a:xfrm>
                <a:off x="1668199" y="6287128"/>
                <a:ext cx="1436919" cy="795274"/>
              </a:xfrm>
              <a:prstGeom prst="rect">
                <a:avLst/>
              </a:prstGeom>
            </p:spPr>
          </p:pic>
          <p:sp>
            <p:nvSpPr>
              <p:cNvPr id="101" name="타원 100">
                <a:extLst>
                  <a:ext uri="{FF2B5EF4-FFF2-40B4-BE49-F238E27FC236}">
                    <a16:creationId xmlns:a16="http://schemas.microsoft.com/office/drawing/2014/main" id="{82904E29-96E1-825C-3DCE-3EC02513A51A}"/>
                  </a:ext>
                </a:extLst>
              </p:cNvPr>
              <p:cNvSpPr/>
              <p:nvPr/>
            </p:nvSpPr>
            <p:spPr>
              <a:xfrm rot="19866590">
                <a:off x="1805180" y="6565447"/>
                <a:ext cx="249277" cy="411380"/>
              </a:xfrm>
              <a:prstGeom prst="ellipse">
                <a:avLst/>
              </a:prstGeom>
              <a:solidFill>
                <a:srgbClr val="0070C0">
                  <a:alpha val="5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나눔스퀘어OTF" panose="020B0600000101010101" pitchFamily="34" charset="-127"/>
                  <a:ea typeface="나눔스퀘어OTF" panose="020B0600000101010101" pitchFamily="34" charset="-127"/>
                  <a:cs typeface="Times" panose="02020603050405020304" pitchFamily="18" charset="0"/>
                </a:endParaRPr>
              </a:p>
            </p:txBody>
          </p: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88AE9CCD-4C88-A7C0-0940-62AE16FF9C1E}"/>
                  </a:ext>
                </a:extLst>
              </p:cNvPr>
              <p:cNvSpPr/>
              <p:nvPr/>
            </p:nvSpPr>
            <p:spPr>
              <a:xfrm rot="1506278">
                <a:off x="2684959" y="6481364"/>
                <a:ext cx="249277" cy="501128"/>
              </a:xfrm>
              <a:prstGeom prst="ellipse">
                <a:avLst/>
              </a:prstGeom>
              <a:solidFill>
                <a:srgbClr val="FF0000">
                  <a:alpha val="2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나눔스퀘어OTF" panose="020B0600000101010101" pitchFamily="34" charset="-127"/>
                  <a:ea typeface="나눔스퀘어OTF" panose="020B0600000101010101" pitchFamily="34" charset="-127"/>
                  <a:cs typeface="Times" panose="02020603050405020304" pitchFamily="18" charset="0"/>
                </a:endParaRP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C0FF4FF9-B85A-CFDB-24EE-3229A633E319}"/>
                  </a:ext>
                </a:extLst>
              </p:cNvPr>
              <p:cNvSpPr txBox="1"/>
              <p:nvPr/>
            </p:nvSpPr>
            <p:spPr>
              <a:xfrm>
                <a:off x="1683352" y="6307484"/>
                <a:ext cx="436338" cy="307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>
                    <a:solidFill>
                      <a:srgbClr val="002060"/>
                    </a:solidFill>
                    <a:latin typeface="나눔스퀘어OTF" panose="020B0600000101010101" pitchFamily="34" charset="-127"/>
                    <a:ea typeface="나눔스퀘어OTF" panose="020B0600000101010101" pitchFamily="34" charset="-127"/>
                    <a:cs typeface="Times" panose="02020603050405020304" pitchFamily="18" charset="0"/>
                  </a:rPr>
                  <a:t>+</a:t>
                </a:r>
              </a:p>
              <a:p>
                <a:pPr algn="ctr"/>
                <a:r>
                  <a:rPr lang="en-US" altLang="ko-KR" sz="600" dirty="0">
                    <a:solidFill>
                      <a:srgbClr val="002060"/>
                    </a:solidFill>
                    <a:latin typeface="나눔스퀘어OTF" panose="020B0600000101010101" pitchFamily="34" charset="-127"/>
                    <a:ea typeface="나눔스퀘어OTF" panose="020B0600000101010101" pitchFamily="34" charset="-127"/>
                    <a:cs typeface="Times" panose="02020603050405020304" pitchFamily="18" charset="0"/>
                  </a:rPr>
                  <a:t>Charge</a:t>
                </a:r>
                <a:endParaRPr lang="ko-KR" altLang="en-US" sz="800" dirty="0">
                  <a:solidFill>
                    <a:srgbClr val="002060"/>
                  </a:solidFill>
                  <a:latin typeface="나눔스퀘어OTF" panose="020B0600000101010101" pitchFamily="34" charset="-127"/>
                  <a:ea typeface="나눔스퀘어OTF" panose="020B0600000101010101" pitchFamily="34" charset="-127"/>
                  <a:cs typeface="Times" panose="02020603050405020304" pitchFamily="18" charset="0"/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EB24A24A-4FD7-82BC-3B21-6D3AAACCAB89}"/>
                  </a:ext>
                </a:extLst>
              </p:cNvPr>
              <p:cNvSpPr txBox="1"/>
              <p:nvPr/>
            </p:nvSpPr>
            <p:spPr>
              <a:xfrm>
                <a:off x="2592803" y="6884616"/>
                <a:ext cx="436338" cy="307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>
                    <a:solidFill>
                      <a:srgbClr val="C00000"/>
                    </a:solidFill>
                    <a:latin typeface="나눔스퀘어OTF" panose="020B0600000101010101" pitchFamily="34" charset="-127"/>
                    <a:ea typeface="나눔스퀘어OTF" panose="020B0600000101010101" pitchFamily="34" charset="-127"/>
                    <a:cs typeface="Times" panose="02020603050405020304" pitchFamily="18" charset="0"/>
                  </a:rPr>
                  <a:t>-</a:t>
                </a:r>
              </a:p>
              <a:p>
                <a:pPr algn="ctr"/>
                <a:r>
                  <a:rPr lang="en-US" altLang="ko-KR" sz="600" dirty="0">
                    <a:solidFill>
                      <a:srgbClr val="C00000"/>
                    </a:solidFill>
                    <a:latin typeface="나눔스퀘어OTF" panose="020B0600000101010101" pitchFamily="34" charset="-127"/>
                    <a:ea typeface="나눔스퀘어OTF" panose="020B0600000101010101" pitchFamily="34" charset="-127"/>
                    <a:cs typeface="Times" panose="02020603050405020304" pitchFamily="18" charset="0"/>
                  </a:rPr>
                  <a:t>Charge</a:t>
                </a:r>
                <a:endParaRPr lang="ko-KR" altLang="en-US" sz="800" dirty="0">
                  <a:solidFill>
                    <a:srgbClr val="C00000"/>
                  </a:solidFill>
                  <a:latin typeface="나눔스퀘어OTF" panose="020B0600000101010101" pitchFamily="34" charset="-127"/>
                  <a:ea typeface="나눔스퀘어OTF" panose="020B0600000101010101" pitchFamily="34" charset="-127"/>
                  <a:cs typeface="Times" panose="02020603050405020304" pitchFamily="18" charset="0"/>
                </a:endParaRP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6C0C43C7-F6C7-169F-0F7A-D9D440263883}"/>
                  </a:ext>
                </a:extLst>
              </p:cNvPr>
              <p:cNvSpPr txBox="1"/>
              <p:nvPr/>
            </p:nvSpPr>
            <p:spPr>
              <a:xfrm>
                <a:off x="1815569" y="7105125"/>
                <a:ext cx="1014532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b="1" dirty="0">
                    <a:latin typeface="나눔스퀘어OTF" panose="020B0600000101010101" pitchFamily="34" charset="-127"/>
                    <a:ea typeface="나눔스퀘어OTF" panose="020B0600000101010101" pitchFamily="34" charset="-127"/>
                    <a:cs typeface="Times" panose="02020603050405020304" pitchFamily="18" charset="0"/>
                  </a:rPr>
                  <a:t>Aminobutyric-acid</a:t>
                </a:r>
              </a:p>
            </p:txBody>
          </p:sp>
          <p:sp>
            <p:nvSpPr>
              <p:cNvPr id="106" name="그래픽 1">
                <a:extLst>
                  <a:ext uri="{FF2B5EF4-FFF2-40B4-BE49-F238E27FC236}">
                    <a16:creationId xmlns:a16="http://schemas.microsoft.com/office/drawing/2014/main" id="{B3B4C31A-28C0-D962-7B24-5A6185B9AAE6}"/>
                  </a:ext>
                </a:extLst>
              </p:cNvPr>
              <p:cNvSpPr/>
              <p:nvPr/>
            </p:nvSpPr>
            <p:spPr>
              <a:xfrm rot="5400000">
                <a:off x="1158043" y="6646589"/>
                <a:ext cx="735899" cy="188825"/>
              </a:xfrm>
              <a:custGeom>
                <a:avLst/>
                <a:gdLst>
                  <a:gd name="connsiteX0" fmla="*/ 3429000 w 3429000"/>
                  <a:gd name="connsiteY0" fmla="*/ 771525 h 771525"/>
                  <a:gd name="connsiteX1" fmla="*/ 2057400 w 3429000"/>
                  <a:gd name="connsiteY1" fmla="*/ 257175 h 771525"/>
                  <a:gd name="connsiteX2" fmla="*/ 2400300 w 3429000"/>
                  <a:gd name="connsiteY2" fmla="*/ 257175 h 771525"/>
                  <a:gd name="connsiteX3" fmla="*/ 1714500 w 3429000"/>
                  <a:gd name="connsiteY3" fmla="*/ 0 h 771525"/>
                  <a:gd name="connsiteX4" fmla="*/ 1028700 w 3429000"/>
                  <a:gd name="connsiteY4" fmla="*/ 257175 h 771525"/>
                  <a:gd name="connsiteX5" fmla="*/ 1371600 w 3429000"/>
                  <a:gd name="connsiteY5" fmla="*/ 257175 h 771525"/>
                  <a:gd name="connsiteX6" fmla="*/ 0 w 3429000"/>
                  <a:gd name="connsiteY6" fmla="*/ 771525 h 771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429000" h="771525">
                    <a:moveTo>
                      <a:pt x="3429000" y="771525"/>
                    </a:moveTo>
                    <a:cubicBezTo>
                      <a:pt x="2314575" y="600075"/>
                      <a:pt x="2057400" y="257175"/>
                      <a:pt x="2057400" y="257175"/>
                    </a:cubicBezTo>
                    <a:lnTo>
                      <a:pt x="2400300" y="257175"/>
                    </a:lnTo>
                    <a:lnTo>
                      <a:pt x="1714500" y="0"/>
                    </a:lnTo>
                    <a:lnTo>
                      <a:pt x="1028700" y="257175"/>
                    </a:lnTo>
                    <a:lnTo>
                      <a:pt x="1371600" y="257175"/>
                    </a:lnTo>
                    <a:cubicBezTo>
                      <a:pt x="1371600" y="257175"/>
                      <a:pt x="1114425" y="600075"/>
                      <a:pt x="0" y="771525"/>
                    </a:cubicBezTo>
                  </a:path>
                </a:pathLst>
              </a:custGeom>
              <a:gradFill>
                <a:gsLst>
                  <a:gs pos="0">
                    <a:schemeClr val="bg1">
                      <a:alpha val="0"/>
                    </a:schemeClr>
                  </a:gs>
                  <a:gs pos="50000">
                    <a:srgbClr val="CE8E90"/>
                  </a:gs>
                  <a:gs pos="100000">
                    <a:srgbClr val="9D1C20"/>
                  </a:gs>
                </a:gsLst>
                <a:lin ang="16200000" scaled="0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sz="1000">
                  <a:latin typeface="나눔스퀘어OTF" panose="020B0600000101010101" pitchFamily="34" charset="-127"/>
                  <a:ea typeface="나눔스퀘어OTF" panose="020B0600000101010101" pitchFamily="34" charset="-127"/>
                </a:endParaRP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36C95FDD-5E1B-B5EA-4775-B6E50AEBF9F5}"/>
                  </a:ext>
                </a:extLst>
              </p:cNvPr>
              <p:cNvSpPr txBox="1"/>
              <p:nvPr/>
            </p:nvSpPr>
            <p:spPr>
              <a:xfrm>
                <a:off x="1289016" y="6945575"/>
                <a:ext cx="47000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600" b="1" dirty="0">
                    <a:highlight>
                      <a:srgbClr val="FFFF00"/>
                    </a:highlight>
                    <a:latin typeface="나눔스퀘어OTF" panose="020B0600000101010101" pitchFamily="34" charset="-127"/>
                    <a:ea typeface="나눔스퀘어OTF" panose="020B0600000101010101" pitchFamily="34" charset="-127"/>
                  </a:rPr>
                  <a:t>C </a:t>
                </a:r>
                <a:r>
                  <a:rPr lang="ko-KR" altLang="en-US" sz="600" b="1" dirty="0">
                    <a:highlight>
                      <a:srgbClr val="FFFF00"/>
                    </a:highlight>
                    <a:latin typeface="나눔스퀘어OTF" panose="020B0600000101010101" pitchFamily="34" charset="-127"/>
                    <a:ea typeface="나눔스퀘어OTF" panose="020B0600000101010101" pitchFamily="34" charset="-127"/>
                  </a:rPr>
                  <a:t>사슬 </a:t>
                </a:r>
                <a:endParaRPr lang="en-US" altLang="ko-KR" sz="6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endParaRPr>
              </a:p>
              <a:p>
                <a:pPr algn="ctr"/>
                <a:r>
                  <a:rPr lang="en-US" altLang="ko-KR" sz="600" b="1" dirty="0">
                    <a:highlight>
                      <a:srgbClr val="FFFF00"/>
                    </a:highlight>
                    <a:latin typeface="나눔스퀘어OTF" panose="020B0600000101010101" pitchFamily="34" charset="-127"/>
                    <a:ea typeface="나눔스퀘어OTF" panose="020B0600000101010101" pitchFamily="34" charset="-127"/>
                  </a:rPr>
                  <a:t>1</a:t>
                </a:r>
                <a:r>
                  <a:rPr lang="ko-KR" altLang="en-US" sz="600" b="1" dirty="0">
                    <a:highlight>
                      <a:srgbClr val="FFFF00"/>
                    </a:highlight>
                    <a:latin typeface="나눔스퀘어OTF" panose="020B0600000101010101" pitchFamily="34" charset="-127"/>
                    <a:ea typeface="나눔스퀘어OTF" panose="020B0600000101010101" pitchFamily="34" charset="-127"/>
                  </a:rPr>
                  <a:t>개 추가</a:t>
                </a:r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6FF6060D-3B53-CCD1-FD35-E54EE5A3B049}"/>
                  </a:ext>
                </a:extLst>
              </p:cNvPr>
              <p:cNvSpPr txBox="1"/>
              <p:nvPr/>
            </p:nvSpPr>
            <p:spPr>
              <a:xfrm>
                <a:off x="68142" y="7513858"/>
                <a:ext cx="3090942" cy="7540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900" b="1" dirty="0">
                    <a:latin typeface="나눔스퀘어OTF" panose="020B0600000101010101" pitchFamily="34" charset="-127"/>
                    <a:ea typeface="나눔스퀘어OTF" panose="020B0600000101010101" pitchFamily="34" charset="-127"/>
                  </a:rPr>
                  <a:t>C</a:t>
                </a:r>
                <a:r>
                  <a:rPr lang="ko-KR" altLang="en-US" sz="900" b="1" dirty="0">
                    <a:latin typeface="나눔스퀘어OTF" panose="020B0600000101010101" pitchFamily="34" charset="-127"/>
                    <a:ea typeface="나눔스퀘어OTF" panose="020B0600000101010101" pitchFamily="34" charset="-127"/>
                  </a:rPr>
                  <a:t>사슬이 </a:t>
                </a:r>
                <a:r>
                  <a:rPr lang="en-US" altLang="ko-KR" sz="900" b="1" dirty="0">
                    <a:latin typeface="나눔스퀘어OTF" panose="020B0600000101010101" pitchFamily="34" charset="-127"/>
                    <a:ea typeface="나눔스퀘어OTF" panose="020B0600000101010101" pitchFamily="34" charset="-127"/>
                  </a:rPr>
                  <a:t>1</a:t>
                </a:r>
                <a:r>
                  <a:rPr lang="ko-KR" altLang="en-US" sz="900" b="1" dirty="0">
                    <a:latin typeface="나눔스퀘어OTF" panose="020B0600000101010101" pitchFamily="34" charset="-127"/>
                    <a:ea typeface="나눔스퀘어OTF" panose="020B0600000101010101" pitchFamily="34" charset="-127"/>
                  </a:rPr>
                  <a:t>개 더 긴</a:t>
                </a:r>
                <a:r>
                  <a:rPr lang="en-US" altLang="ko-KR" sz="900" b="1" dirty="0">
                    <a:latin typeface="나눔스퀘어OTF" panose="020B0600000101010101" pitchFamily="34" charset="-127"/>
                    <a:ea typeface="나눔스퀘어OTF" panose="020B0600000101010101" pitchFamily="34" charset="-127"/>
                  </a:rPr>
                  <a:t> Aminobutyric acid</a:t>
                </a:r>
                <a:r>
                  <a:rPr lang="ko-KR" altLang="en-US" sz="900" b="1" dirty="0">
                    <a:latin typeface="나눔스퀘어OTF" panose="020B0600000101010101" pitchFamily="34" charset="-127"/>
                    <a:ea typeface="나눔스퀘어OTF" panose="020B0600000101010101" pitchFamily="34" charset="-127"/>
                  </a:rPr>
                  <a:t>를 실험군으로 도입</a:t>
                </a:r>
                <a:r>
                  <a:rPr lang="en-US" altLang="ko-KR" sz="900" b="1" dirty="0">
                    <a:latin typeface="나눔스퀘어OTF" panose="020B0600000101010101" pitchFamily="34" charset="-127"/>
                    <a:ea typeface="나눔스퀘어OTF" panose="020B0600000101010101" pitchFamily="34" charset="-127"/>
                  </a:rPr>
                  <a:t>.</a:t>
                </a:r>
              </a:p>
              <a:p>
                <a:endParaRPr lang="en-US" altLang="ko-KR" sz="700" b="1" dirty="0">
                  <a:latin typeface="나눔스퀘어OTF" panose="020B0600000101010101" pitchFamily="34" charset="-127"/>
                  <a:ea typeface="나눔스퀘어OTF" panose="020B0600000101010101" pitchFamily="34" charset="-127"/>
                </a:endParaRPr>
              </a:p>
              <a:p>
                <a:r>
                  <a:rPr lang="ko-KR" altLang="en-US" sz="900" b="1" dirty="0">
                    <a:latin typeface="나눔스퀘어OTF" panose="020B0600000101010101" pitchFamily="34" charset="-127"/>
                    <a:ea typeface="나눔스퀘어OTF" panose="020B0600000101010101" pitchFamily="34" charset="-127"/>
                  </a:rPr>
                  <a:t>여러가지 </a:t>
                </a:r>
                <a:r>
                  <a:rPr lang="en-US" altLang="ko-KR" sz="900" b="1" dirty="0">
                    <a:latin typeface="나눔스퀘어OTF" panose="020B0600000101010101" pitchFamily="34" charset="-127"/>
                    <a:ea typeface="나눔스퀘어OTF" panose="020B0600000101010101" pitchFamily="34" charset="-127"/>
                  </a:rPr>
                  <a:t>DFT </a:t>
                </a:r>
                <a:r>
                  <a:rPr lang="ko-KR" altLang="en-US" sz="900" b="1" dirty="0">
                    <a:latin typeface="나눔스퀘어OTF" panose="020B0600000101010101" pitchFamily="34" charset="-127"/>
                    <a:ea typeface="나눔스퀘어OTF" panose="020B0600000101010101" pitchFamily="34" charset="-127"/>
                  </a:rPr>
                  <a:t>계산과 결과 분석을 통해</a:t>
                </a:r>
                <a:r>
                  <a:rPr lang="en-US" altLang="ko-KR" sz="900" b="1" dirty="0">
                    <a:latin typeface="나눔스퀘어OTF" panose="020B0600000101010101" pitchFamily="34" charset="-127"/>
                    <a:ea typeface="나눔스퀘어OTF" panose="020B0600000101010101" pitchFamily="34" charset="-127"/>
                  </a:rPr>
                  <a:t>, </a:t>
                </a:r>
                <a:r>
                  <a:rPr lang="ko-KR" altLang="en-US" sz="900" b="1" dirty="0">
                    <a:latin typeface="나눔스퀘어OTF" panose="020B0600000101010101" pitchFamily="34" charset="-127"/>
                    <a:ea typeface="나눔스퀘어OTF" panose="020B0600000101010101" pitchFamily="34" charset="-127"/>
                  </a:rPr>
                  <a:t>사슬 길이에 따른 </a:t>
                </a:r>
                <a:endParaRPr lang="en-US" altLang="ko-KR" sz="900" b="1" dirty="0">
                  <a:latin typeface="나눔스퀘어OTF" panose="020B0600000101010101" pitchFamily="34" charset="-127"/>
                  <a:ea typeface="나눔스퀘어OTF" panose="020B0600000101010101" pitchFamily="34" charset="-127"/>
                </a:endParaRPr>
              </a:p>
              <a:p>
                <a:pPr marL="104478" indent="-104478">
                  <a:buFont typeface="+mj-lt"/>
                  <a:buAutoNum type="arabicPeriod"/>
                </a:pPr>
                <a:r>
                  <a:rPr lang="ko-KR" altLang="en-US" sz="900" b="1" i="1" dirty="0">
                    <a:latin typeface="나눔스퀘어OTF" panose="020B0600000101010101" pitchFamily="34" charset="-127"/>
                    <a:ea typeface="나눔스퀘어OTF" panose="020B0600000101010101" pitchFamily="34" charset="-127"/>
                  </a:rPr>
                  <a:t>내부 정전기적 결합 효과 감소 효과</a:t>
                </a:r>
                <a:r>
                  <a:rPr lang="ko-KR" altLang="en-US" sz="900" dirty="0">
                    <a:latin typeface="나눔스퀘어OTF" panose="020B0600000101010101" pitchFamily="34" charset="-127"/>
                    <a:ea typeface="나눔스퀘어OTF" panose="020B0600000101010101" pitchFamily="34" charset="-127"/>
                  </a:rPr>
                  <a:t>와</a:t>
                </a:r>
                <a:endParaRPr lang="en-US" altLang="ko-KR" sz="900" dirty="0">
                  <a:latin typeface="나눔스퀘어OTF" panose="020B0600000101010101" pitchFamily="34" charset="-127"/>
                  <a:ea typeface="나눔스퀘어OTF" panose="020B0600000101010101" pitchFamily="34" charset="-127"/>
                </a:endParaRPr>
              </a:p>
              <a:p>
                <a:pPr marL="104478" indent="-104478">
                  <a:buFont typeface="+mj-lt"/>
                  <a:buAutoNum type="arabicPeriod"/>
                </a:pPr>
                <a:r>
                  <a:rPr lang="ko-KR" altLang="en-US" sz="900" b="1" i="1" dirty="0">
                    <a:latin typeface="나눔스퀘어OTF" panose="020B0600000101010101" pitchFamily="34" charset="-127"/>
                    <a:ea typeface="나눔스퀘어OTF" panose="020B0600000101010101" pitchFamily="34" charset="-127"/>
                  </a:rPr>
                  <a:t>반응성 향상 효과를 </a:t>
                </a:r>
                <a:r>
                  <a:rPr lang="ko-KR" altLang="en-US" sz="900" b="1" dirty="0">
                    <a:latin typeface="나눔스퀘어OTF" panose="020B0600000101010101" pitchFamily="34" charset="-127"/>
                    <a:ea typeface="나눔스퀘어OTF" panose="020B0600000101010101" pitchFamily="34" charset="-127"/>
                  </a:rPr>
                  <a:t>검증한다</a:t>
                </a:r>
                <a:r>
                  <a:rPr lang="en-US" altLang="ko-KR" sz="900" b="1" dirty="0">
                    <a:latin typeface="나눔스퀘어OTF" panose="020B0600000101010101" pitchFamily="34" charset="-127"/>
                    <a:ea typeface="나눔스퀘어OTF" panose="020B0600000101010101" pitchFamily="34" charset="-127"/>
                  </a:rPr>
                  <a:t>.</a:t>
                </a:r>
                <a:endParaRPr lang="ko-KR" altLang="en-US" sz="900" b="1" dirty="0">
                  <a:latin typeface="나눔스퀘어OTF" panose="020B0600000101010101" pitchFamily="34" charset="-127"/>
                  <a:ea typeface="나눔스퀘어OTF" panose="020B0600000101010101" pitchFamily="34" charset="-127"/>
                </a:endParaRPr>
              </a:p>
            </p:txBody>
          </p:sp>
        </p:grp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C89741F1-1C14-2EE6-4184-B3EB51848460}"/>
              </a:ext>
            </a:extLst>
          </p:cNvPr>
          <p:cNvSpPr txBox="1"/>
          <p:nvPr/>
        </p:nvSpPr>
        <p:spPr>
          <a:xfrm>
            <a:off x="644763" y="951050"/>
            <a:ext cx="4396565" cy="252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ko-KR" sz="8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91BAFB3-5DB5-3BD6-3505-5F0B172FC3C8}"/>
              </a:ext>
            </a:extLst>
          </p:cNvPr>
          <p:cNvSpPr txBox="1"/>
          <p:nvPr/>
        </p:nvSpPr>
        <p:spPr>
          <a:xfrm>
            <a:off x="6557716" y="44745"/>
            <a:ext cx="2796843" cy="255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i="1" u="sng" dirty="0">
                <a:solidFill>
                  <a:srgbClr val="0070C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DFT </a:t>
            </a:r>
            <a:r>
              <a:rPr lang="ko-KR" altLang="en-US" sz="1600" b="1" i="1" u="sng" dirty="0">
                <a:solidFill>
                  <a:srgbClr val="0070C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계산 목록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4C5B1C01-906E-4B4E-64E1-E3A6B570EB14}"/>
              </a:ext>
            </a:extLst>
          </p:cNvPr>
          <p:cNvSpPr/>
          <p:nvPr/>
        </p:nvSpPr>
        <p:spPr>
          <a:xfrm>
            <a:off x="4017002" y="1283643"/>
            <a:ext cx="294490" cy="680979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2</a:t>
            </a:r>
            <a:endParaRPr lang="ko-KR" altLang="en-US" sz="20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4FADCA21-FAE8-AD92-0EB2-9C3BAD3EFD12}"/>
              </a:ext>
            </a:extLst>
          </p:cNvPr>
          <p:cNvSpPr/>
          <p:nvPr/>
        </p:nvSpPr>
        <p:spPr>
          <a:xfrm>
            <a:off x="4007854" y="2003289"/>
            <a:ext cx="294490" cy="698138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3</a:t>
            </a:r>
            <a:endParaRPr lang="ko-KR" altLang="en-US" sz="20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A12A3F48-6867-EB81-2462-F25A06A69F08}"/>
              </a:ext>
            </a:extLst>
          </p:cNvPr>
          <p:cNvSpPr/>
          <p:nvPr/>
        </p:nvSpPr>
        <p:spPr>
          <a:xfrm>
            <a:off x="4017002" y="313461"/>
            <a:ext cx="294490" cy="92795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</a:t>
            </a:r>
            <a:endParaRPr lang="ko-KR" altLang="en-US" sz="20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11894E93-7E63-9153-A811-36A6C20C9BD4}"/>
              </a:ext>
            </a:extLst>
          </p:cNvPr>
          <p:cNvSpPr/>
          <p:nvPr/>
        </p:nvSpPr>
        <p:spPr>
          <a:xfrm>
            <a:off x="4017002" y="2736104"/>
            <a:ext cx="294490" cy="976006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4</a:t>
            </a:r>
            <a:endParaRPr lang="ko-KR" altLang="en-US" sz="20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F9D2A88-EC9C-8200-DA93-EA74E6D970A0}"/>
              </a:ext>
            </a:extLst>
          </p:cNvPr>
          <p:cNvSpPr/>
          <p:nvPr/>
        </p:nvSpPr>
        <p:spPr>
          <a:xfrm>
            <a:off x="4017002" y="3728916"/>
            <a:ext cx="294490" cy="865495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5</a:t>
            </a:r>
            <a:endParaRPr lang="ko-KR" altLang="en-US" sz="20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BC31E240-65AF-6FE3-401F-1762061E5639}"/>
              </a:ext>
            </a:extLst>
          </p:cNvPr>
          <p:cNvSpPr/>
          <p:nvPr/>
        </p:nvSpPr>
        <p:spPr>
          <a:xfrm>
            <a:off x="4017002" y="4624266"/>
            <a:ext cx="294490" cy="1182555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6</a:t>
            </a:r>
            <a:endParaRPr lang="ko-KR" altLang="en-US" sz="20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4492DA3B-98A5-F827-F1BC-AC61B5EC0185}"/>
              </a:ext>
            </a:extLst>
          </p:cNvPr>
          <p:cNvSpPr/>
          <p:nvPr/>
        </p:nvSpPr>
        <p:spPr>
          <a:xfrm>
            <a:off x="3801718" y="481828"/>
            <a:ext cx="1411417" cy="375605"/>
          </a:xfrm>
          <a:prstGeom prst="ellipse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9D18DE-976F-9D85-6AA3-0D054B266BD5}"/>
              </a:ext>
            </a:extLst>
          </p:cNvPr>
          <p:cNvSpPr/>
          <p:nvPr/>
        </p:nvSpPr>
        <p:spPr>
          <a:xfrm>
            <a:off x="3801718" y="1136177"/>
            <a:ext cx="1411417" cy="375605"/>
          </a:xfrm>
          <a:prstGeom prst="ellipse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나눔스퀘어OTF" panose="020B0600000101010101" pitchFamily="34" charset="-127"/>
                <a:ea typeface="나눔스퀘어OTF" panose="020B0600000101010101" pitchFamily="34" charset="-127"/>
                <a:cs typeface="Arial" panose="020B0604020202020204" pitchFamily="34" charset="0"/>
              </a:rPr>
              <a:t>II</a:t>
            </a:r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8150A5-9F1E-B887-C551-B6EB34F64AE6}"/>
              </a:ext>
            </a:extLst>
          </p:cNvPr>
          <p:cNvSpPr txBox="1"/>
          <p:nvPr/>
        </p:nvSpPr>
        <p:spPr>
          <a:xfrm>
            <a:off x="4439307" y="641392"/>
            <a:ext cx="9252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sz="700" b="1" dirty="0">
              <a:solidFill>
                <a:srgbClr val="C00000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E75438A9-4112-DE80-DABC-F79CB9C1C77F}"/>
              </a:ext>
            </a:extLst>
          </p:cNvPr>
          <p:cNvGrpSpPr/>
          <p:nvPr/>
        </p:nvGrpSpPr>
        <p:grpSpPr>
          <a:xfrm>
            <a:off x="4250697" y="300308"/>
            <a:ext cx="8175936" cy="6447631"/>
            <a:chOff x="4757730" y="1058059"/>
            <a:chExt cx="8175936" cy="7657631"/>
          </a:xfrm>
        </p:grpSpPr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4E101872-9EA2-AA4A-C6E1-CA184A46BC5A}"/>
                </a:ext>
              </a:extLst>
            </p:cNvPr>
            <p:cNvSpPr/>
            <p:nvPr/>
          </p:nvSpPr>
          <p:spPr>
            <a:xfrm>
              <a:off x="4803195" y="2225932"/>
              <a:ext cx="7178082" cy="808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2</a:t>
              </a:r>
              <a:endParaRPr lang="ko-KR" altLang="en-US" sz="20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3FC43862-704B-5EF7-68E3-2F201E3C713A}"/>
                </a:ext>
              </a:extLst>
            </p:cNvPr>
            <p:cNvSpPr txBox="1"/>
            <p:nvPr/>
          </p:nvSpPr>
          <p:spPr>
            <a:xfrm>
              <a:off x="4785223" y="2193122"/>
              <a:ext cx="8120069" cy="255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2</a:t>
              </a:r>
              <a:r>
                <a:rPr lang="ko-KR" altLang="en-US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개의 </a:t>
              </a:r>
              <a:r>
                <a:rPr lang="en-US" altLang="ko-KR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Zwitterionic form</a:t>
              </a:r>
              <a:r>
                <a:rPr lang="ko-KR" altLang="en-US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과 </a:t>
              </a:r>
              <a:r>
                <a:rPr lang="en-US" altLang="ko-KR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H2O</a:t>
              </a:r>
              <a:r>
                <a:rPr lang="ko-KR" altLang="en-US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에 대한 </a:t>
              </a:r>
              <a:r>
                <a:rPr lang="en-US" altLang="ko-KR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HOMO/LUMO + ESP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06B4BF8-C572-F271-683C-330B0AB39B09}"/>
                </a:ext>
              </a:extLst>
            </p:cNvPr>
            <p:cNvSpPr txBox="1"/>
            <p:nvPr/>
          </p:nvSpPr>
          <p:spPr>
            <a:xfrm>
              <a:off x="4972202" y="2339942"/>
              <a:ext cx="7476074" cy="493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Orca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소프트웨어 구조최적화 </a:t>
              </a:r>
              <a:endParaRPr lang="en-US" altLang="ko-KR" sz="7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pPr marL="228600" indent="-228600">
                <a:buAutoNum type="arabicPeriod"/>
              </a:pP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SCF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계산 </a:t>
              </a:r>
              <a:endParaRPr lang="en-US" altLang="ko-KR" sz="7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pPr marL="228600" indent="-228600">
                <a:buAutoNum type="arabicPeriod"/>
              </a:pP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Post-processing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 통해 도출</a:t>
              </a:r>
              <a:endParaRPr lang="en-US" altLang="ko-KR" sz="7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sp>
          <p:nvSpPr>
            <p:cNvPr id="81" name="화살표: 오른쪽 80">
              <a:extLst>
                <a:ext uri="{FF2B5EF4-FFF2-40B4-BE49-F238E27FC236}">
                  <a16:creationId xmlns:a16="http://schemas.microsoft.com/office/drawing/2014/main" id="{503DE645-E5B2-6258-C0F4-8D9463CDF609}"/>
                </a:ext>
              </a:extLst>
            </p:cNvPr>
            <p:cNvSpPr/>
            <p:nvPr/>
          </p:nvSpPr>
          <p:spPr>
            <a:xfrm>
              <a:off x="4879919" y="2791396"/>
              <a:ext cx="402480" cy="154555"/>
            </a:xfrm>
            <a:prstGeom prst="rightArrow">
              <a:avLst/>
            </a:prstGeom>
            <a:solidFill>
              <a:srgbClr val="2F5597"/>
            </a:solidFill>
            <a:ln>
              <a:solidFill>
                <a:srgbClr val="DDDD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8CD8DD7-B394-5F50-6D8F-DEF880D5A249}"/>
                </a:ext>
              </a:extLst>
            </p:cNvPr>
            <p:cNvSpPr txBox="1"/>
            <p:nvPr/>
          </p:nvSpPr>
          <p:spPr>
            <a:xfrm>
              <a:off x="5268025" y="2767514"/>
              <a:ext cx="6713254" cy="237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기대하는 결과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: AB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가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AL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보다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HOMO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가 높고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LUMO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가 낮고 따라서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gap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이 더 작을 것으로 예상되고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polarizability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도 더 클 것으로 예상됩니다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.</a:t>
              </a: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D15C22D6-3A5C-F88A-9C6E-72FF4D256706}"/>
                </a:ext>
              </a:extLst>
            </p:cNvPr>
            <p:cNvSpPr/>
            <p:nvPr/>
          </p:nvSpPr>
          <p:spPr>
            <a:xfrm>
              <a:off x="4785223" y="3080631"/>
              <a:ext cx="7178082" cy="8291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3</a:t>
              </a:r>
              <a:endParaRPr lang="ko-KR" altLang="en-US" sz="20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6F47582-E834-3040-915D-8DFF09333A9D}"/>
                </a:ext>
              </a:extLst>
            </p:cNvPr>
            <p:cNvSpPr txBox="1"/>
            <p:nvPr/>
          </p:nvSpPr>
          <p:spPr>
            <a:xfrm>
              <a:off x="4757730" y="3056925"/>
              <a:ext cx="8120069" cy="255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2</a:t>
              </a:r>
              <a:r>
                <a:rPr lang="ko-KR" altLang="en-US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개의 </a:t>
              </a:r>
              <a:r>
                <a:rPr lang="en-US" altLang="ko-KR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Zwitterionic form</a:t>
              </a:r>
              <a:r>
                <a:rPr lang="ko-KR" altLang="en-US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의 </a:t>
              </a:r>
              <a:r>
                <a:rPr lang="en-US" altLang="ko-KR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Dipole moment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CEF0B46-FF7D-94F5-47E6-94B09886AD3C}"/>
                </a:ext>
              </a:extLst>
            </p:cNvPr>
            <p:cNvSpPr txBox="1"/>
            <p:nvPr/>
          </p:nvSpPr>
          <p:spPr>
            <a:xfrm>
              <a:off x="4936693" y="3218971"/>
              <a:ext cx="7476072" cy="493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Orca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소프트웨어 구조최적화 </a:t>
              </a:r>
              <a:endParaRPr lang="en-US" altLang="ko-KR" sz="7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pPr marL="228600" indent="-228600">
                <a:buAutoNum type="arabicPeriod"/>
              </a:pP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SCF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계산 </a:t>
              </a:r>
              <a:endParaRPr lang="en-US" altLang="ko-KR" sz="7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pPr marL="228600" indent="-228600">
                <a:buAutoNum type="arabicPeriod"/>
              </a:pP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Post-processing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 통해 도출</a:t>
              </a:r>
              <a:endParaRPr lang="en-US" altLang="ko-KR" sz="7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sp>
          <p:nvSpPr>
            <p:cNvPr id="75" name="화살표: 오른쪽 74">
              <a:extLst>
                <a:ext uri="{FF2B5EF4-FFF2-40B4-BE49-F238E27FC236}">
                  <a16:creationId xmlns:a16="http://schemas.microsoft.com/office/drawing/2014/main" id="{31C9766E-B91E-6285-42B0-CDAF03C0601C}"/>
                </a:ext>
              </a:extLst>
            </p:cNvPr>
            <p:cNvSpPr/>
            <p:nvPr/>
          </p:nvSpPr>
          <p:spPr>
            <a:xfrm>
              <a:off x="4861947" y="3655203"/>
              <a:ext cx="402480" cy="154555"/>
            </a:xfrm>
            <a:prstGeom prst="rightArrow">
              <a:avLst/>
            </a:prstGeom>
            <a:solidFill>
              <a:srgbClr val="2F5597"/>
            </a:solidFill>
            <a:ln>
              <a:solidFill>
                <a:srgbClr val="DDDD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4DBE013-1A37-C0C8-7B77-66971D55FDB2}"/>
                </a:ext>
              </a:extLst>
            </p:cNvPr>
            <p:cNvSpPr txBox="1"/>
            <p:nvPr/>
          </p:nvSpPr>
          <p:spPr>
            <a:xfrm>
              <a:off x="5250053" y="3631322"/>
              <a:ext cx="6713253" cy="237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기대하는 결과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: Chain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길이가 더 긴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AB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에서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dipole moment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가 더 클 것으로 예상됩니다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.</a:t>
              </a:r>
              <a:endParaRPr lang="ko-KR" altLang="en-US" sz="7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45B88B6F-6215-E80D-1D46-07F48A94A9F7}"/>
                </a:ext>
              </a:extLst>
            </p:cNvPr>
            <p:cNvSpPr/>
            <p:nvPr/>
          </p:nvSpPr>
          <p:spPr>
            <a:xfrm>
              <a:off x="4803195" y="1073680"/>
              <a:ext cx="7178082" cy="11020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1</a:t>
              </a:r>
              <a:endParaRPr lang="ko-KR" altLang="en-US" sz="20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5BAB6F08-3FD7-7157-217A-6731372DCB51}"/>
                </a:ext>
              </a:extLst>
            </p:cNvPr>
            <p:cNvSpPr txBox="1"/>
            <p:nvPr/>
          </p:nvSpPr>
          <p:spPr>
            <a:xfrm>
              <a:off x="4813597" y="1058059"/>
              <a:ext cx="8120069" cy="402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2</a:t>
              </a:r>
              <a:r>
                <a:rPr lang="ko-KR" altLang="en-US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개의 </a:t>
              </a:r>
              <a:r>
                <a:rPr lang="en-US" altLang="ko-KR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Zwitterionic form</a:t>
              </a:r>
              <a:r>
                <a:rPr lang="ko-KR" altLang="en-US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의 </a:t>
              </a:r>
              <a:r>
                <a:rPr lang="en-US" altLang="ko-KR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intermolecular </a:t>
              </a:r>
              <a:r>
                <a:rPr lang="ko-KR" altLang="en-US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상호작용을 고려한 </a:t>
              </a:r>
              <a:endParaRPr lang="en-US" altLang="ko-KR" sz="800" b="1" dirty="0">
                <a:highlight>
                  <a:srgbClr val="FFFF00"/>
                </a:highlight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r>
                <a:rPr lang="ko-KR" altLang="en-US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가장 안정한 </a:t>
              </a:r>
              <a:r>
                <a:rPr lang="en-US" altLang="ko-KR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conformation</a:t>
              </a:r>
              <a:r>
                <a:rPr lang="ko-KR" altLang="en-US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을 구하기</a:t>
              </a:r>
              <a:endParaRPr lang="en-US" altLang="ko-KR" sz="800" b="1" dirty="0">
                <a:highlight>
                  <a:srgbClr val="FFFF00"/>
                </a:highlight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8A5B667-CCCB-5A1C-D3A9-3369E34AC884}"/>
                </a:ext>
              </a:extLst>
            </p:cNvPr>
            <p:cNvSpPr txBox="1"/>
            <p:nvPr/>
          </p:nvSpPr>
          <p:spPr>
            <a:xfrm>
              <a:off x="4761749" y="1463152"/>
              <a:ext cx="7476074" cy="237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7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03E9A483-12C5-6019-CEFA-14FBFB0D14D8}"/>
                </a:ext>
              </a:extLst>
            </p:cNvPr>
            <p:cNvSpPr txBox="1"/>
            <p:nvPr/>
          </p:nvSpPr>
          <p:spPr>
            <a:xfrm>
              <a:off x="4954664" y="1357489"/>
              <a:ext cx="7476074" cy="493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err="1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양쪽성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 이온에 대해 여러 가능한 초기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Conformation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 후보 리스트업</a:t>
              </a:r>
              <a:endParaRPr lang="en-US" altLang="ko-KR" sz="7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pPr marL="228600" indent="-228600">
                <a:buAutoNum type="arabicPeriod"/>
              </a:pP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Orca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소프트웨어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/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구조최적화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/ SCF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계산</a:t>
              </a:r>
              <a:endParaRPr lang="en-US" altLang="ko-KR" sz="7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pPr marL="228600" indent="-228600">
                <a:buAutoNum type="arabicPeriod"/>
              </a:pP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가장 에너지가 안정화되는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Conformation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선정</a:t>
              </a:r>
              <a:endParaRPr lang="en-US" altLang="ko-KR" sz="7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sp>
          <p:nvSpPr>
            <p:cNvPr id="89" name="화살표: 오른쪽 88">
              <a:extLst>
                <a:ext uri="{FF2B5EF4-FFF2-40B4-BE49-F238E27FC236}">
                  <a16:creationId xmlns:a16="http://schemas.microsoft.com/office/drawing/2014/main" id="{55CBE997-D5BB-D2FF-CE5E-55549139D455}"/>
                </a:ext>
              </a:extLst>
            </p:cNvPr>
            <p:cNvSpPr/>
            <p:nvPr/>
          </p:nvSpPr>
          <p:spPr>
            <a:xfrm>
              <a:off x="4910105" y="1852047"/>
              <a:ext cx="402480" cy="154555"/>
            </a:xfrm>
            <a:prstGeom prst="rightArrow">
              <a:avLst/>
            </a:prstGeom>
            <a:solidFill>
              <a:srgbClr val="2F5597"/>
            </a:solidFill>
            <a:ln>
              <a:solidFill>
                <a:srgbClr val="DDDD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701C9AB-6C90-A4A1-0E04-3EB762DDC5D3}"/>
                </a:ext>
              </a:extLst>
            </p:cNvPr>
            <p:cNvSpPr txBox="1"/>
            <p:nvPr/>
          </p:nvSpPr>
          <p:spPr>
            <a:xfrm>
              <a:off x="5268025" y="1772737"/>
              <a:ext cx="6713254" cy="3655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기대하는 결과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: AL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은 양쪽 말단 그룹이 서로 상호작용하여 사슬 분자가 한 방향으로 회전된 구부러진 형태를 가질 것으로 예상되고 더 긴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AB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분자의 경우 좀더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linear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한 형태를 유지할 것으로 예상됩니다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.</a:t>
              </a: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8E508AED-A7D2-7A29-5F8E-46746008B83A}"/>
                </a:ext>
              </a:extLst>
            </p:cNvPr>
            <p:cNvSpPr/>
            <p:nvPr/>
          </p:nvSpPr>
          <p:spPr>
            <a:xfrm>
              <a:off x="4803195" y="3950970"/>
              <a:ext cx="7178082" cy="11591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4</a:t>
              </a:r>
              <a:endParaRPr lang="ko-KR" altLang="en-US" sz="20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38C76E7-4753-C2DE-FE08-1C2E30D38A7C}"/>
                </a:ext>
              </a:extLst>
            </p:cNvPr>
            <p:cNvSpPr txBox="1"/>
            <p:nvPr/>
          </p:nvSpPr>
          <p:spPr>
            <a:xfrm>
              <a:off x="4797078" y="3943674"/>
              <a:ext cx="8120069" cy="255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2</a:t>
              </a:r>
              <a:r>
                <a:rPr lang="ko-KR" altLang="en-US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개의 </a:t>
              </a:r>
              <a:r>
                <a:rPr lang="en-US" altLang="ko-KR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Zwitterionic form</a:t>
              </a:r>
              <a:r>
                <a:rPr lang="ko-KR" altLang="en-US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에 대한 </a:t>
              </a:r>
              <a:r>
                <a:rPr lang="en-US" altLang="ko-KR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proton, hydroxide ion</a:t>
              </a:r>
              <a:r>
                <a:rPr lang="ko-KR" altLang="en-US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의 바인딩 에너지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5448AF4-0124-2AC7-3684-EE3F9B18F0AB}"/>
                </a:ext>
              </a:extLst>
            </p:cNvPr>
            <p:cNvSpPr txBox="1"/>
            <p:nvPr/>
          </p:nvSpPr>
          <p:spPr>
            <a:xfrm>
              <a:off x="5007277" y="4118229"/>
              <a:ext cx="7476074" cy="7493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H+ / OH-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모두 바인딩된 경우</a:t>
              </a:r>
              <a:endParaRPr lang="en-US" altLang="ko-KR" sz="7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pPr marL="228600" indent="-228600">
                <a:buAutoNum type="arabicPeriod"/>
              </a:pP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H+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만 바인딩된 경우</a:t>
              </a:r>
              <a:endParaRPr lang="en-US" altLang="ko-KR" sz="7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pPr marL="228600" indent="-228600">
                <a:buAutoNum type="arabicPeriod"/>
              </a:pP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OH-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만 바인딩된 경우</a:t>
              </a:r>
              <a:endParaRPr lang="en-US" altLang="ko-KR" sz="7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pPr marL="228600" indent="-228600">
                <a:buAutoNum type="arabicPeriod"/>
              </a:pP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H+ / OH- / Zwitterionic form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각각 따로 떨어진 경우</a:t>
              </a:r>
              <a:endParaRPr lang="en-US" altLang="ko-KR" sz="7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각각에 대해 시스템 에너지를 구하고 차이를 통해 바인딩 에너지 도출</a:t>
              </a:r>
              <a:endParaRPr lang="en-US" altLang="ko-KR" sz="8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sp>
          <p:nvSpPr>
            <p:cNvPr id="67" name="화살표: 오른쪽 66">
              <a:extLst>
                <a:ext uri="{FF2B5EF4-FFF2-40B4-BE49-F238E27FC236}">
                  <a16:creationId xmlns:a16="http://schemas.microsoft.com/office/drawing/2014/main" id="{C7D33279-8A07-DCA0-20C0-4A8AA3EDF527}"/>
                </a:ext>
              </a:extLst>
            </p:cNvPr>
            <p:cNvSpPr/>
            <p:nvPr/>
          </p:nvSpPr>
          <p:spPr>
            <a:xfrm>
              <a:off x="4879919" y="4808986"/>
              <a:ext cx="402480" cy="154555"/>
            </a:xfrm>
            <a:prstGeom prst="rightArrow">
              <a:avLst/>
            </a:prstGeom>
            <a:solidFill>
              <a:srgbClr val="2F5597"/>
            </a:solidFill>
            <a:ln>
              <a:solidFill>
                <a:srgbClr val="DDDD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4EAC7FC-BF8F-2DC4-164A-D9116837E449}"/>
                </a:ext>
              </a:extLst>
            </p:cNvPr>
            <p:cNvSpPr txBox="1"/>
            <p:nvPr/>
          </p:nvSpPr>
          <p:spPr>
            <a:xfrm>
              <a:off x="5268025" y="4785105"/>
              <a:ext cx="6713254" cy="3655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기대하는 결과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: AL, AB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분자 모두 안정한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conformation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상태에서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AL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이 말단 그룹들 사이의 상호작용에 의해 구부러진 상태로 존재하고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AB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가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linear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한 상태로 존재한다면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AB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에서의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binding energy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가 더 높을 것으로 예상됩니다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.</a:t>
              </a: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50570A25-6C2D-7CB0-6399-D72553F885D9}"/>
                </a:ext>
              </a:extLst>
            </p:cNvPr>
            <p:cNvSpPr/>
            <p:nvPr/>
          </p:nvSpPr>
          <p:spPr>
            <a:xfrm>
              <a:off x="4803195" y="5130099"/>
              <a:ext cx="7178082" cy="102791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5</a:t>
              </a:r>
              <a:endParaRPr lang="ko-KR" altLang="en-US" sz="20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CA7DA20-B23B-E5E0-B090-77B6D05D0359}"/>
                </a:ext>
              </a:extLst>
            </p:cNvPr>
            <p:cNvSpPr txBox="1"/>
            <p:nvPr/>
          </p:nvSpPr>
          <p:spPr>
            <a:xfrm>
              <a:off x="4797078" y="5109616"/>
              <a:ext cx="8120069" cy="255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2</a:t>
              </a:r>
              <a:r>
                <a:rPr lang="ko-KR" altLang="en-US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개의 </a:t>
              </a:r>
              <a:r>
                <a:rPr lang="en-US" altLang="ko-KR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Zwitterionic form</a:t>
              </a:r>
              <a:r>
                <a:rPr lang="ko-KR" altLang="en-US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에 대한 </a:t>
              </a:r>
              <a:r>
                <a:rPr lang="en-US" altLang="ko-KR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sulfate, Zn ion</a:t>
              </a:r>
              <a:r>
                <a:rPr lang="ko-KR" altLang="en-US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의 바인딩 에너지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B5135F0-2BF6-EF5B-0029-3386B80E143B}"/>
                </a:ext>
              </a:extLst>
            </p:cNvPr>
            <p:cNvSpPr txBox="1"/>
            <p:nvPr/>
          </p:nvSpPr>
          <p:spPr>
            <a:xfrm>
              <a:off x="4954664" y="5265946"/>
              <a:ext cx="7476074" cy="7493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Zn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이온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/ Sulfate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이온 모두 바인딩된 경우</a:t>
              </a:r>
              <a:endParaRPr lang="en-US" altLang="ko-KR" sz="7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pPr marL="228600" indent="-228600">
                <a:buAutoNum type="arabicPeriod"/>
              </a:pP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Zn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이온만 바인딩 된 경우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(sulfate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이온은 멀리 떨어진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)</a:t>
              </a:r>
            </a:p>
            <a:p>
              <a:pPr marL="228600" indent="-228600">
                <a:buAutoNum type="arabicPeriod"/>
              </a:pP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sulfate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이온만 바인딩 된 경우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(Zn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이온은 멀리 떨어진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)</a:t>
              </a:r>
            </a:p>
            <a:p>
              <a:pPr marL="228600" indent="-228600">
                <a:buAutoNum type="arabicPeriod"/>
              </a:pP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Zn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이온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 / Sulfate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이온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 / Zwitterionic form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각각 따로 떨어진 경우</a:t>
              </a:r>
              <a:endParaRPr lang="en-US" altLang="ko-KR" sz="7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각각에 대해 시스템 에너지를 구하고 차이를 통해 바인딩 에너지 도출</a:t>
              </a:r>
            </a:p>
          </p:txBody>
        </p:sp>
        <p:sp>
          <p:nvSpPr>
            <p:cNvPr id="61" name="화살표: 오른쪽 60">
              <a:extLst>
                <a:ext uri="{FF2B5EF4-FFF2-40B4-BE49-F238E27FC236}">
                  <a16:creationId xmlns:a16="http://schemas.microsoft.com/office/drawing/2014/main" id="{55BD66D3-3BE4-D38C-4DD8-ABFBE731D8B0}"/>
                </a:ext>
              </a:extLst>
            </p:cNvPr>
            <p:cNvSpPr/>
            <p:nvPr/>
          </p:nvSpPr>
          <p:spPr>
            <a:xfrm>
              <a:off x="4879919" y="5970433"/>
              <a:ext cx="402480" cy="154555"/>
            </a:xfrm>
            <a:prstGeom prst="rightArrow">
              <a:avLst/>
            </a:prstGeom>
            <a:solidFill>
              <a:srgbClr val="2F5597"/>
            </a:solidFill>
            <a:ln>
              <a:solidFill>
                <a:srgbClr val="DDDD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E82175B-4CD6-1D6E-3EBB-632A51EC1AAA}"/>
                </a:ext>
              </a:extLst>
            </p:cNvPr>
            <p:cNvSpPr txBox="1"/>
            <p:nvPr/>
          </p:nvSpPr>
          <p:spPr>
            <a:xfrm>
              <a:off x="5268025" y="5946550"/>
              <a:ext cx="6713254" cy="237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기대하는 결과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: Dipole moment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가 더 높은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AB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분자에서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ion-dipole interaction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이 더 강할 것으로 예상되어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ion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들에 대한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binding energy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가 더 높을 것으로 예상됩니다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.</a:t>
              </a:r>
              <a:endParaRPr lang="ko-KR" altLang="en-US" sz="7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AD21F18E-2AAB-0FEA-7A2D-D96A063E4889}"/>
                </a:ext>
              </a:extLst>
            </p:cNvPr>
            <p:cNvSpPr/>
            <p:nvPr/>
          </p:nvSpPr>
          <p:spPr>
            <a:xfrm>
              <a:off x="4803195" y="6193476"/>
              <a:ext cx="7178082" cy="14044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6</a:t>
              </a:r>
              <a:endParaRPr lang="ko-KR" altLang="en-US" sz="20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C334DD8-4BA7-4715-79A8-58C9D794F3EC}"/>
                </a:ext>
              </a:extLst>
            </p:cNvPr>
            <p:cNvSpPr txBox="1"/>
            <p:nvPr/>
          </p:nvSpPr>
          <p:spPr>
            <a:xfrm>
              <a:off x="4813597" y="6172250"/>
              <a:ext cx="8120069" cy="402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2</a:t>
              </a:r>
              <a:r>
                <a:rPr lang="ko-KR" altLang="en-US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개의 </a:t>
              </a:r>
              <a:r>
                <a:rPr lang="en-US" altLang="ko-KR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Zwitterionic form / Zn ion / H2O / sulfate ion</a:t>
              </a:r>
              <a:r>
                <a:rPr lang="ko-KR" altLang="en-US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의 </a:t>
              </a:r>
              <a:endParaRPr lang="en-US" altLang="ko-KR" sz="800" b="1" dirty="0">
                <a:highlight>
                  <a:srgbClr val="FFFF00"/>
                </a:highlight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r>
                <a:rPr lang="en-US" altLang="ko-KR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Zn 100 / 101 / 002 Plane</a:t>
              </a:r>
              <a:r>
                <a:rPr lang="ko-KR" altLang="en-US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 흡착 에너지</a:t>
              </a:r>
              <a:r>
                <a:rPr lang="en-US" altLang="ko-KR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.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FD14EB1-BA12-EF09-DC43-1FC4D87F64BD}"/>
                </a:ext>
              </a:extLst>
            </p:cNvPr>
            <p:cNvSpPr txBox="1"/>
            <p:nvPr/>
          </p:nvSpPr>
          <p:spPr>
            <a:xfrm>
              <a:off x="4954664" y="6448658"/>
              <a:ext cx="7354851" cy="5848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Zn100 / 101 / 002 Plane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구조최적화 및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SCF (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in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Quantum Espresso )</a:t>
              </a:r>
            </a:p>
            <a:p>
              <a:pPr marL="228600" indent="-228600">
                <a:buAutoNum type="arabicPeriod"/>
              </a:pP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Zwitterionic form / Zn ion / H2O / Sulfate ion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구조 최적화 및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SCF</a:t>
              </a:r>
            </a:p>
            <a:p>
              <a:pPr marL="228600" indent="-228600">
                <a:buAutoNum type="arabicPeriod"/>
              </a:pP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각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Plane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에 각 흡착물질이 붙은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Complex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구조의 구조최적화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(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총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21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번의 계산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)*</a:t>
              </a:r>
              <a:br>
                <a:rPr lang="en-US" altLang="ko-KR" sz="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</a:br>
              <a:r>
                <a:rPr lang="en-US" altLang="ko-KR" sz="5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*[</a:t>
              </a:r>
              <a:r>
                <a:rPr lang="ko-KR" altLang="en-US" sz="5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두개의 </a:t>
              </a:r>
              <a:r>
                <a:rPr lang="en-US" altLang="ko-KR" sz="5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Zwitterionic form </a:t>
              </a:r>
              <a:r>
                <a:rPr lang="ko-KR" altLang="en-US" sz="5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각 분자의 양쪽 </a:t>
              </a:r>
              <a:r>
                <a:rPr lang="en-US" altLang="ko-KR" sz="5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terminal group</a:t>
              </a:r>
              <a:r>
                <a:rPr lang="ko-KR" altLang="en-US" sz="5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에 대해 각각의 흡착 케이스를 확인</a:t>
              </a:r>
              <a:r>
                <a:rPr lang="en-US" altLang="ko-KR" sz="5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(4 cases) + Zn ion / H2O / Sulfate ion (3 cases) ] X [ Zn100 / 101 / 002 (3 cases) ]</a:t>
              </a:r>
              <a:endParaRPr lang="en-US" altLang="ko-KR" sz="8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sp>
          <p:nvSpPr>
            <p:cNvPr id="53" name="화살표: 오른쪽 52">
              <a:extLst>
                <a:ext uri="{FF2B5EF4-FFF2-40B4-BE49-F238E27FC236}">
                  <a16:creationId xmlns:a16="http://schemas.microsoft.com/office/drawing/2014/main" id="{B38F59A9-1EA8-F112-958E-533D9B4BE6F9}"/>
                </a:ext>
              </a:extLst>
            </p:cNvPr>
            <p:cNvSpPr/>
            <p:nvPr/>
          </p:nvSpPr>
          <p:spPr>
            <a:xfrm>
              <a:off x="4879919" y="7039057"/>
              <a:ext cx="402480" cy="154555"/>
            </a:xfrm>
            <a:prstGeom prst="rightArrow">
              <a:avLst/>
            </a:prstGeom>
            <a:solidFill>
              <a:srgbClr val="2F5597"/>
            </a:solidFill>
            <a:ln>
              <a:solidFill>
                <a:srgbClr val="DDDD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2D52248-9327-93CC-98C9-9C5D3B5A2C74}"/>
                </a:ext>
              </a:extLst>
            </p:cNvPr>
            <p:cNvSpPr txBox="1"/>
            <p:nvPr/>
          </p:nvSpPr>
          <p:spPr>
            <a:xfrm>
              <a:off x="5268025" y="7001321"/>
              <a:ext cx="6713254" cy="3655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기대하는 결과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: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음전하를 띠는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carboxylate group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이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Zn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표면에 닿는 방향으로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AB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의 경우 더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vertical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한 형태로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Zn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표면에 흡착할 것으로 예상되고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AL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의 분자 내 상호작용에 의해 구부러진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conformation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상태로 더 약하고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vertical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하지 않게 흡착할 것으로 예상</a:t>
              </a:r>
              <a:endParaRPr lang="en-US" altLang="ko-KR" sz="7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sp>
          <p:nvSpPr>
            <p:cNvPr id="56" name="화살표: 오른쪽 55">
              <a:extLst>
                <a:ext uri="{FF2B5EF4-FFF2-40B4-BE49-F238E27FC236}">
                  <a16:creationId xmlns:a16="http://schemas.microsoft.com/office/drawing/2014/main" id="{99970AFA-F7D7-6E4E-D690-F0071587E520}"/>
                </a:ext>
              </a:extLst>
            </p:cNvPr>
            <p:cNvSpPr/>
            <p:nvPr/>
          </p:nvSpPr>
          <p:spPr>
            <a:xfrm>
              <a:off x="4879919" y="7383281"/>
              <a:ext cx="402480" cy="154555"/>
            </a:xfrm>
            <a:prstGeom prst="rightArrow">
              <a:avLst/>
            </a:prstGeom>
            <a:solidFill>
              <a:srgbClr val="2F5597"/>
            </a:solidFill>
            <a:ln>
              <a:solidFill>
                <a:srgbClr val="DDDD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884DA50-52C7-708E-E084-797899F95E29}"/>
                </a:ext>
              </a:extLst>
            </p:cNvPr>
            <p:cNvSpPr txBox="1"/>
            <p:nvPr/>
          </p:nvSpPr>
          <p:spPr>
            <a:xfrm>
              <a:off x="5268025" y="7344428"/>
              <a:ext cx="6713254" cy="237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추가 계산 요청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: Zn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표면에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AL, AB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분자가 흡착한 상태에서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AL, AB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분자와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Zn ion, H2O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혹은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Zn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표면과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Zn ion, H2O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사이의 흡착에너지가 계산이 가능할지</a:t>
              </a:r>
              <a:endParaRPr lang="en-US" altLang="ko-KR" sz="7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865FBDE1-3EEC-4C71-85EE-457322AD4A29}"/>
                </a:ext>
              </a:extLst>
            </p:cNvPr>
            <p:cNvSpPr/>
            <p:nvPr/>
          </p:nvSpPr>
          <p:spPr>
            <a:xfrm>
              <a:off x="4803197" y="7638362"/>
              <a:ext cx="7178082" cy="10773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7</a:t>
              </a:r>
              <a:endParaRPr lang="ko-KR" altLang="en-US" sz="20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BD2B300-2128-35E7-EBE0-20CAB6C5E8A4}"/>
                </a:ext>
              </a:extLst>
            </p:cNvPr>
            <p:cNvSpPr txBox="1"/>
            <p:nvPr/>
          </p:nvSpPr>
          <p:spPr>
            <a:xfrm>
              <a:off x="4813596" y="7618990"/>
              <a:ext cx="8120070" cy="255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2</a:t>
              </a:r>
              <a:r>
                <a:rPr lang="ko-KR" altLang="en-US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개의 </a:t>
              </a:r>
              <a:r>
                <a:rPr lang="en-US" altLang="ko-KR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Zwitterionic form</a:t>
              </a:r>
              <a:r>
                <a:rPr lang="ko-KR" altLang="en-US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에 대한 </a:t>
              </a:r>
              <a:r>
                <a:rPr lang="en-US" altLang="ko-KR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I</a:t>
              </a:r>
              <a:r>
                <a:rPr lang="en-US" altLang="ko-KR" sz="800" b="1" baseline="-25000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3</a:t>
              </a:r>
              <a:r>
                <a:rPr lang="en-US" altLang="ko-KR" sz="800" b="1" baseline="30000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-</a:t>
              </a:r>
              <a:r>
                <a:rPr lang="ko-KR" altLang="en-US" sz="800" b="1" dirty="0">
                  <a:highlight>
                    <a:srgbClr val="FFFF00"/>
                  </a:highlight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의 바인딩 에너지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A41954C-C86C-BAD2-D695-7E6C04FADB50}"/>
                </a:ext>
              </a:extLst>
            </p:cNvPr>
            <p:cNvSpPr txBox="1"/>
            <p:nvPr/>
          </p:nvSpPr>
          <p:spPr>
            <a:xfrm>
              <a:off x="4954664" y="7775212"/>
              <a:ext cx="7354851" cy="7676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I</a:t>
              </a:r>
              <a:r>
                <a:rPr lang="en-US" altLang="ko-KR" sz="700" baseline="-250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3</a:t>
              </a:r>
              <a:r>
                <a:rPr lang="en-US" altLang="ko-KR" sz="700" baseline="300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-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가 붙을 주요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Site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식별 및 리스트업</a:t>
              </a:r>
              <a:endParaRPr lang="en-US" altLang="ko-KR" sz="7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pPr marL="228600" indent="-228600">
                <a:buAutoNum type="arabicPeriod"/>
              </a:pPr>
              <a:r>
                <a:rPr lang="en-US" altLang="ko-KR" sz="8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I</a:t>
              </a:r>
              <a:r>
                <a:rPr lang="en-US" altLang="ko-KR" sz="800" baseline="-250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3</a:t>
              </a:r>
              <a:r>
                <a:rPr lang="en-US" altLang="ko-KR" sz="800" baseline="300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-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가 붙은 형태의 구조 최적화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(in orca)</a:t>
              </a:r>
            </a:p>
            <a:p>
              <a:pPr marL="228600" indent="-228600">
                <a:buAutoNum type="arabicPeriod"/>
              </a:pP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SCF 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계산</a:t>
              </a:r>
              <a:endParaRPr lang="en-US" altLang="ko-KR" sz="7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pPr marL="228600" indent="-228600">
                <a:buAutoNum type="arabicPeriod"/>
              </a:pP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독립 분자들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(Zwitterionic form &amp; I</a:t>
              </a:r>
              <a:r>
                <a:rPr lang="en-US" altLang="ko-KR" sz="700" baseline="-250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3</a:t>
              </a:r>
              <a:r>
                <a:rPr lang="en-US" altLang="ko-KR" sz="700" baseline="300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-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)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의 에너지 계산</a:t>
              </a:r>
              <a:endParaRPr lang="en-US" altLang="ko-KR" sz="7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  <a:p>
              <a:pPr marL="228600" indent="-228600">
                <a:buAutoNum type="arabicPeriod"/>
              </a:pP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차이를 통해 바인딩 에너지 도출</a:t>
              </a:r>
              <a:endParaRPr lang="en-US" altLang="ko-KR" sz="7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sp>
          <p:nvSpPr>
            <p:cNvPr id="47" name="화살표: 오른쪽 46">
              <a:extLst>
                <a:ext uri="{FF2B5EF4-FFF2-40B4-BE49-F238E27FC236}">
                  <a16:creationId xmlns:a16="http://schemas.microsoft.com/office/drawing/2014/main" id="{5F120662-EEAF-C929-CF30-468A711F007A}"/>
                </a:ext>
              </a:extLst>
            </p:cNvPr>
            <p:cNvSpPr/>
            <p:nvPr/>
          </p:nvSpPr>
          <p:spPr>
            <a:xfrm>
              <a:off x="4879921" y="8484219"/>
              <a:ext cx="402480" cy="154555"/>
            </a:xfrm>
            <a:prstGeom prst="rightArrow">
              <a:avLst/>
            </a:prstGeom>
            <a:solidFill>
              <a:srgbClr val="2F5597"/>
            </a:solidFill>
            <a:ln>
              <a:solidFill>
                <a:srgbClr val="DDDD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DF11BF0-607B-FAD1-7D83-DDD2DE2ED615}"/>
                </a:ext>
              </a:extLst>
            </p:cNvPr>
            <p:cNvSpPr txBox="1"/>
            <p:nvPr/>
          </p:nvSpPr>
          <p:spPr>
            <a:xfrm>
              <a:off x="5268025" y="8460339"/>
              <a:ext cx="6713253" cy="237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기대하는 결과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: Polarizability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가 더 높은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AB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가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I</a:t>
              </a:r>
              <a:r>
                <a:rPr lang="en-US" altLang="ko-KR" sz="700" baseline="300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-</a:t>
              </a:r>
              <a:r>
                <a:rPr lang="en-US" altLang="ko-KR" sz="700" baseline="-250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3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와 더 강한 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binding energy</a:t>
              </a:r>
              <a:r>
                <a:rPr lang="ko-KR" altLang="en-US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를 나타낼 것으로 예상됩니다</a:t>
              </a:r>
              <a:r>
                <a:rPr lang="en-US" altLang="ko-KR" sz="7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.</a:t>
              </a:r>
              <a:endParaRPr lang="ko-KR" altLang="en-US" sz="700" dirty="0"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C543C1C-02AE-E06E-2273-CA8E89799DD0}"/>
              </a:ext>
            </a:extLst>
          </p:cNvPr>
          <p:cNvSpPr/>
          <p:nvPr/>
        </p:nvSpPr>
        <p:spPr>
          <a:xfrm>
            <a:off x="4017002" y="5840843"/>
            <a:ext cx="294490" cy="907097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7</a:t>
            </a:r>
            <a:endParaRPr lang="ko-KR" altLang="en-US" sz="20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53B19047-131A-5252-D5B2-9A31D2B19C15}"/>
              </a:ext>
            </a:extLst>
          </p:cNvPr>
          <p:cNvSpPr/>
          <p:nvPr/>
        </p:nvSpPr>
        <p:spPr>
          <a:xfrm>
            <a:off x="3967856" y="2700292"/>
            <a:ext cx="7622937" cy="10782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43B0A93-F932-1924-AFFD-3E483AF986C1}"/>
              </a:ext>
            </a:extLst>
          </p:cNvPr>
          <p:cNvSpPr/>
          <p:nvPr/>
        </p:nvSpPr>
        <p:spPr>
          <a:xfrm>
            <a:off x="3967856" y="4544418"/>
            <a:ext cx="7622937" cy="13055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04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DEF80-4E2E-92E7-5D09-438BF2980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A0055D77-6740-33DC-A847-023E60415331}"/>
              </a:ext>
            </a:extLst>
          </p:cNvPr>
          <p:cNvSpPr txBox="1"/>
          <p:nvPr/>
        </p:nvSpPr>
        <p:spPr>
          <a:xfrm>
            <a:off x="599056" y="110050"/>
            <a:ext cx="8751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1" u="sng" dirty="0">
                <a:solidFill>
                  <a:srgbClr val="002060"/>
                </a:solidFill>
              </a:rPr>
              <a:t>2</a:t>
            </a:r>
            <a:r>
              <a:rPr lang="ko-KR" altLang="en-US" b="1" i="1" u="sng" dirty="0">
                <a:solidFill>
                  <a:srgbClr val="002060"/>
                </a:solidFill>
              </a:rPr>
              <a:t>개의 </a:t>
            </a:r>
            <a:r>
              <a:rPr lang="en-US" altLang="ko-KR" b="1" i="1" u="sng" dirty="0">
                <a:solidFill>
                  <a:srgbClr val="002060"/>
                </a:solidFill>
              </a:rPr>
              <a:t>Zwitterionic form</a:t>
            </a:r>
            <a:r>
              <a:rPr lang="ko-KR" altLang="en-US" b="1" i="1" u="sng" dirty="0">
                <a:solidFill>
                  <a:srgbClr val="002060"/>
                </a:solidFill>
              </a:rPr>
              <a:t>에 대한 </a:t>
            </a:r>
            <a:r>
              <a:rPr lang="en-US" altLang="ko-KR" b="1" i="1" u="sng" dirty="0">
                <a:solidFill>
                  <a:srgbClr val="002060"/>
                </a:solidFill>
              </a:rPr>
              <a:t>proton, hydroxide ion</a:t>
            </a:r>
            <a:r>
              <a:rPr lang="ko-KR" altLang="en-US" b="1" i="1" u="sng" dirty="0">
                <a:solidFill>
                  <a:srgbClr val="002060"/>
                </a:solidFill>
              </a:rPr>
              <a:t>의 바인딩 에너지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B1326AF7-AF62-64F0-7B4B-D5AD0CF32F0A}"/>
              </a:ext>
            </a:extLst>
          </p:cNvPr>
          <p:cNvSpPr/>
          <p:nvPr/>
        </p:nvSpPr>
        <p:spPr>
          <a:xfrm>
            <a:off x="2953803" y="471866"/>
            <a:ext cx="1060523" cy="282225"/>
          </a:xfrm>
          <a:prstGeom prst="ellipse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  <a:cs typeface="Arial" panose="020B0604020202020204" pitchFamily="34" charset="0"/>
            </a:endParaRPr>
          </a:p>
        </p:txBody>
      </p: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A831B0DD-79D5-87B4-0DAD-DDCBAF8224A9}"/>
              </a:ext>
            </a:extLst>
          </p:cNvPr>
          <p:cNvGrpSpPr/>
          <p:nvPr/>
        </p:nvGrpSpPr>
        <p:grpSpPr>
          <a:xfrm>
            <a:off x="6322762" y="2414638"/>
            <a:ext cx="1790849" cy="3809082"/>
            <a:chOff x="6322762" y="2082129"/>
            <a:chExt cx="1790849" cy="3809082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F07BD6BF-D248-6014-A544-9434697B6C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22762" y="2082129"/>
              <a:ext cx="1394248" cy="720000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D706600C-1235-6D87-22A4-1825C6662C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22762" y="3111823"/>
              <a:ext cx="1325942" cy="720000"/>
            </a:xfrm>
            <a:prstGeom prst="rect">
              <a:avLst/>
            </a:prstGeom>
          </p:spPr>
        </p:pic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B3FE1D61-158C-F2FD-BB2D-D0C407CBF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22762" y="4141517"/>
              <a:ext cx="1498065" cy="720000"/>
            </a:xfrm>
            <a:prstGeom prst="rect">
              <a:avLst/>
            </a:prstGeom>
          </p:spPr>
        </p:pic>
        <p:pic>
          <p:nvPicPr>
            <p:cNvPr id="115" name="그림 114">
              <a:extLst>
                <a:ext uri="{FF2B5EF4-FFF2-40B4-BE49-F238E27FC236}">
                  <a16:creationId xmlns:a16="http://schemas.microsoft.com/office/drawing/2014/main" id="{9F7F9A4D-E259-6215-B23A-8D968438C5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22762" y="5171211"/>
              <a:ext cx="1790849" cy="720000"/>
            </a:xfrm>
            <a:prstGeom prst="rect">
              <a:avLst/>
            </a:prstGeom>
          </p:spPr>
        </p:pic>
      </p:grpSp>
      <p:pic>
        <p:nvPicPr>
          <p:cNvPr id="24" name="그림 23">
            <a:extLst>
              <a:ext uri="{FF2B5EF4-FFF2-40B4-BE49-F238E27FC236}">
                <a16:creationId xmlns:a16="http://schemas.microsoft.com/office/drawing/2014/main" id="{9AB79578-3D71-61F1-4B47-FF16B849AB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4683" y="2414638"/>
            <a:ext cx="1656868" cy="720000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D22E0695-6B37-15E5-7D21-1FCE203A1E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2058" y="3444332"/>
            <a:ext cx="1239493" cy="720000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1FECDBCA-FB69-EAF3-F3F2-9BF9D52340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3724" y="4474026"/>
            <a:ext cx="1447827" cy="720000"/>
          </a:xfrm>
          <a:prstGeom prst="rect">
            <a:avLst/>
          </a:prstGeom>
        </p:spPr>
      </p:pic>
      <p:pic>
        <p:nvPicPr>
          <p:cNvPr id="118" name="그림 117">
            <a:extLst>
              <a:ext uri="{FF2B5EF4-FFF2-40B4-BE49-F238E27FC236}">
                <a16:creationId xmlns:a16="http://schemas.microsoft.com/office/drawing/2014/main" id="{83520B15-5200-FC69-5EED-F641092AC8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05614" y="5503720"/>
            <a:ext cx="1605937" cy="720000"/>
          </a:xfrm>
          <a:prstGeom prst="rect">
            <a:avLst/>
          </a:prstGeom>
        </p:spPr>
      </p:pic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D071FDFF-336C-BAAB-EF03-E7DF49AD58EA}"/>
              </a:ext>
            </a:extLst>
          </p:cNvPr>
          <p:cNvGrpSpPr/>
          <p:nvPr/>
        </p:nvGrpSpPr>
        <p:grpSpPr>
          <a:xfrm>
            <a:off x="391113" y="2414638"/>
            <a:ext cx="1135215" cy="3809080"/>
            <a:chOff x="391113" y="2082129"/>
            <a:chExt cx="1135215" cy="380908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FF615CE6-F73B-66ED-F880-E938A76D7B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91113" y="3111822"/>
              <a:ext cx="931979" cy="720000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4F8BBC11-7005-70E0-712F-397E5D5346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91113" y="4141516"/>
              <a:ext cx="851937" cy="720000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77E945CE-43B1-FFC5-1222-4261EBDB9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91113" y="5171209"/>
              <a:ext cx="1135215" cy="720000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05D01F1-0AD8-ED6E-DB3C-F982FCF198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91113" y="2082129"/>
              <a:ext cx="944887" cy="720000"/>
            </a:xfrm>
            <a:prstGeom prst="rect">
              <a:avLst/>
            </a:prstGeom>
          </p:spPr>
        </p:pic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09BCE198-029C-636E-7374-3DF55FD4F4B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49959" y="3444331"/>
            <a:ext cx="1001124" cy="720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FE2555B-E215-F2EF-B8A2-0CD43CEFD39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85137" y="4474024"/>
            <a:ext cx="1065946" cy="720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65D258CC-0763-40ED-BC2C-9A12D2B686C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54850" y="5503718"/>
            <a:ext cx="1096233" cy="720000"/>
          </a:xfrm>
          <a:prstGeom prst="rect">
            <a:avLst/>
          </a:prstGeom>
        </p:spPr>
      </p:pic>
      <p:pic>
        <p:nvPicPr>
          <p:cNvPr id="123" name="그림 122">
            <a:extLst>
              <a:ext uri="{FF2B5EF4-FFF2-40B4-BE49-F238E27FC236}">
                <a16:creationId xmlns:a16="http://schemas.microsoft.com/office/drawing/2014/main" id="{060B4518-8874-37CF-B963-9CB7E110C16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21016" y="2414638"/>
            <a:ext cx="930067" cy="720000"/>
          </a:xfrm>
          <a:prstGeom prst="rect">
            <a:avLst/>
          </a:prstGeom>
        </p:spPr>
      </p:pic>
      <p:sp>
        <p:nvSpPr>
          <p:cNvPr id="142" name="화살표: 오른쪽 141">
            <a:extLst>
              <a:ext uri="{FF2B5EF4-FFF2-40B4-BE49-F238E27FC236}">
                <a16:creationId xmlns:a16="http://schemas.microsoft.com/office/drawing/2014/main" id="{95211FB2-4515-20CD-DA41-76B91035C45C}"/>
              </a:ext>
            </a:extLst>
          </p:cNvPr>
          <p:cNvSpPr/>
          <p:nvPr/>
        </p:nvSpPr>
        <p:spPr>
          <a:xfrm>
            <a:off x="1814828" y="2682274"/>
            <a:ext cx="665018" cy="18472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화살표: 오른쪽 142">
            <a:extLst>
              <a:ext uri="{FF2B5EF4-FFF2-40B4-BE49-F238E27FC236}">
                <a16:creationId xmlns:a16="http://schemas.microsoft.com/office/drawing/2014/main" id="{C57E59DB-99BF-041B-DD0D-6B1327C26ACB}"/>
              </a:ext>
            </a:extLst>
          </p:cNvPr>
          <p:cNvSpPr/>
          <p:nvPr/>
        </p:nvSpPr>
        <p:spPr>
          <a:xfrm>
            <a:off x="1814828" y="3677775"/>
            <a:ext cx="665018" cy="18472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화살표: 오른쪽 143">
            <a:extLst>
              <a:ext uri="{FF2B5EF4-FFF2-40B4-BE49-F238E27FC236}">
                <a16:creationId xmlns:a16="http://schemas.microsoft.com/office/drawing/2014/main" id="{311006D8-E804-AF66-3D1E-513031B85BE7}"/>
              </a:ext>
            </a:extLst>
          </p:cNvPr>
          <p:cNvSpPr/>
          <p:nvPr/>
        </p:nvSpPr>
        <p:spPr>
          <a:xfrm>
            <a:off x="1814828" y="4741660"/>
            <a:ext cx="665018" cy="18472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화살표: 오른쪽 144">
            <a:extLst>
              <a:ext uri="{FF2B5EF4-FFF2-40B4-BE49-F238E27FC236}">
                <a16:creationId xmlns:a16="http://schemas.microsoft.com/office/drawing/2014/main" id="{62E63386-435E-5488-BBE7-650EC26A7620}"/>
              </a:ext>
            </a:extLst>
          </p:cNvPr>
          <p:cNvSpPr/>
          <p:nvPr/>
        </p:nvSpPr>
        <p:spPr>
          <a:xfrm>
            <a:off x="1814828" y="5771354"/>
            <a:ext cx="665018" cy="18472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250BCB1A-A2A0-1B9D-2F73-2322CE457204}"/>
              </a:ext>
            </a:extLst>
          </p:cNvPr>
          <p:cNvGrpSpPr/>
          <p:nvPr/>
        </p:nvGrpSpPr>
        <p:grpSpPr>
          <a:xfrm>
            <a:off x="8277872" y="2682274"/>
            <a:ext cx="665018" cy="3273807"/>
            <a:chOff x="1814828" y="2349765"/>
            <a:chExt cx="665018" cy="3273807"/>
          </a:xfrm>
        </p:grpSpPr>
        <p:sp>
          <p:nvSpPr>
            <p:cNvPr id="148" name="화살표: 오른쪽 147">
              <a:extLst>
                <a:ext uri="{FF2B5EF4-FFF2-40B4-BE49-F238E27FC236}">
                  <a16:creationId xmlns:a16="http://schemas.microsoft.com/office/drawing/2014/main" id="{04417C55-F594-423E-8998-011F0439164A}"/>
                </a:ext>
              </a:extLst>
            </p:cNvPr>
            <p:cNvSpPr/>
            <p:nvPr/>
          </p:nvSpPr>
          <p:spPr>
            <a:xfrm>
              <a:off x="1814828" y="2349765"/>
              <a:ext cx="665018" cy="184727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화살표: 오른쪽 148">
              <a:extLst>
                <a:ext uri="{FF2B5EF4-FFF2-40B4-BE49-F238E27FC236}">
                  <a16:creationId xmlns:a16="http://schemas.microsoft.com/office/drawing/2014/main" id="{0A102442-8A79-1E29-1452-7D085D64E3B8}"/>
                </a:ext>
              </a:extLst>
            </p:cNvPr>
            <p:cNvSpPr/>
            <p:nvPr/>
          </p:nvSpPr>
          <p:spPr>
            <a:xfrm>
              <a:off x="1814828" y="3345266"/>
              <a:ext cx="665018" cy="184727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" name="화살표: 오른쪽 149">
              <a:extLst>
                <a:ext uri="{FF2B5EF4-FFF2-40B4-BE49-F238E27FC236}">
                  <a16:creationId xmlns:a16="http://schemas.microsoft.com/office/drawing/2014/main" id="{D6F88C61-E4D7-5BC6-34D8-AD669D5FB65F}"/>
                </a:ext>
              </a:extLst>
            </p:cNvPr>
            <p:cNvSpPr/>
            <p:nvPr/>
          </p:nvSpPr>
          <p:spPr>
            <a:xfrm>
              <a:off x="1814828" y="4409151"/>
              <a:ext cx="665018" cy="184727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화살표: 오른쪽 150">
              <a:extLst>
                <a:ext uri="{FF2B5EF4-FFF2-40B4-BE49-F238E27FC236}">
                  <a16:creationId xmlns:a16="http://schemas.microsoft.com/office/drawing/2014/main" id="{BB8060DC-2FE7-3687-8E8F-056D6FD20099}"/>
                </a:ext>
              </a:extLst>
            </p:cNvPr>
            <p:cNvSpPr/>
            <p:nvPr/>
          </p:nvSpPr>
          <p:spPr>
            <a:xfrm>
              <a:off x="1814828" y="5438845"/>
              <a:ext cx="665018" cy="184727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01003302-1F7C-C7FE-FB88-291D7DA1DA6F}"/>
              </a:ext>
            </a:extLst>
          </p:cNvPr>
          <p:cNvSpPr txBox="1"/>
          <p:nvPr/>
        </p:nvSpPr>
        <p:spPr>
          <a:xfrm>
            <a:off x="1534397" y="2287732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CF72B8DC-1D85-CCAB-D06D-1A382D97C1B2}"/>
              </a:ext>
            </a:extLst>
          </p:cNvPr>
          <p:cNvSpPr txBox="1"/>
          <p:nvPr/>
        </p:nvSpPr>
        <p:spPr>
          <a:xfrm>
            <a:off x="1534397" y="3298116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D0B6620-D868-05D6-C13C-09493BCD298C}"/>
              </a:ext>
            </a:extLst>
          </p:cNvPr>
          <p:cNvSpPr txBox="1"/>
          <p:nvPr/>
        </p:nvSpPr>
        <p:spPr>
          <a:xfrm>
            <a:off x="1534397" y="4325656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2A1F650-4F97-8618-FB14-EFD2ED4FEAE3}"/>
              </a:ext>
            </a:extLst>
          </p:cNvPr>
          <p:cNvSpPr txBox="1"/>
          <p:nvPr/>
        </p:nvSpPr>
        <p:spPr>
          <a:xfrm>
            <a:off x="1534397" y="5386066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4E3E31A-4494-C352-98F0-539A14CC0BD2}"/>
              </a:ext>
            </a:extLst>
          </p:cNvPr>
          <p:cNvSpPr txBox="1"/>
          <p:nvPr/>
        </p:nvSpPr>
        <p:spPr>
          <a:xfrm>
            <a:off x="7997441" y="2287732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EC86A30F-6F24-7012-30FB-B56357005D33}"/>
              </a:ext>
            </a:extLst>
          </p:cNvPr>
          <p:cNvSpPr txBox="1"/>
          <p:nvPr/>
        </p:nvSpPr>
        <p:spPr>
          <a:xfrm>
            <a:off x="7997441" y="3298116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9121BFE-5A2D-6229-662B-7BD96A8FE0D7}"/>
              </a:ext>
            </a:extLst>
          </p:cNvPr>
          <p:cNvSpPr txBox="1"/>
          <p:nvPr/>
        </p:nvSpPr>
        <p:spPr>
          <a:xfrm>
            <a:off x="7997441" y="4325656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16FBC311-14EC-910F-CC94-31714E7FB74C}"/>
              </a:ext>
            </a:extLst>
          </p:cNvPr>
          <p:cNvSpPr txBox="1"/>
          <p:nvPr/>
        </p:nvSpPr>
        <p:spPr>
          <a:xfrm>
            <a:off x="7997441" y="5386066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DD82CAE-EE0C-11A0-F3D7-DCCFD12E43C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0673" y="1528073"/>
            <a:ext cx="252502" cy="369332"/>
          </a:xfrm>
          <a:prstGeom prst="rect">
            <a:avLst/>
          </a:prstGeom>
        </p:spPr>
      </p:pic>
      <p:pic>
        <p:nvPicPr>
          <p:cNvPr id="130" name="그림 129">
            <a:extLst>
              <a:ext uri="{FF2B5EF4-FFF2-40B4-BE49-F238E27FC236}">
                <a16:creationId xmlns:a16="http://schemas.microsoft.com/office/drawing/2014/main" id="{CD431791-2CE0-A16B-5E20-E82073DB7A8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22662" y="1528073"/>
            <a:ext cx="252502" cy="369332"/>
          </a:xfrm>
          <a:prstGeom prst="rect">
            <a:avLst/>
          </a:prstGeom>
        </p:spPr>
      </p:pic>
      <p:sp>
        <p:nvSpPr>
          <p:cNvPr id="162" name="화살표: 오른쪽 161">
            <a:extLst>
              <a:ext uri="{FF2B5EF4-FFF2-40B4-BE49-F238E27FC236}">
                <a16:creationId xmlns:a16="http://schemas.microsoft.com/office/drawing/2014/main" id="{F1C1480A-DEAD-DB54-A24B-822E9E3E6364}"/>
              </a:ext>
            </a:extLst>
          </p:cNvPr>
          <p:cNvSpPr/>
          <p:nvPr/>
        </p:nvSpPr>
        <p:spPr>
          <a:xfrm>
            <a:off x="1814828" y="1811703"/>
            <a:ext cx="665018" cy="18472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CA21A1FE-778E-CE34-90D6-B0E285673A4F}"/>
              </a:ext>
            </a:extLst>
          </p:cNvPr>
          <p:cNvSpPr txBox="1"/>
          <p:nvPr/>
        </p:nvSpPr>
        <p:spPr>
          <a:xfrm>
            <a:off x="1534397" y="1417161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922382D6-C706-F5B5-7046-19E982968FBC}"/>
              </a:ext>
            </a:extLst>
          </p:cNvPr>
          <p:cNvSpPr txBox="1"/>
          <p:nvPr/>
        </p:nvSpPr>
        <p:spPr>
          <a:xfrm>
            <a:off x="3980113" y="1620406"/>
            <a:ext cx="10014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200" b="1" dirty="0"/>
              <a:t>-75.918 </a:t>
            </a:r>
            <a:r>
              <a:rPr lang="en-US" altLang="ko-KR" sz="1200" b="1" dirty="0"/>
              <a:t>Eh</a:t>
            </a:r>
            <a:endParaRPr lang="ko-KR" altLang="en-US" b="1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19F640A6-DFB4-5D73-2FD9-6AD48F0F0358}"/>
              </a:ext>
            </a:extLst>
          </p:cNvPr>
          <p:cNvSpPr txBox="1"/>
          <p:nvPr/>
        </p:nvSpPr>
        <p:spPr>
          <a:xfrm>
            <a:off x="3879402" y="2636137"/>
            <a:ext cx="11021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-323.747 Eh</a:t>
            </a:r>
            <a:endParaRPr lang="ko-KR" altLang="en-US" b="1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96D4FAFF-7000-DB9A-2E90-EC420E83C1F7}"/>
              </a:ext>
            </a:extLst>
          </p:cNvPr>
          <p:cNvSpPr txBox="1"/>
          <p:nvPr/>
        </p:nvSpPr>
        <p:spPr>
          <a:xfrm>
            <a:off x="3879402" y="3671639"/>
            <a:ext cx="11021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-399.719 Eh</a:t>
            </a:r>
            <a:endParaRPr lang="ko-KR" altLang="en-US" b="1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623BD118-E747-83C1-4F9C-CAB781F531D8}"/>
              </a:ext>
            </a:extLst>
          </p:cNvPr>
          <p:cNvSpPr txBox="1"/>
          <p:nvPr/>
        </p:nvSpPr>
        <p:spPr>
          <a:xfrm>
            <a:off x="3879402" y="4707141"/>
            <a:ext cx="11021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-324.199 Eh</a:t>
            </a:r>
            <a:endParaRPr lang="ko-KR" altLang="en-US" b="1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57357523-A627-FEDD-5DD1-1265F851AD3B}"/>
              </a:ext>
            </a:extLst>
          </p:cNvPr>
          <p:cNvSpPr txBox="1"/>
          <p:nvPr/>
        </p:nvSpPr>
        <p:spPr>
          <a:xfrm>
            <a:off x="3879402" y="5783996"/>
            <a:ext cx="11021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-400.186 Eh</a:t>
            </a:r>
            <a:endParaRPr lang="ko-KR" altLang="en-US" b="1" dirty="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0374B2CB-3433-085E-F253-EB9ACAA44501}"/>
              </a:ext>
            </a:extLst>
          </p:cNvPr>
          <p:cNvSpPr txBox="1"/>
          <p:nvPr/>
        </p:nvSpPr>
        <p:spPr>
          <a:xfrm>
            <a:off x="10811551" y="2670656"/>
            <a:ext cx="11215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-363.039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Eh</a:t>
            </a:r>
            <a:endParaRPr lang="ko-KR" altLang="en-US" b="1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3C0512EF-0839-38BA-1712-0843D2BBC013}"/>
              </a:ext>
            </a:extLst>
          </p:cNvPr>
          <p:cNvSpPr txBox="1"/>
          <p:nvPr/>
        </p:nvSpPr>
        <p:spPr>
          <a:xfrm>
            <a:off x="10811551" y="3706158"/>
            <a:ext cx="11215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-439.020 Eh</a:t>
            </a:r>
            <a:endParaRPr lang="ko-KR" altLang="en-US" b="1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8ECC1B17-BFA9-34A5-1B4D-B0710F4C7FC6}"/>
              </a:ext>
            </a:extLst>
          </p:cNvPr>
          <p:cNvSpPr txBox="1"/>
          <p:nvPr/>
        </p:nvSpPr>
        <p:spPr>
          <a:xfrm>
            <a:off x="10811551" y="4741660"/>
            <a:ext cx="11215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-363.503 Eh</a:t>
            </a:r>
            <a:endParaRPr lang="ko-KR" altLang="en-US" b="1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021B4DDC-07AA-3DCD-B18F-48FD22C031E9}"/>
              </a:ext>
            </a:extLst>
          </p:cNvPr>
          <p:cNvSpPr txBox="1"/>
          <p:nvPr/>
        </p:nvSpPr>
        <p:spPr>
          <a:xfrm>
            <a:off x="10811551" y="5783996"/>
            <a:ext cx="11215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-439.488 Eh</a:t>
            </a:r>
            <a:endParaRPr lang="ko-KR" altLang="en-US" b="1" dirty="0"/>
          </a:p>
        </p:txBody>
      </p:sp>
      <p:pic>
        <p:nvPicPr>
          <p:cNvPr id="176" name="그림 175">
            <a:extLst>
              <a:ext uri="{FF2B5EF4-FFF2-40B4-BE49-F238E27FC236}">
                <a16:creationId xmlns:a16="http://schemas.microsoft.com/office/drawing/2014/main" id="{595DA1ED-8795-157B-A062-FEAEE23FBA5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4527" y="812879"/>
            <a:ext cx="244793" cy="215121"/>
          </a:xfrm>
          <a:prstGeom prst="rect">
            <a:avLst/>
          </a:prstGeom>
        </p:spPr>
      </p:pic>
      <p:sp>
        <p:nvSpPr>
          <p:cNvPr id="177" name="TextBox 176">
            <a:extLst>
              <a:ext uri="{FF2B5EF4-FFF2-40B4-BE49-F238E27FC236}">
                <a16:creationId xmlns:a16="http://schemas.microsoft.com/office/drawing/2014/main" id="{B0FCB3CF-ED07-54E5-54C0-DC985B14DCEB}"/>
              </a:ext>
            </a:extLst>
          </p:cNvPr>
          <p:cNvSpPr txBox="1"/>
          <p:nvPr/>
        </p:nvSpPr>
        <p:spPr>
          <a:xfrm>
            <a:off x="1383050" y="774095"/>
            <a:ext cx="15707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H</a:t>
            </a:r>
            <a:r>
              <a:rPr lang="en-US" altLang="ko-KR" sz="1100" b="1" baseline="30000" dirty="0"/>
              <a:t>+</a:t>
            </a:r>
            <a:r>
              <a:rPr lang="en-US" altLang="ko-KR" sz="1100" b="1" dirty="0"/>
              <a:t> proton</a:t>
            </a:r>
            <a:endParaRPr lang="ko-KR" altLang="en-US" b="1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8D701E38-3738-9F08-3C6D-A3167018D72F}"/>
              </a:ext>
            </a:extLst>
          </p:cNvPr>
          <p:cNvSpPr txBox="1"/>
          <p:nvPr/>
        </p:nvSpPr>
        <p:spPr>
          <a:xfrm>
            <a:off x="3695439" y="774095"/>
            <a:ext cx="15707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0 Eh</a:t>
            </a:r>
            <a:endParaRPr lang="ko-KR" altLang="en-US" b="1" dirty="0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D5A436BC-0ACB-E33A-B87B-F1074447162F}"/>
              </a:ext>
            </a:extLst>
          </p:cNvPr>
          <p:cNvSpPr txBox="1"/>
          <p:nvPr/>
        </p:nvSpPr>
        <p:spPr>
          <a:xfrm>
            <a:off x="90225" y="2151600"/>
            <a:ext cx="731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Alanine</a:t>
            </a:r>
            <a:endParaRPr lang="ko-KR" altLang="en-US" sz="1200" b="1" i="1" u="sng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E920D279-03C1-42DA-81D0-608B35B6E292}"/>
              </a:ext>
            </a:extLst>
          </p:cNvPr>
          <p:cNvSpPr txBox="1"/>
          <p:nvPr/>
        </p:nvSpPr>
        <p:spPr>
          <a:xfrm>
            <a:off x="90225" y="3167332"/>
            <a:ext cx="731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Alanine</a:t>
            </a:r>
            <a:endParaRPr lang="ko-KR" altLang="en-US" sz="1200" b="1" i="1" u="sng" dirty="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0CFB2017-2110-1C90-5CEC-2A8540D49283}"/>
              </a:ext>
            </a:extLst>
          </p:cNvPr>
          <p:cNvSpPr txBox="1"/>
          <p:nvPr/>
        </p:nvSpPr>
        <p:spPr>
          <a:xfrm>
            <a:off x="705861" y="3167332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170D7CAD-6B43-2704-977A-EDFA22B50CF6}"/>
              </a:ext>
            </a:extLst>
          </p:cNvPr>
          <p:cNvSpPr txBox="1"/>
          <p:nvPr/>
        </p:nvSpPr>
        <p:spPr>
          <a:xfrm>
            <a:off x="889168" y="3167332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OH</a:t>
            </a:r>
            <a:r>
              <a:rPr lang="ko-KR" altLang="en-US" sz="1200" b="1" i="1" u="sng" baseline="30000" dirty="0" err="1"/>
              <a:t>ㅡ</a:t>
            </a:r>
            <a:endParaRPr lang="ko-KR" altLang="en-US" sz="1200" b="1" i="1" u="sng" dirty="0"/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A6AF2B30-5041-8E09-9911-EDD3F093DCC5}"/>
              </a:ext>
            </a:extLst>
          </p:cNvPr>
          <p:cNvSpPr txBox="1"/>
          <p:nvPr/>
        </p:nvSpPr>
        <p:spPr>
          <a:xfrm>
            <a:off x="90225" y="4197025"/>
            <a:ext cx="731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Alanine</a:t>
            </a:r>
            <a:endParaRPr lang="ko-KR" altLang="en-US" sz="1200" b="1" i="1" u="sng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9B1A619-8E1F-729F-0208-088D8F0A365C}"/>
              </a:ext>
            </a:extLst>
          </p:cNvPr>
          <p:cNvSpPr txBox="1"/>
          <p:nvPr/>
        </p:nvSpPr>
        <p:spPr>
          <a:xfrm>
            <a:off x="705861" y="4197025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8093B311-ABB2-2A55-8C15-4E3EB9580337}"/>
              </a:ext>
            </a:extLst>
          </p:cNvPr>
          <p:cNvSpPr txBox="1"/>
          <p:nvPr/>
        </p:nvSpPr>
        <p:spPr>
          <a:xfrm>
            <a:off x="963708" y="4197025"/>
            <a:ext cx="377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H</a:t>
            </a:r>
            <a:r>
              <a:rPr lang="en-US" altLang="ko-KR" sz="1200" b="1" i="1" u="sng" baseline="30000" dirty="0"/>
              <a:t>+</a:t>
            </a:r>
            <a:endParaRPr lang="ko-KR" altLang="en-US" sz="1200" b="1" i="1" u="sng" dirty="0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474E3189-D8EC-4E7C-7F50-435763C5D80C}"/>
              </a:ext>
            </a:extLst>
          </p:cNvPr>
          <p:cNvSpPr txBox="1"/>
          <p:nvPr/>
        </p:nvSpPr>
        <p:spPr>
          <a:xfrm>
            <a:off x="90225" y="5226718"/>
            <a:ext cx="731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Alanine</a:t>
            </a:r>
            <a:endParaRPr lang="ko-KR" altLang="en-US" sz="1200" b="1" i="1" u="sng" dirty="0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E9DD9D13-BCCF-42B8-6B2F-F9FF6C07591D}"/>
              </a:ext>
            </a:extLst>
          </p:cNvPr>
          <p:cNvSpPr txBox="1"/>
          <p:nvPr/>
        </p:nvSpPr>
        <p:spPr>
          <a:xfrm>
            <a:off x="705861" y="5226718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49230EC3-87DC-7D00-1EFF-9B1CC4151172}"/>
              </a:ext>
            </a:extLst>
          </p:cNvPr>
          <p:cNvSpPr txBox="1"/>
          <p:nvPr/>
        </p:nvSpPr>
        <p:spPr>
          <a:xfrm>
            <a:off x="948468" y="5226718"/>
            <a:ext cx="377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H</a:t>
            </a:r>
            <a:r>
              <a:rPr lang="en-US" altLang="ko-KR" sz="1200" b="1" i="1" u="sng" baseline="30000" dirty="0"/>
              <a:t>+</a:t>
            </a:r>
            <a:endParaRPr lang="ko-KR" altLang="en-US" sz="1200" b="1" i="1" u="sng" dirty="0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530496BD-C8F4-3978-2AEF-C2E5D182F533}"/>
              </a:ext>
            </a:extLst>
          </p:cNvPr>
          <p:cNvSpPr txBox="1"/>
          <p:nvPr/>
        </p:nvSpPr>
        <p:spPr>
          <a:xfrm>
            <a:off x="1243050" y="5226089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BC353C75-5FE5-2CEB-B19E-7AC386C22DF2}"/>
              </a:ext>
            </a:extLst>
          </p:cNvPr>
          <p:cNvSpPr txBox="1"/>
          <p:nvPr/>
        </p:nvSpPr>
        <p:spPr>
          <a:xfrm>
            <a:off x="1426357" y="5226089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OH</a:t>
            </a:r>
            <a:r>
              <a:rPr lang="ko-KR" altLang="en-US" sz="1200" b="1" i="1" u="sng" baseline="30000" dirty="0" err="1"/>
              <a:t>ㅡ</a:t>
            </a:r>
            <a:endParaRPr lang="ko-KR" altLang="en-US" sz="1200" b="1" i="1" u="sng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84DBB288-1871-6C31-2D17-16D0BA9781C8}"/>
              </a:ext>
            </a:extLst>
          </p:cNvPr>
          <p:cNvSpPr txBox="1"/>
          <p:nvPr/>
        </p:nvSpPr>
        <p:spPr>
          <a:xfrm>
            <a:off x="5565613" y="2151600"/>
            <a:ext cx="1505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 err="1"/>
              <a:t>Aminobutylic</a:t>
            </a:r>
            <a:r>
              <a:rPr lang="en-US" altLang="ko-KR" sz="1200" b="1" i="1" u="sng" dirty="0"/>
              <a:t> acid</a:t>
            </a:r>
            <a:endParaRPr lang="ko-KR" altLang="en-US" sz="1200" b="1" i="1" u="sng" dirty="0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6CA5C47C-DA54-4384-DD5A-FA5553B69A1A}"/>
              </a:ext>
            </a:extLst>
          </p:cNvPr>
          <p:cNvSpPr txBox="1"/>
          <p:nvPr/>
        </p:nvSpPr>
        <p:spPr>
          <a:xfrm>
            <a:off x="5565613" y="3167332"/>
            <a:ext cx="1505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 err="1"/>
              <a:t>Aminobutylic</a:t>
            </a:r>
            <a:r>
              <a:rPr lang="en-US" altLang="ko-KR" sz="1200" b="1" i="1" u="sng" dirty="0"/>
              <a:t> acid</a:t>
            </a:r>
            <a:endParaRPr lang="ko-KR" altLang="en-US" sz="1200" b="1" i="1" u="sng" dirty="0"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1A9FB178-D9FD-E870-8DB5-EB4DBA176622}"/>
              </a:ext>
            </a:extLst>
          </p:cNvPr>
          <p:cNvSpPr txBox="1"/>
          <p:nvPr/>
        </p:nvSpPr>
        <p:spPr>
          <a:xfrm>
            <a:off x="7023627" y="3167332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80737983-A524-8D52-EE1C-A9E8B19BA8DF}"/>
              </a:ext>
            </a:extLst>
          </p:cNvPr>
          <p:cNvSpPr txBox="1"/>
          <p:nvPr/>
        </p:nvSpPr>
        <p:spPr>
          <a:xfrm>
            <a:off x="7206934" y="3167332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OH</a:t>
            </a:r>
            <a:r>
              <a:rPr lang="ko-KR" altLang="en-US" sz="1200" b="1" i="1" u="sng" baseline="30000" dirty="0" err="1"/>
              <a:t>ㅡ</a:t>
            </a:r>
            <a:endParaRPr lang="ko-KR" altLang="en-US" sz="1200" b="1" i="1" u="sng" dirty="0"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4BFE88B1-BA62-261F-F37D-9B8C8BC8182F}"/>
              </a:ext>
            </a:extLst>
          </p:cNvPr>
          <p:cNvSpPr txBox="1"/>
          <p:nvPr/>
        </p:nvSpPr>
        <p:spPr>
          <a:xfrm>
            <a:off x="5565613" y="4197025"/>
            <a:ext cx="1505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 err="1"/>
              <a:t>Aminobutylic</a:t>
            </a:r>
            <a:r>
              <a:rPr lang="en-US" altLang="ko-KR" sz="1200" b="1" i="1" u="sng" dirty="0"/>
              <a:t> acid</a:t>
            </a:r>
            <a:endParaRPr lang="ko-KR" altLang="en-US" sz="1200" b="1" i="1" u="sng" dirty="0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F28EA0AD-2037-9E7D-A1EF-6001B059E5C0}"/>
              </a:ext>
            </a:extLst>
          </p:cNvPr>
          <p:cNvSpPr txBox="1"/>
          <p:nvPr/>
        </p:nvSpPr>
        <p:spPr>
          <a:xfrm>
            <a:off x="7023627" y="4197025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CDE3207D-8DD3-AD80-1A37-C6C8A19CEB11}"/>
              </a:ext>
            </a:extLst>
          </p:cNvPr>
          <p:cNvSpPr txBox="1"/>
          <p:nvPr/>
        </p:nvSpPr>
        <p:spPr>
          <a:xfrm>
            <a:off x="7281474" y="4197025"/>
            <a:ext cx="377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H</a:t>
            </a:r>
            <a:r>
              <a:rPr lang="en-US" altLang="ko-KR" sz="1200" b="1" i="1" u="sng" baseline="30000" dirty="0"/>
              <a:t>+</a:t>
            </a:r>
            <a:endParaRPr lang="ko-KR" altLang="en-US" sz="1200" b="1" i="1" u="sng" dirty="0"/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61301590-31D4-C164-C094-4D55DB76DF91}"/>
              </a:ext>
            </a:extLst>
          </p:cNvPr>
          <p:cNvSpPr txBox="1"/>
          <p:nvPr/>
        </p:nvSpPr>
        <p:spPr>
          <a:xfrm>
            <a:off x="5565613" y="5226718"/>
            <a:ext cx="1505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 err="1"/>
              <a:t>Aminobutylic</a:t>
            </a:r>
            <a:r>
              <a:rPr lang="en-US" altLang="ko-KR" sz="1200" b="1" i="1" u="sng" dirty="0"/>
              <a:t> acid</a:t>
            </a:r>
            <a:endParaRPr lang="ko-KR" altLang="en-US" sz="1200" b="1" i="1" u="sng" dirty="0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25F2DEA2-2E50-3A51-C193-0C41B08A84DC}"/>
              </a:ext>
            </a:extLst>
          </p:cNvPr>
          <p:cNvSpPr txBox="1"/>
          <p:nvPr/>
        </p:nvSpPr>
        <p:spPr>
          <a:xfrm>
            <a:off x="7023627" y="5226718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87E04E67-5B82-6C12-2CE1-F43FD7333410}"/>
              </a:ext>
            </a:extLst>
          </p:cNvPr>
          <p:cNvSpPr txBox="1"/>
          <p:nvPr/>
        </p:nvSpPr>
        <p:spPr>
          <a:xfrm>
            <a:off x="7266234" y="5226718"/>
            <a:ext cx="377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H</a:t>
            </a:r>
            <a:r>
              <a:rPr lang="en-US" altLang="ko-KR" sz="1200" b="1" i="1" u="sng" baseline="30000" dirty="0"/>
              <a:t>+</a:t>
            </a:r>
            <a:endParaRPr lang="ko-KR" altLang="en-US" sz="1200" b="1" i="1" u="sng" dirty="0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5BE1CCBF-04A3-950C-9AC0-C69699DA6359}"/>
              </a:ext>
            </a:extLst>
          </p:cNvPr>
          <p:cNvSpPr txBox="1"/>
          <p:nvPr/>
        </p:nvSpPr>
        <p:spPr>
          <a:xfrm>
            <a:off x="7560816" y="5226089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6BDC897F-310C-421D-F39A-3E615BE990D4}"/>
              </a:ext>
            </a:extLst>
          </p:cNvPr>
          <p:cNvSpPr txBox="1"/>
          <p:nvPr/>
        </p:nvSpPr>
        <p:spPr>
          <a:xfrm>
            <a:off x="7744123" y="5226089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OH</a:t>
            </a:r>
            <a:r>
              <a:rPr lang="ko-KR" altLang="en-US" sz="1200" b="1" i="1" u="sng" baseline="30000" dirty="0" err="1"/>
              <a:t>ㅡ</a:t>
            </a:r>
            <a:endParaRPr lang="ko-KR" altLang="en-US" sz="1200" b="1" i="1" u="sng" dirty="0"/>
          </a:p>
        </p:txBody>
      </p:sp>
    </p:spTree>
    <p:extLst>
      <p:ext uri="{BB962C8B-B14F-4D97-AF65-F5344CB8AC3E}">
        <p14:creationId xmlns:p14="http://schemas.microsoft.com/office/powerpoint/2010/main" val="3884448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89C57-3F51-2B5C-C039-08760EC3F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A5D4E4CA-2F27-4FB2-722F-3878FA635FDD}"/>
              </a:ext>
            </a:extLst>
          </p:cNvPr>
          <p:cNvSpPr txBox="1"/>
          <p:nvPr/>
        </p:nvSpPr>
        <p:spPr>
          <a:xfrm>
            <a:off x="599056" y="110050"/>
            <a:ext cx="8751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1" u="sng" dirty="0">
                <a:solidFill>
                  <a:srgbClr val="002060"/>
                </a:solidFill>
              </a:rPr>
              <a:t>2</a:t>
            </a:r>
            <a:r>
              <a:rPr lang="ko-KR" altLang="en-US" b="1" i="1" u="sng" dirty="0">
                <a:solidFill>
                  <a:srgbClr val="002060"/>
                </a:solidFill>
              </a:rPr>
              <a:t>개의 </a:t>
            </a:r>
            <a:r>
              <a:rPr lang="en-US" altLang="ko-KR" b="1" i="1" u="sng" dirty="0">
                <a:solidFill>
                  <a:srgbClr val="002060"/>
                </a:solidFill>
              </a:rPr>
              <a:t>Zwitterionic form</a:t>
            </a:r>
            <a:r>
              <a:rPr lang="ko-KR" altLang="en-US" b="1" i="1" u="sng" dirty="0">
                <a:solidFill>
                  <a:srgbClr val="002060"/>
                </a:solidFill>
              </a:rPr>
              <a:t>에 대한 </a:t>
            </a:r>
            <a:r>
              <a:rPr lang="en-US" altLang="ko-KR" b="1" i="1" u="sng" dirty="0">
                <a:solidFill>
                  <a:srgbClr val="002060"/>
                </a:solidFill>
              </a:rPr>
              <a:t>proton, hydroxide ion</a:t>
            </a:r>
            <a:r>
              <a:rPr lang="ko-KR" altLang="en-US" b="1" i="1" u="sng" dirty="0">
                <a:solidFill>
                  <a:srgbClr val="002060"/>
                </a:solidFill>
              </a:rPr>
              <a:t>의 바인딩 에너지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A35A24F0-511A-F97B-C8DA-E884C4DF5C89}"/>
              </a:ext>
            </a:extLst>
          </p:cNvPr>
          <p:cNvSpPr/>
          <p:nvPr/>
        </p:nvSpPr>
        <p:spPr>
          <a:xfrm>
            <a:off x="2953803" y="471866"/>
            <a:ext cx="1060523" cy="282225"/>
          </a:xfrm>
          <a:prstGeom prst="ellipse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  <a:cs typeface="Arial" panose="020B0604020202020204" pitchFamily="34" charset="0"/>
            </a:endParaRPr>
          </a:p>
        </p:txBody>
      </p: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3893808C-5AA5-CEFF-9823-C0C25AD690EF}"/>
              </a:ext>
            </a:extLst>
          </p:cNvPr>
          <p:cNvGrpSpPr/>
          <p:nvPr/>
        </p:nvGrpSpPr>
        <p:grpSpPr>
          <a:xfrm>
            <a:off x="6322762" y="2414638"/>
            <a:ext cx="1790849" cy="3809082"/>
            <a:chOff x="6322762" y="2082129"/>
            <a:chExt cx="1790849" cy="3809082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70F7C5A6-F0EA-4226-9528-166BC5554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22762" y="2082129"/>
              <a:ext cx="1394248" cy="720000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9AF60E34-E704-BF2C-9476-700468A9D1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22762" y="3111823"/>
              <a:ext cx="1325942" cy="720000"/>
            </a:xfrm>
            <a:prstGeom prst="rect">
              <a:avLst/>
            </a:prstGeom>
          </p:spPr>
        </p:pic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3E6FC099-99A9-0DAD-35E3-DD8C36B991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22762" y="4141517"/>
              <a:ext cx="1498065" cy="720000"/>
            </a:xfrm>
            <a:prstGeom prst="rect">
              <a:avLst/>
            </a:prstGeom>
          </p:spPr>
        </p:pic>
        <p:pic>
          <p:nvPicPr>
            <p:cNvPr id="115" name="그림 114">
              <a:extLst>
                <a:ext uri="{FF2B5EF4-FFF2-40B4-BE49-F238E27FC236}">
                  <a16:creationId xmlns:a16="http://schemas.microsoft.com/office/drawing/2014/main" id="{9C705638-0FEE-0001-94E3-9C518A0BB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22762" y="5171211"/>
              <a:ext cx="1790849" cy="720000"/>
            </a:xfrm>
            <a:prstGeom prst="rect">
              <a:avLst/>
            </a:prstGeom>
          </p:spPr>
        </p:pic>
      </p:grpSp>
      <p:pic>
        <p:nvPicPr>
          <p:cNvPr id="24" name="그림 23">
            <a:extLst>
              <a:ext uri="{FF2B5EF4-FFF2-40B4-BE49-F238E27FC236}">
                <a16:creationId xmlns:a16="http://schemas.microsoft.com/office/drawing/2014/main" id="{DDCF8CBD-3CF2-AF7D-95A9-0652D243AD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4683" y="2414638"/>
            <a:ext cx="1656868" cy="720000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7B9208CB-7E9B-3F50-F233-9B5F3D1B9A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2058" y="3444332"/>
            <a:ext cx="1239493" cy="720000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A97BD4A6-FE98-E6C2-EA49-721D96EA21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3724" y="4474026"/>
            <a:ext cx="1447827" cy="720000"/>
          </a:xfrm>
          <a:prstGeom prst="rect">
            <a:avLst/>
          </a:prstGeom>
        </p:spPr>
      </p:pic>
      <p:pic>
        <p:nvPicPr>
          <p:cNvPr id="118" name="그림 117">
            <a:extLst>
              <a:ext uri="{FF2B5EF4-FFF2-40B4-BE49-F238E27FC236}">
                <a16:creationId xmlns:a16="http://schemas.microsoft.com/office/drawing/2014/main" id="{F7B48368-2ACC-906E-DA27-275E3FA16F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05614" y="5503720"/>
            <a:ext cx="1605937" cy="720000"/>
          </a:xfrm>
          <a:prstGeom prst="rect">
            <a:avLst/>
          </a:prstGeom>
        </p:spPr>
      </p:pic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85F00C2F-1F6B-ADAE-06AC-2A7CF55BCD60}"/>
              </a:ext>
            </a:extLst>
          </p:cNvPr>
          <p:cNvGrpSpPr/>
          <p:nvPr/>
        </p:nvGrpSpPr>
        <p:grpSpPr>
          <a:xfrm>
            <a:off x="391113" y="2414638"/>
            <a:ext cx="1135215" cy="3809080"/>
            <a:chOff x="391113" y="2082129"/>
            <a:chExt cx="1135215" cy="380908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BA66597D-4DC8-C322-64AD-7B98E3F02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91113" y="3111822"/>
              <a:ext cx="931979" cy="720000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502F3790-CB14-D64D-3938-1AE125989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91113" y="4141516"/>
              <a:ext cx="851937" cy="720000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AD1ED361-94A0-CF7E-8E5B-BD21698573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91113" y="5171209"/>
              <a:ext cx="1135215" cy="720000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EE7702A3-6D48-3C60-8FF4-20F32A151E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91113" y="2082129"/>
              <a:ext cx="944887" cy="720000"/>
            </a:xfrm>
            <a:prstGeom prst="rect">
              <a:avLst/>
            </a:prstGeom>
          </p:spPr>
        </p:pic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4F4432BC-0B27-D765-069E-8B943140BF9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49959" y="3444331"/>
            <a:ext cx="1001124" cy="720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99B6242-E524-0641-D03B-4E1182A1271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85137" y="4474024"/>
            <a:ext cx="1065946" cy="720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0AEFB9EC-7F46-6BA1-1B4C-01680445602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54850" y="5503718"/>
            <a:ext cx="1096233" cy="720000"/>
          </a:xfrm>
          <a:prstGeom prst="rect">
            <a:avLst/>
          </a:prstGeom>
        </p:spPr>
      </p:pic>
      <p:pic>
        <p:nvPicPr>
          <p:cNvPr id="123" name="그림 122">
            <a:extLst>
              <a:ext uri="{FF2B5EF4-FFF2-40B4-BE49-F238E27FC236}">
                <a16:creationId xmlns:a16="http://schemas.microsoft.com/office/drawing/2014/main" id="{8C246EA1-6B08-529E-76E6-2C80065E6E5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21016" y="2414638"/>
            <a:ext cx="930067" cy="720000"/>
          </a:xfrm>
          <a:prstGeom prst="rect">
            <a:avLst/>
          </a:prstGeom>
        </p:spPr>
      </p:pic>
      <p:sp>
        <p:nvSpPr>
          <p:cNvPr id="142" name="화살표: 오른쪽 141">
            <a:extLst>
              <a:ext uri="{FF2B5EF4-FFF2-40B4-BE49-F238E27FC236}">
                <a16:creationId xmlns:a16="http://schemas.microsoft.com/office/drawing/2014/main" id="{E67913D4-17BB-299A-E655-E92EB69472B5}"/>
              </a:ext>
            </a:extLst>
          </p:cNvPr>
          <p:cNvSpPr/>
          <p:nvPr/>
        </p:nvSpPr>
        <p:spPr>
          <a:xfrm>
            <a:off x="1814828" y="2682274"/>
            <a:ext cx="665018" cy="18472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화살표: 오른쪽 142">
            <a:extLst>
              <a:ext uri="{FF2B5EF4-FFF2-40B4-BE49-F238E27FC236}">
                <a16:creationId xmlns:a16="http://schemas.microsoft.com/office/drawing/2014/main" id="{E0B4AFDC-F8D3-8485-4F55-369063D14DE2}"/>
              </a:ext>
            </a:extLst>
          </p:cNvPr>
          <p:cNvSpPr/>
          <p:nvPr/>
        </p:nvSpPr>
        <p:spPr>
          <a:xfrm>
            <a:off x="1814828" y="3677775"/>
            <a:ext cx="665018" cy="18472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화살표: 오른쪽 143">
            <a:extLst>
              <a:ext uri="{FF2B5EF4-FFF2-40B4-BE49-F238E27FC236}">
                <a16:creationId xmlns:a16="http://schemas.microsoft.com/office/drawing/2014/main" id="{595C9301-C322-1AE1-4FAF-32C5C9E913A6}"/>
              </a:ext>
            </a:extLst>
          </p:cNvPr>
          <p:cNvSpPr/>
          <p:nvPr/>
        </p:nvSpPr>
        <p:spPr>
          <a:xfrm>
            <a:off x="1814828" y="4741660"/>
            <a:ext cx="665018" cy="18472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화살표: 오른쪽 144">
            <a:extLst>
              <a:ext uri="{FF2B5EF4-FFF2-40B4-BE49-F238E27FC236}">
                <a16:creationId xmlns:a16="http://schemas.microsoft.com/office/drawing/2014/main" id="{622183F7-9089-03A1-A8D7-44DC6F873CC3}"/>
              </a:ext>
            </a:extLst>
          </p:cNvPr>
          <p:cNvSpPr/>
          <p:nvPr/>
        </p:nvSpPr>
        <p:spPr>
          <a:xfrm>
            <a:off x="1814828" y="5771354"/>
            <a:ext cx="665018" cy="18472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4CB3FEBF-B8E3-D46A-8DC4-A77CC417250B}"/>
              </a:ext>
            </a:extLst>
          </p:cNvPr>
          <p:cNvGrpSpPr/>
          <p:nvPr/>
        </p:nvGrpSpPr>
        <p:grpSpPr>
          <a:xfrm>
            <a:off x="8277872" y="2682274"/>
            <a:ext cx="665018" cy="3273807"/>
            <a:chOff x="1814828" y="2349765"/>
            <a:chExt cx="665018" cy="3273807"/>
          </a:xfrm>
        </p:grpSpPr>
        <p:sp>
          <p:nvSpPr>
            <p:cNvPr id="148" name="화살표: 오른쪽 147">
              <a:extLst>
                <a:ext uri="{FF2B5EF4-FFF2-40B4-BE49-F238E27FC236}">
                  <a16:creationId xmlns:a16="http://schemas.microsoft.com/office/drawing/2014/main" id="{1CB00555-0F97-2715-0224-A61EC97317B6}"/>
                </a:ext>
              </a:extLst>
            </p:cNvPr>
            <p:cNvSpPr/>
            <p:nvPr/>
          </p:nvSpPr>
          <p:spPr>
            <a:xfrm>
              <a:off x="1814828" y="2349765"/>
              <a:ext cx="665018" cy="184727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화살표: 오른쪽 148">
              <a:extLst>
                <a:ext uri="{FF2B5EF4-FFF2-40B4-BE49-F238E27FC236}">
                  <a16:creationId xmlns:a16="http://schemas.microsoft.com/office/drawing/2014/main" id="{3E2DF1D3-0B8B-4214-CFCB-9464375ECF26}"/>
                </a:ext>
              </a:extLst>
            </p:cNvPr>
            <p:cNvSpPr/>
            <p:nvPr/>
          </p:nvSpPr>
          <p:spPr>
            <a:xfrm>
              <a:off x="1814828" y="3345266"/>
              <a:ext cx="665018" cy="184727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" name="화살표: 오른쪽 149">
              <a:extLst>
                <a:ext uri="{FF2B5EF4-FFF2-40B4-BE49-F238E27FC236}">
                  <a16:creationId xmlns:a16="http://schemas.microsoft.com/office/drawing/2014/main" id="{C654CE31-4E5D-0DDD-33C8-7ABBD4434978}"/>
                </a:ext>
              </a:extLst>
            </p:cNvPr>
            <p:cNvSpPr/>
            <p:nvPr/>
          </p:nvSpPr>
          <p:spPr>
            <a:xfrm>
              <a:off x="1814828" y="4409151"/>
              <a:ext cx="665018" cy="184727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화살표: 오른쪽 150">
              <a:extLst>
                <a:ext uri="{FF2B5EF4-FFF2-40B4-BE49-F238E27FC236}">
                  <a16:creationId xmlns:a16="http://schemas.microsoft.com/office/drawing/2014/main" id="{341D1FDD-D9ED-F436-DF7A-13BE3CA732A9}"/>
                </a:ext>
              </a:extLst>
            </p:cNvPr>
            <p:cNvSpPr/>
            <p:nvPr/>
          </p:nvSpPr>
          <p:spPr>
            <a:xfrm>
              <a:off x="1814828" y="5438845"/>
              <a:ext cx="665018" cy="184727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5832BE6B-CDEA-0417-D796-8AA3188AD3D1}"/>
              </a:ext>
            </a:extLst>
          </p:cNvPr>
          <p:cNvSpPr txBox="1"/>
          <p:nvPr/>
        </p:nvSpPr>
        <p:spPr>
          <a:xfrm>
            <a:off x="1534397" y="2287732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FA773BF-5DA2-CBC5-7157-6D99FDF4932E}"/>
              </a:ext>
            </a:extLst>
          </p:cNvPr>
          <p:cNvSpPr txBox="1"/>
          <p:nvPr/>
        </p:nvSpPr>
        <p:spPr>
          <a:xfrm>
            <a:off x="1534397" y="3298116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13053FCB-A4A4-708B-F41C-5AEEF717C422}"/>
              </a:ext>
            </a:extLst>
          </p:cNvPr>
          <p:cNvSpPr txBox="1"/>
          <p:nvPr/>
        </p:nvSpPr>
        <p:spPr>
          <a:xfrm>
            <a:off x="1534397" y="4325656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DBC545A2-DA40-0EF6-95C0-17505664E676}"/>
              </a:ext>
            </a:extLst>
          </p:cNvPr>
          <p:cNvSpPr txBox="1"/>
          <p:nvPr/>
        </p:nvSpPr>
        <p:spPr>
          <a:xfrm>
            <a:off x="1534397" y="5386066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4E771ABE-7690-5EAE-B8F4-EDD922467552}"/>
              </a:ext>
            </a:extLst>
          </p:cNvPr>
          <p:cNvSpPr txBox="1"/>
          <p:nvPr/>
        </p:nvSpPr>
        <p:spPr>
          <a:xfrm>
            <a:off x="7997441" y="2287732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4AB2400-9AB1-7B2D-B170-C9B9619AC268}"/>
              </a:ext>
            </a:extLst>
          </p:cNvPr>
          <p:cNvSpPr txBox="1"/>
          <p:nvPr/>
        </p:nvSpPr>
        <p:spPr>
          <a:xfrm>
            <a:off x="7997441" y="3298116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C0610F8B-6F29-DB13-270F-DF54CB94CB81}"/>
              </a:ext>
            </a:extLst>
          </p:cNvPr>
          <p:cNvSpPr txBox="1"/>
          <p:nvPr/>
        </p:nvSpPr>
        <p:spPr>
          <a:xfrm>
            <a:off x="7997441" y="4325656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D295DBA-5B32-E9A9-F89C-A8435585F3E7}"/>
              </a:ext>
            </a:extLst>
          </p:cNvPr>
          <p:cNvSpPr txBox="1"/>
          <p:nvPr/>
        </p:nvSpPr>
        <p:spPr>
          <a:xfrm>
            <a:off x="7997441" y="5386066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4BE4AF5-AA25-FBEE-3CF1-65F24C4F30E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0673" y="1528073"/>
            <a:ext cx="252502" cy="369332"/>
          </a:xfrm>
          <a:prstGeom prst="rect">
            <a:avLst/>
          </a:prstGeom>
        </p:spPr>
      </p:pic>
      <p:pic>
        <p:nvPicPr>
          <p:cNvPr id="130" name="그림 129">
            <a:extLst>
              <a:ext uri="{FF2B5EF4-FFF2-40B4-BE49-F238E27FC236}">
                <a16:creationId xmlns:a16="http://schemas.microsoft.com/office/drawing/2014/main" id="{D5B595EB-5DFE-F2A1-954B-5B7989A4F8C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22662" y="1528073"/>
            <a:ext cx="252502" cy="369332"/>
          </a:xfrm>
          <a:prstGeom prst="rect">
            <a:avLst/>
          </a:prstGeom>
        </p:spPr>
      </p:pic>
      <p:sp>
        <p:nvSpPr>
          <p:cNvPr id="162" name="화살표: 오른쪽 161">
            <a:extLst>
              <a:ext uri="{FF2B5EF4-FFF2-40B4-BE49-F238E27FC236}">
                <a16:creationId xmlns:a16="http://schemas.microsoft.com/office/drawing/2014/main" id="{EF00FCAF-A78B-2A55-0DF1-2E522F4EB12F}"/>
              </a:ext>
            </a:extLst>
          </p:cNvPr>
          <p:cNvSpPr/>
          <p:nvPr/>
        </p:nvSpPr>
        <p:spPr>
          <a:xfrm>
            <a:off x="1814828" y="1811703"/>
            <a:ext cx="665018" cy="18472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C597ECE9-E63C-CBD7-E652-73F286931245}"/>
              </a:ext>
            </a:extLst>
          </p:cNvPr>
          <p:cNvSpPr txBox="1"/>
          <p:nvPr/>
        </p:nvSpPr>
        <p:spPr>
          <a:xfrm>
            <a:off x="1534397" y="1417161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BF97815B-9502-F679-B8B7-96549DEE449A}"/>
              </a:ext>
            </a:extLst>
          </p:cNvPr>
          <p:cNvSpPr txBox="1"/>
          <p:nvPr/>
        </p:nvSpPr>
        <p:spPr>
          <a:xfrm>
            <a:off x="3980113" y="1620406"/>
            <a:ext cx="10014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200" b="1" dirty="0"/>
              <a:t>-75.918 </a:t>
            </a:r>
            <a:r>
              <a:rPr lang="en-US" altLang="ko-KR" sz="1200" b="1" dirty="0"/>
              <a:t>Eh</a:t>
            </a:r>
            <a:endParaRPr lang="ko-KR" altLang="en-US" b="1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60B3BD0D-6987-1819-338E-39AF7484FCAB}"/>
              </a:ext>
            </a:extLst>
          </p:cNvPr>
          <p:cNvSpPr txBox="1"/>
          <p:nvPr/>
        </p:nvSpPr>
        <p:spPr>
          <a:xfrm>
            <a:off x="3879402" y="2636137"/>
            <a:ext cx="11021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-323.747 Eh</a:t>
            </a:r>
            <a:endParaRPr lang="ko-KR" altLang="en-US" b="1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E580BF8F-6E9F-0DEC-5A16-5AE187CD5143}"/>
              </a:ext>
            </a:extLst>
          </p:cNvPr>
          <p:cNvSpPr txBox="1"/>
          <p:nvPr/>
        </p:nvSpPr>
        <p:spPr>
          <a:xfrm>
            <a:off x="3879402" y="3671639"/>
            <a:ext cx="11021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-399.719 Eh</a:t>
            </a:r>
            <a:endParaRPr lang="ko-KR" altLang="en-US" b="1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E47BE020-0B5F-94AE-0F89-E14192BCCA4B}"/>
              </a:ext>
            </a:extLst>
          </p:cNvPr>
          <p:cNvSpPr txBox="1"/>
          <p:nvPr/>
        </p:nvSpPr>
        <p:spPr>
          <a:xfrm>
            <a:off x="3879402" y="4707141"/>
            <a:ext cx="11021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-324.199 Eh</a:t>
            </a:r>
            <a:endParaRPr lang="ko-KR" altLang="en-US" b="1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C9A67BF0-CA18-5F59-DAE5-9B005CF48E5E}"/>
              </a:ext>
            </a:extLst>
          </p:cNvPr>
          <p:cNvSpPr txBox="1"/>
          <p:nvPr/>
        </p:nvSpPr>
        <p:spPr>
          <a:xfrm>
            <a:off x="3879402" y="5783996"/>
            <a:ext cx="11021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-400.186 Eh</a:t>
            </a:r>
            <a:endParaRPr lang="ko-KR" altLang="en-US" b="1" dirty="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00E3C434-78E7-C3E5-0112-83BD3C94E406}"/>
              </a:ext>
            </a:extLst>
          </p:cNvPr>
          <p:cNvSpPr txBox="1"/>
          <p:nvPr/>
        </p:nvSpPr>
        <p:spPr>
          <a:xfrm>
            <a:off x="10811551" y="2670656"/>
            <a:ext cx="11215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-363.039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Eh</a:t>
            </a:r>
            <a:endParaRPr lang="ko-KR" altLang="en-US" b="1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9269E2B1-DC22-E277-7794-EF0FE57E23D2}"/>
              </a:ext>
            </a:extLst>
          </p:cNvPr>
          <p:cNvSpPr txBox="1"/>
          <p:nvPr/>
        </p:nvSpPr>
        <p:spPr>
          <a:xfrm>
            <a:off x="10811551" y="3706158"/>
            <a:ext cx="11215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-439.020 Eh</a:t>
            </a:r>
            <a:endParaRPr lang="ko-KR" altLang="en-US" b="1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7362FCF-3014-A8A3-E868-0E207C4F5A3F}"/>
              </a:ext>
            </a:extLst>
          </p:cNvPr>
          <p:cNvSpPr txBox="1"/>
          <p:nvPr/>
        </p:nvSpPr>
        <p:spPr>
          <a:xfrm>
            <a:off x="10811551" y="4741660"/>
            <a:ext cx="11215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-363.503 Eh</a:t>
            </a:r>
            <a:endParaRPr lang="ko-KR" altLang="en-US" b="1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01D53764-802B-D49D-1DF9-161BA0155840}"/>
              </a:ext>
            </a:extLst>
          </p:cNvPr>
          <p:cNvSpPr txBox="1"/>
          <p:nvPr/>
        </p:nvSpPr>
        <p:spPr>
          <a:xfrm>
            <a:off x="10811551" y="5783996"/>
            <a:ext cx="11215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-439.488 Eh</a:t>
            </a:r>
            <a:endParaRPr lang="ko-KR" altLang="en-US" b="1" dirty="0"/>
          </a:p>
        </p:txBody>
      </p:sp>
      <p:pic>
        <p:nvPicPr>
          <p:cNvPr id="176" name="그림 175">
            <a:extLst>
              <a:ext uri="{FF2B5EF4-FFF2-40B4-BE49-F238E27FC236}">
                <a16:creationId xmlns:a16="http://schemas.microsoft.com/office/drawing/2014/main" id="{2AAE1291-633E-AE87-CE94-811A75D4DFB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4527" y="812879"/>
            <a:ext cx="244793" cy="215121"/>
          </a:xfrm>
          <a:prstGeom prst="rect">
            <a:avLst/>
          </a:prstGeom>
        </p:spPr>
      </p:pic>
      <p:sp>
        <p:nvSpPr>
          <p:cNvPr id="177" name="TextBox 176">
            <a:extLst>
              <a:ext uri="{FF2B5EF4-FFF2-40B4-BE49-F238E27FC236}">
                <a16:creationId xmlns:a16="http://schemas.microsoft.com/office/drawing/2014/main" id="{00142FF9-307A-A228-A0A9-482331C08826}"/>
              </a:ext>
            </a:extLst>
          </p:cNvPr>
          <p:cNvSpPr txBox="1"/>
          <p:nvPr/>
        </p:nvSpPr>
        <p:spPr>
          <a:xfrm>
            <a:off x="1383050" y="774095"/>
            <a:ext cx="15707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H</a:t>
            </a:r>
            <a:r>
              <a:rPr lang="en-US" altLang="ko-KR" sz="1100" b="1" baseline="30000" dirty="0"/>
              <a:t>+</a:t>
            </a:r>
            <a:r>
              <a:rPr lang="en-US" altLang="ko-KR" sz="1100" b="1" dirty="0"/>
              <a:t> proton</a:t>
            </a:r>
            <a:endParaRPr lang="ko-KR" altLang="en-US" b="1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B30B81B0-F2CA-76CD-6CF2-4B6A1B621F44}"/>
              </a:ext>
            </a:extLst>
          </p:cNvPr>
          <p:cNvSpPr txBox="1"/>
          <p:nvPr/>
        </p:nvSpPr>
        <p:spPr>
          <a:xfrm>
            <a:off x="3695439" y="774095"/>
            <a:ext cx="15707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0 Eh</a:t>
            </a:r>
            <a:endParaRPr lang="ko-KR" altLang="en-US" b="1" dirty="0"/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5224DB18-42FA-5EE4-3206-9A403366677F}"/>
              </a:ext>
            </a:extLst>
          </p:cNvPr>
          <p:cNvSpPr/>
          <p:nvPr/>
        </p:nvSpPr>
        <p:spPr>
          <a:xfrm>
            <a:off x="2849959" y="3617118"/>
            <a:ext cx="457597" cy="5472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50CDA673-7F68-9B4F-4AE4-C75382ABC789}"/>
              </a:ext>
            </a:extLst>
          </p:cNvPr>
          <p:cNvSpPr/>
          <p:nvPr/>
        </p:nvSpPr>
        <p:spPr>
          <a:xfrm>
            <a:off x="9523592" y="3429000"/>
            <a:ext cx="457597" cy="5196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2" name="번개 181">
            <a:extLst>
              <a:ext uri="{FF2B5EF4-FFF2-40B4-BE49-F238E27FC236}">
                <a16:creationId xmlns:a16="http://schemas.microsoft.com/office/drawing/2014/main" id="{7F8E22F1-7F18-2A69-0734-82F88C972B7A}"/>
              </a:ext>
            </a:extLst>
          </p:cNvPr>
          <p:cNvSpPr/>
          <p:nvPr/>
        </p:nvSpPr>
        <p:spPr>
          <a:xfrm>
            <a:off x="9069252" y="2674377"/>
            <a:ext cx="545577" cy="808194"/>
          </a:xfrm>
          <a:prstGeom prst="lightningBolt">
            <a:avLst/>
          </a:prstGeom>
          <a:solidFill>
            <a:srgbClr val="00B05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3" name="번개 182">
            <a:extLst>
              <a:ext uri="{FF2B5EF4-FFF2-40B4-BE49-F238E27FC236}">
                <a16:creationId xmlns:a16="http://schemas.microsoft.com/office/drawing/2014/main" id="{DFE2A82C-0DD5-B716-DC9C-4B9F11C9E88C}"/>
              </a:ext>
            </a:extLst>
          </p:cNvPr>
          <p:cNvSpPr/>
          <p:nvPr/>
        </p:nvSpPr>
        <p:spPr>
          <a:xfrm>
            <a:off x="2487488" y="2841912"/>
            <a:ext cx="545577" cy="808194"/>
          </a:xfrm>
          <a:prstGeom prst="lightningBolt">
            <a:avLst/>
          </a:prstGeom>
          <a:solidFill>
            <a:srgbClr val="00B05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B6E73A0C-8E53-EDB7-9127-9CC7A2A71402}"/>
              </a:ext>
            </a:extLst>
          </p:cNvPr>
          <p:cNvSpPr txBox="1"/>
          <p:nvPr/>
        </p:nvSpPr>
        <p:spPr>
          <a:xfrm>
            <a:off x="90225" y="2151600"/>
            <a:ext cx="731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Alanine</a:t>
            </a:r>
            <a:endParaRPr lang="ko-KR" altLang="en-US" sz="1200" b="1" i="1" u="sng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ABE1C622-A1BF-B94D-9517-BFF55C9EC32A}"/>
              </a:ext>
            </a:extLst>
          </p:cNvPr>
          <p:cNvSpPr txBox="1"/>
          <p:nvPr/>
        </p:nvSpPr>
        <p:spPr>
          <a:xfrm>
            <a:off x="90225" y="3167332"/>
            <a:ext cx="731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Alanine</a:t>
            </a:r>
            <a:endParaRPr lang="ko-KR" altLang="en-US" sz="1200" b="1" i="1" u="sng" dirty="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C3ECCC8F-9416-CF3E-21F4-ADAFDA0E9C69}"/>
              </a:ext>
            </a:extLst>
          </p:cNvPr>
          <p:cNvSpPr txBox="1"/>
          <p:nvPr/>
        </p:nvSpPr>
        <p:spPr>
          <a:xfrm>
            <a:off x="705861" y="3167332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EDDFBE37-DC8E-19BB-F591-5A1743BA5FCF}"/>
              </a:ext>
            </a:extLst>
          </p:cNvPr>
          <p:cNvSpPr txBox="1"/>
          <p:nvPr/>
        </p:nvSpPr>
        <p:spPr>
          <a:xfrm>
            <a:off x="889168" y="3167332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OH</a:t>
            </a:r>
            <a:r>
              <a:rPr lang="ko-KR" altLang="en-US" sz="1200" b="1" i="1" u="sng" baseline="30000" dirty="0" err="1"/>
              <a:t>ㅡ</a:t>
            </a:r>
            <a:endParaRPr lang="ko-KR" altLang="en-US" sz="1200" b="1" i="1" u="sng" dirty="0"/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0A7FF626-AB45-6590-D312-4DB73390F860}"/>
              </a:ext>
            </a:extLst>
          </p:cNvPr>
          <p:cNvSpPr txBox="1"/>
          <p:nvPr/>
        </p:nvSpPr>
        <p:spPr>
          <a:xfrm>
            <a:off x="90225" y="4197025"/>
            <a:ext cx="731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Alanine</a:t>
            </a:r>
            <a:endParaRPr lang="ko-KR" altLang="en-US" sz="1200" b="1" i="1" u="sng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932B30DE-F583-E440-8DC3-DA53D4FE0EC1}"/>
              </a:ext>
            </a:extLst>
          </p:cNvPr>
          <p:cNvSpPr txBox="1"/>
          <p:nvPr/>
        </p:nvSpPr>
        <p:spPr>
          <a:xfrm>
            <a:off x="705861" y="4197025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E826D838-C316-8D6E-BD8D-79F0B0C49595}"/>
              </a:ext>
            </a:extLst>
          </p:cNvPr>
          <p:cNvSpPr txBox="1"/>
          <p:nvPr/>
        </p:nvSpPr>
        <p:spPr>
          <a:xfrm>
            <a:off x="963708" y="4197025"/>
            <a:ext cx="377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H</a:t>
            </a:r>
            <a:r>
              <a:rPr lang="en-US" altLang="ko-KR" sz="1200" b="1" i="1" u="sng" baseline="30000" dirty="0"/>
              <a:t>+</a:t>
            </a:r>
            <a:endParaRPr lang="ko-KR" altLang="en-US" sz="1200" b="1" i="1" u="sng" dirty="0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9AF1389E-9E01-7678-22EC-68612E1DD8EE}"/>
              </a:ext>
            </a:extLst>
          </p:cNvPr>
          <p:cNvSpPr txBox="1"/>
          <p:nvPr/>
        </p:nvSpPr>
        <p:spPr>
          <a:xfrm>
            <a:off x="90225" y="5226718"/>
            <a:ext cx="731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Alanine</a:t>
            </a:r>
            <a:endParaRPr lang="ko-KR" altLang="en-US" sz="1200" b="1" i="1" u="sng" dirty="0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492E0B91-945C-CD53-A4F7-D44885ACD072}"/>
              </a:ext>
            </a:extLst>
          </p:cNvPr>
          <p:cNvSpPr txBox="1"/>
          <p:nvPr/>
        </p:nvSpPr>
        <p:spPr>
          <a:xfrm>
            <a:off x="705861" y="5226718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9F24E9D6-91C0-A081-78E6-ADD300C9D30D}"/>
              </a:ext>
            </a:extLst>
          </p:cNvPr>
          <p:cNvSpPr txBox="1"/>
          <p:nvPr/>
        </p:nvSpPr>
        <p:spPr>
          <a:xfrm>
            <a:off x="948468" y="5226718"/>
            <a:ext cx="377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H</a:t>
            </a:r>
            <a:r>
              <a:rPr lang="en-US" altLang="ko-KR" sz="1200" b="1" i="1" u="sng" baseline="30000" dirty="0"/>
              <a:t>+</a:t>
            </a:r>
            <a:endParaRPr lang="ko-KR" altLang="en-US" sz="1200" b="1" i="1" u="sng" dirty="0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5F668075-273A-6C63-F6B9-EE766CC4D53A}"/>
              </a:ext>
            </a:extLst>
          </p:cNvPr>
          <p:cNvSpPr txBox="1"/>
          <p:nvPr/>
        </p:nvSpPr>
        <p:spPr>
          <a:xfrm>
            <a:off x="1243050" y="5226089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22E554AB-E84B-FC91-6890-C99EDF9C949E}"/>
              </a:ext>
            </a:extLst>
          </p:cNvPr>
          <p:cNvSpPr txBox="1"/>
          <p:nvPr/>
        </p:nvSpPr>
        <p:spPr>
          <a:xfrm>
            <a:off x="1426357" y="5226089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OH</a:t>
            </a:r>
            <a:r>
              <a:rPr lang="ko-KR" altLang="en-US" sz="1200" b="1" i="1" u="sng" baseline="30000" dirty="0" err="1"/>
              <a:t>ㅡ</a:t>
            </a:r>
            <a:endParaRPr lang="ko-KR" altLang="en-US" sz="1200" b="1" i="1" u="sng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5DD2DF2C-C77B-40AA-9D3C-388D01FD0D51}"/>
              </a:ext>
            </a:extLst>
          </p:cNvPr>
          <p:cNvSpPr txBox="1"/>
          <p:nvPr/>
        </p:nvSpPr>
        <p:spPr>
          <a:xfrm>
            <a:off x="5565613" y="2151600"/>
            <a:ext cx="1505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 err="1"/>
              <a:t>Aminobutylic</a:t>
            </a:r>
            <a:r>
              <a:rPr lang="en-US" altLang="ko-KR" sz="1200" b="1" i="1" u="sng" dirty="0"/>
              <a:t> acid</a:t>
            </a:r>
            <a:endParaRPr lang="ko-KR" altLang="en-US" sz="1200" b="1" i="1" u="sng" dirty="0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61021A5C-2D83-8D40-65F2-771C8AE69B54}"/>
              </a:ext>
            </a:extLst>
          </p:cNvPr>
          <p:cNvSpPr txBox="1"/>
          <p:nvPr/>
        </p:nvSpPr>
        <p:spPr>
          <a:xfrm>
            <a:off x="5565613" y="3167332"/>
            <a:ext cx="1505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 err="1"/>
              <a:t>Aminobutylic</a:t>
            </a:r>
            <a:r>
              <a:rPr lang="en-US" altLang="ko-KR" sz="1200" b="1" i="1" u="sng" dirty="0"/>
              <a:t> acid</a:t>
            </a:r>
            <a:endParaRPr lang="ko-KR" altLang="en-US" sz="1200" b="1" i="1" u="sng" dirty="0"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9ED9D5DE-A3DF-1DAD-C5C7-D3BF579A25EF}"/>
              </a:ext>
            </a:extLst>
          </p:cNvPr>
          <p:cNvSpPr txBox="1"/>
          <p:nvPr/>
        </p:nvSpPr>
        <p:spPr>
          <a:xfrm>
            <a:off x="7023627" y="3167332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EBEB11BA-A0AF-945B-3A85-DDF1FC397B96}"/>
              </a:ext>
            </a:extLst>
          </p:cNvPr>
          <p:cNvSpPr txBox="1"/>
          <p:nvPr/>
        </p:nvSpPr>
        <p:spPr>
          <a:xfrm>
            <a:off x="7206934" y="3167332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OH</a:t>
            </a:r>
            <a:r>
              <a:rPr lang="ko-KR" altLang="en-US" sz="1200" b="1" i="1" u="sng" baseline="30000" dirty="0" err="1"/>
              <a:t>ㅡ</a:t>
            </a:r>
            <a:endParaRPr lang="ko-KR" altLang="en-US" sz="1200" b="1" i="1" u="sng" dirty="0"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F9D39B90-7C27-3308-795F-795E6351A218}"/>
              </a:ext>
            </a:extLst>
          </p:cNvPr>
          <p:cNvSpPr txBox="1"/>
          <p:nvPr/>
        </p:nvSpPr>
        <p:spPr>
          <a:xfrm>
            <a:off x="5565613" y="4197025"/>
            <a:ext cx="1505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 err="1"/>
              <a:t>Aminobutylic</a:t>
            </a:r>
            <a:r>
              <a:rPr lang="en-US" altLang="ko-KR" sz="1200" b="1" i="1" u="sng" dirty="0"/>
              <a:t> acid</a:t>
            </a:r>
            <a:endParaRPr lang="ko-KR" altLang="en-US" sz="1200" b="1" i="1" u="sng" dirty="0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069EA7D6-E46B-1A15-1D3A-BE6CB63F93C8}"/>
              </a:ext>
            </a:extLst>
          </p:cNvPr>
          <p:cNvSpPr txBox="1"/>
          <p:nvPr/>
        </p:nvSpPr>
        <p:spPr>
          <a:xfrm>
            <a:off x="7023627" y="4197025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F762FCD8-2D9E-57E1-F93C-690E5E05889C}"/>
              </a:ext>
            </a:extLst>
          </p:cNvPr>
          <p:cNvSpPr txBox="1"/>
          <p:nvPr/>
        </p:nvSpPr>
        <p:spPr>
          <a:xfrm>
            <a:off x="7281474" y="4197025"/>
            <a:ext cx="377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H</a:t>
            </a:r>
            <a:r>
              <a:rPr lang="en-US" altLang="ko-KR" sz="1200" b="1" i="1" u="sng" baseline="30000" dirty="0"/>
              <a:t>+</a:t>
            </a:r>
            <a:endParaRPr lang="ko-KR" altLang="en-US" sz="1200" b="1" i="1" u="sng" dirty="0"/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F5D8E847-0618-FEAE-4864-BB9B9A261F62}"/>
              </a:ext>
            </a:extLst>
          </p:cNvPr>
          <p:cNvSpPr txBox="1"/>
          <p:nvPr/>
        </p:nvSpPr>
        <p:spPr>
          <a:xfrm>
            <a:off x="5565613" y="5226718"/>
            <a:ext cx="1505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 err="1"/>
              <a:t>Aminobutylic</a:t>
            </a:r>
            <a:r>
              <a:rPr lang="en-US" altLang="ko-KR" sz="1200" b="1" i="1" u="sng" dirty="0"/>
              <a:t> acid</a:t>
            </a:r>
            <a:endParaRPr lang="ko-KR" altLang="en-US" sz="1200" b="1" i="1" u="sng" dirty="0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E5680038-9539-90DF-5C7B-BFF34D8D2F16}"/>
              </a:ext>
            </a:extLst>
          </p:cNvPr>
          <p:cNvSpPr txBox="1"/>
          <p:nvPr/>
        </p:nvSpPr>
        <p:spPr>
          <a:xfrm>
            <a:off x="7023627" y="5226718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C7041F54-E3EE-C621-915A-BCD118AB4573}"/>
              </a:ext>
            </a:extLst>
          </p:cNvPr>
          <p:cNvSpPr txBox="1"/>
          <p:nvPr/>
        </p:nvSpPr>
        <p:spPr>
          <a:xfrm>
            <a:off x="7266234" y="5226718"/>
            <a:ext cx="377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H</a:t>
            </a:r>
            <a:r>
              <a:rPr lang="en-US" altLang="ko-KR" sz="1200" b="1" i="1" u="sng" baseline="30000" dirty="0"/>
              <a:t>+</a:t>
            </a:r>
            <a:endParaRPr lang="ko-KR" altLang="en-US" sz="1200" b="1" i="1" u="sng" dirty="0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B12D86E6-7F61-94E2-D39D-C48FD02D59C1}"/>
              </a:ext>
            </a:extLst>
          </p:cNvPr>
          <p:cNvSpPr txBox="1"/>
          <p:nvPr/>
        </p:nvSpPr>
        <p:spPr>
          <a:xfrm>
            <a:off x="7560816" y="5226089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0C404C17-8C8F-6EF6-6F67-19C7E291E480}"/>
              </a:ext>
            </a:extLst>
          </p:cNvPr>
          <p:cNvSpPr txBox="1"/>
          <p:nvPr/>
        </p:nvSpPr>
        <p:spPr>
          <a:xfrm>
            <a:off x="7744123" y="5226089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OH</a:t>
            </a:r>
            <a:r>
              <a:rPr lang="ko-KR" altLang="en-US" sz="1200" b="1" i="1" u="sng" baseline="30000" dirty="0" err="1"/>
              <a:t>ㅡ</a:t>
            </a:r>
            <a:endParaRPr lang="ko-KR" altLang="en-US" sz="1200" b="1" i="1" u="sng" dirty="0"/>
          </a:p>
        </p:txBody>
      </p:sp>
    </p:spTree>
    <p:extLst>
      <p:ext uri="{BB962C8B-B14F-4D97-AF65-F5344CB8AC3E}">
        <p14:creationId xmlns:p14="http://schemas.microsoft.com/office/powerpoint/2010/main" val="1806911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83E27-717A-0466-BCB2-8F94552E3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B57C67B8-D9C0-D2FA-348A-C45995FD7F40}"/>
              </a:ext>
            </a:extLst>
          </p:cNvPr>
          <p:cNvSpPr txBox="1"/>
          <p:nvPr/>
        </p:nvSpPr>
        <p:spPr>
          <a:xfrm>
            <a:off x="599056" y="110050"/>
            <a:ext cx="8751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1" u="sng" dirty="0">
                <a:solidFill>
                  <a:srgbClr val="002060"/>
                </a:solidFill>
              </a:rPr>
              <a:t>2</a:t>
            </a:r>
            <a:r>
              <a:rPr lang="ko-KR" altLang="en-US" b="1" i="1" u="sng" dirty="0">
                <a:solidFill>
                  <a:srgbClr val="002060"/>
                </a:solidFill>
              </a:rPr>
              <a:t>개의 </a:t>
            </a:r>
            <a:r>
              <a:rPr lang="en-US" altLang="ko-KR" b="1" i="1" u="sng" dirty="0">
                <a:solidFill>
                  <a:srgbClr val="002060"/>
                </a:solidFill>
              </a:rPr>
              <a:t>Zwitterionic form</a:t>
            </a:r>
            <a:r>
              <a:rPr lang="ko-KR" altLang="en-US" b="1" i="1" u="sng" dirty="0">
                <a:solidFill>
                  <a:srgbClr val="002060"/>
                </a:solidFill>
              </a:rPr>
              <a:t>에 대한 </a:t>
            </a:r>
            <a:r>
              <a:rPr lang="en-US" altLang="ko-KR" b="1" i="1" u="sng" dirty="0">
                <a:solidFill>
                  <a:srgbClr val="002060"/>
                </a:solidFill>
              </a:rPr>
              <a:t>proton, hydroxide ion</a:t>
            </a:r>
            <a:r>
              <a:rPr lang="ko-KR" altLang="en-US" b="1" i="1" u="sng" dirty="0">
                <a:solidFill>
                  <a:srgbClr val="002060"/>
                </a:solidFill>
              </a:rPr>
              <a:t>의 바인딩 에너지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E7714694-F78E-47A5-5937-9976D2E1FE64}"/>
              </a:ext>
            </a:extLst>
          </p:cNvPr>
          <p:cNvSpPr/>
          <p:nvPr/>
        </p:nvSpPr>
        <p:spPr>
          <a:xfrm>
            <a:off x="2953803" y="471866"/>
            <a:ext cx="1060523" cy="282225"/>
          </a:xfrm>
          <a:prstGeom prst="ellipse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  <a:cs typeface="Arial" panose="020B0604020202020204" pitchFamily="34" charset="0"/>
            </a:endParaRPr>
          </a:p>
        </p:txBody>
      </p: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FB549D1B-8E5B-72BF-DFAC-87068948F92D}"/>
              </a:ext>
            </a:extLst>
          </p:cNvPr>
          <p:cNvGrpSpPr/>
          <p:nvPr/>
        </p:nvGrpSpPr>
        <p:grpSpPr>
          <a:xfrm>
            <a:off x="6322762" y="2414638"/>
            <a:ext cx="1790849" cy="3809082"/>
            <a:chOff x="6322762" y="2082129"/>
            <a:chExt cx="1790849" cy="3809082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16958915-9930-8A6C-8950-6ACD6173DC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22762" y="2082129"/>
              <a:ext cx="1394248" cy="720000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5CEEE494-9E11-EC09-3FA1-CDD3DDC7BC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22762" y="3111823"/>
              <a:ext cx="1325942" cy="720000"/>
            </a:xfrm>
            <a:prstGeom prst="rect">
              <a:avLst/>
            </a:prstGeom>
          </p:spPr>
        </p:pic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006963BD-FB9C-6489-3117-8BCC42454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22762" y="4141517"/>
              <a:ext cx="1498065" cy="720000"/>
            </a:xfrm>
            <a:prstGeom prst="rect">
              <a:avLst/>
            </a:prstGeom>
          </p:spPr>
        </p:pic>
        <p:pic>
          <p:nvPicPr>
            <p:cNvPr id="115" name="그림 114">
              <a:extLst>
                <a:ext uri="{FF2B5EF4-FFF2-40B4-BE49-F238E27FC236}">
                  <a16:creationId xmlns:a16="http://schemas.microsoft.com/office/drawing/2014/main" id="{7384FF70-7123-E664-4617-979DC9EBE9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22762" y="5171211"/>
              <a:ext cx="1790849" cy="720000"/>
            </a:xfrm>
            <a:prstGeom prst="rect">
              <a:avLst/>
            </a:prstGeom>
          </p:spPr>
        </p:pic>
      </p:grpSp>
      <p:pic>
        <p:nvPicPr>
          <p:cNvPr id="24" name="그림 23">
            <a:extLst>
              <a:ext uri="{FF2B5EF4-FFF2-40B4-BE49-F238E27FC236}">
                <a16:creationId xmlns:a16="http://schemas.microsoft.com/office/drawing/2014/main" id="{209062CE-C3FC-E506-3096-25C9941CD2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4683" y="2414638"/>
            <a:ext cx="1656868" cy="720000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ECCBA61A-A236-9697-0493-AE167936DD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2058" y="3444332"/>
            <a:ext cx="1239493" cy="720000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76645A05-7B6B-29D9-1E5A-52D0319272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3724" y="4474026"/>
            <a:ext cx="1447827" cy="720000"/>
          </a:xfrm>
          <a:prstGeom prst="rect">
            <a:avLst/>
          </a:prstGeom>
        </p:spPr>
      </p:pic>
      <p:pic>
        <p:nvPicPr>
          <p:cNvPr id="118" name="그림 117">
            <a:extLst>
              <a:ext uri="{FF2B5EF4-FFF2-40B4-BE49-F238E27FC236}">
                <a16:creationId xmlns:a16="http://schemas.microsoft.com/office/drawing/2014/main" id="{FBA03CFE-C52F-B3F5-687F-65E5BD150E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05614" y="5503720"/>
            <a:ext cx="1605937" cy="720000"/>
          </a:xfrm>
          <a:prstGeom prst="rect">
            <a:avLst/>
          </a:prstGeom>
        </p:spPr>
      </p:pic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923DE429-84DA-96FD-50A0-A1C1A3328114}"/>
              </a:ext>
            </a:extLst>
          </p:cNvPr>
          <p:cNvGrpSpPr/>
          <p:nvPr/>
        </p:nvGrpSpPr>
        <p:grpSpPr>
          <a:xfrm>
            <a:off x="391113" y="2414638"/>
            <a:ext cx="1135215" cy="3809080"/>
            <a:chOff x="391113" y="2082129"/>
            <a:chExt cx="1135215" cy="380908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DCA12E1A-3BD9-3654-5F2D-8EDC79009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91113" y="3111822"/>
              <a:ext cx="931979" cy="720000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4DC584EC-BE6B-5447-3231-11A85EB98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91113" y="4141516"/>
              <a:ext cx="851937" cy="720000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226F0210-C640-51CE-4412-076DFD39C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91113" y="5171209"/>
              <a:ext cx="1135215" cy="720000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7E49CF6-0AB4-F738-4FF0-AE9F1B14F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91113" y="2082129"/>
              <a:ext cx="944887" cy="720000"/>
            </a:xfrm>
            <a:prstGeom prst="rect">
              <a:avLst/>
            </a:prstGeom>
          </p:spPr>
        </p:pic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C73F274C-EF28-854C-0A28-8843F797F4F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49959" y="3444331"/>
            <a:ext cx="1001124" cy="720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BB05582-61DE-0BE8-DA1E-7450A657CF6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85137" y="4474024"/>
            <a:ext cx="1065946" cy="720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050042E-AA38-F387-3680-91FBDCF2EE4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54850" y="5503718"/>
            <a:ext cx="1096233" cy="720000"/>
          </a:xfrm>
          <a:prstGeom prst="rect">
            <a:avLst/>
          </a:prstGeom>
        </p:spPr>
      </p:pic>
      <p:pic>
        <p:nvPicPr>
          <p:cNvPr id="123" name="그림 122">
            <a:extLst>
              <a:ext uri="{FF2B5EF4-FFF2-40B4-BE49-F238E27FC236}">
                <a16:creationId xmlns:a16="http://schemas.microsoft.com/office/drawing/2014/main" id="{353C832A-D771-4BDF-EC1F-6B5392A4CC8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21016" y="2414638"/>
            <a:ext cx="930067" cy="720000"/>
          </a:xfrm>
          <a:prstGeom prst="rect">
            <a:avLst/>
          </a:prstGeom>
        </p:spPr>
      </p:pic>
      <p:sp>
        <p:nvSpPr>
          <p:cNvPr id="142" name="화살표: 오른쪽 141">
            <a:extLst>
              <a:ext uri="{FF2B5EF4-FFF2-40B4-BE49-F238E27FC236}">
                <a16:creationId xmlns:a16="http://schemas.microsoft.com/office/drawing/2014/main" id="{0E3A37A1-9A0B-E518-30D4-3598D23F8266}"/>
              </a:ext>
            </a:extLst>
          </p:cNvPr>
          <p:cNvSpPr/>
          <p:nvPr/>
        </p:nvSpPr>
        <p:spPr>
          <a:xfrm>
            <a:off x="1814828" y="2682274"/>
            <a:ext cx="665018" cy="18472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화살표: 오른쪽 142">
            <a:extLst>
              <a:ext uri="{FF2B5EF4-FFF2-40B4-BE49-F238E27FC236}">
                <a16:creationId xmlns:a16="http://schemas.microsoft.com/office/drawing/2014/main" id="{F849762C-4487-36A8-D435-6C69EFC20443}"/>
              </a:ext>
            </a:extLst>
          </p:cNvPr>
          <p:cNvSpPr/>
          <p:nvPr/>
        </p:nvSpPr>
        <p:spPr>
          <a:xfrm>
            <a:off x="1814828" y="3677775"/>
            <a:ext cx="665018" cy="18472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화살표: 오른쪽 143">
            <a:extLst>
              <a:ext uri="{FF2B5EF4-FFF2-40B4-BE49-F238E27FC236}">
                <a16:creationId xmlns:a16="http://schemas.microsoft.com/office/drawing/2014/main" id="{DA6951DE-8313-2F22-0829-63A91F09E980}"/>
              </a:ext>
            </a:extLst>
          </p:cNvPr>
          <p:cNvSpPr/>
          <p:nvPr/>
        </p:nvSpPr>
        <p:spPr>
          <a:xfrm>
            <a:off x="1814828" y="4741660"/>
            <a:ext cx="665018" cy="18472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화살표: 오른쪽 144">
            <a:extLst>
              <a:ext uri="{FF2B5EF4-FFF2-40B4-BE49-F238E27FC236}">
                <a16:creationId xmlns:a16="http://schemas.microsoft.com/office/drawing/2014/main" id="{EE6B7495-0815-48A7-4FB4-C4242282E1B7}"/>
              </a:ext>
            </a:extLst>
          </p:cNvPr>
          <p:cNvSpPr/>
          <p:nvPr/>
        </p:nvSpPr>
        <p:spPr>
          <a:xfrm>
            <a:off x="1814828" y="5771354"/>
            <a:ext cx="665018" cy="18472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A6BEBB2E-8E58-84DF-23CB-2BC092704659}"/>
              </a:ext>
            </a:extLst>
          </p:cNvPr>
          <p:cNvGrpSpPr/>
          <p:nvPr/>
        </p:nvGrpSpPr>
        <p:grpSpPr>
          <a:xfrm>
            <a:off x="8277872" y="2682274"/>
            <a:ext cx="665018" cy="3273807"/>
            <a:chOff x="1814828" y="2349765"/>
            <a:chExt cx="665018" cy="3273807"/>
          </a:xfrm>
        </p:grpSpPr>
        <p:sp>
          <p:nvSpPr>
            <p:cNvPr id="148" name="화살표: 오른쪽 147">
              <a:extLst>
                <a:ext uri="{FF2B5EF4-FFF2-40B4-BE49-F238E27FC236}">
                  <a16:creationId xmlns:a16="http://schemas.microsoft.com/office/drawing/2014/main" id="{297168AA-09DE-35BE-C4B2-8014BE7C5109}"/>
                </a:ext>
              </a:extLst>
            </p:cNvPr>
            <p:cNvSpPr/>
            <p:nvPr/>
          </p:nvSpPr>
          <p:spPr>
            <a:xfrm>
              <a:off x="1814828" y="2349765"/>
              <a:ext cx="665018" cy="184727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화살표: 오른쪽 148">
              <a:extLst>
                <a:ext uri="{FF2B5EF4-FFF2-40B4-BE49-F238E27FC236}">
                  <a16:creationId xmlns:a16="http://schemas.microsoft.com/office/drawing/2014/main" id="{4316D2A9-096A-F6D5-3E27-11B12DE3F7DA}"/>
                </a:ext>
              </a:extLst>
            </p:cNvPr>
            <p:cNvSpPr/>
            <p:nvPr/>
          </p:nvSpPr>
          <p:spPr>
            <a:xfrm>
              <a:off x="1814828" y="3345266"/>
              <a:ext cx="665018" cy="184727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" name="화살표: 오른쪽 149">
              <a:extLst>
                <a:ext uri="{FF2B5EF4-FFF2-40B4-BE49-F238E27FC236}">
                  <a16:creationId xmlns:a16="http://schemas.microsoft.com/office/drawing/2014/main" id="{873D25E4-A297-894B-4564-EAFC8393D227}"/>
                </a:ext>
              </a:extLst>
            </p:cNvPr>
            <p:cNvSpPr/>
            <p:nvPr/>
          </p:nvSpPr>
          <p:spPr>
            <a:xfrm>
              <a:off x="1814828" y="4409151"/>
              <a:ext cx="665018" cy="184727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화살표: 오른쪽 150">
              <a:extLst>
                <a:ext uri="{FF2B5EF4-FFF2-40B4-BE49-F238E27FC236}">
                  <a16:creationId xmlns:a16="http://schemas.microsoft.com/office/drawing/2014/main" id="{65AFFA40-BFEB-BD80-53A8-35E47784E6E4}"/>
                </a:ext>
              </a:extLst>
            </p:cNvPr>
            <p:cNvSpPr/>
            <p:nvPr/>
          </p:nvSpPr>
          <p:spPr>
            <a:xfrm>
              <a:off x="1814828" y="5438845"/>
              <a:ext cx="665018" cy="184727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5A4D04D2-53D6-DE28-4E9D-1AEED27EA90B}"/>
              </a:ext>
            </a:extLst>
          </p:cNvPr>
          <p:cNvSpPr txBox="1"/>
          <p:nvPr/>
        </p:nvSpPr>
        <p:spPr>
          <a:xfrm>
            <a:off x="1534397" y="2287732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463DF08-BF0E-333C-F29D-D1A8D77D1ACC}"/>
              </a:ext>
            </a:extLst>
          </p:cNvPr>
          <p:cNvSpPr txBox="1"/>
          <p:nvPr/>
        </p:nvSpPr>
        <p:spPr>
          <a:xfrm>
            <a:off x="1534397" y="3298116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82CFFB38-DB00-816F-78BE-BBA7EE9569B8}"/>
              </a:ext>
            </a:extLst>
          </p:cNvPr>
          <p:cNvSpPr txBox="1"/>
          <p:nvPr/>
        </p:nvSpPr>
        <p:spPr>
          <a:xfrm>
            <a:off x="1534397" y="4325656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473DE5FD-755B-8A1F-6370-2C30567570CE}"/>
              </a:ext>
            </a:extLst>
          </p:cNvPr>
          <p:cNvSpPr txBox="1"/>
          <p:nvPr/>
        </p:nvSpPr>
        <p:spPr>
          <a:xfrm>
            <a:off x="1534397" y="5386066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9A17867C-E31B-3DEF-0536-AD28A9F15E5E}"/>
              </a:ext>
            </a:extLst>
          </p:cNvPr>
          <p:cNvSpPr txBox="1"/>
          <p:nvPr/>
        </p:nvSpPr>
        <p:spPr>
          <a:xfrm>
            <a:off x="7997441" y="2287732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D563E9B2-0694-E5F6-8E06-F1DEF6D0E8F3}"/>
              </a:ext>
            </a:extLst>
          </p:cNvPr>
          <p:cNvSpPr txBox="1"/>
          <p:nvPr/>
        </p:nvSpPr>
        <p:spPr>
          <a:xfrm>
            <a:off x="7997441" y="3298116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46D59923-7002-D819-3931-617F738E9692}"/>
              </a:ext>
            </a:extLst>
          </p:cNvPr>
          <p:cNvSpPr txBox="1"/>
          <p:nvPr/>
        </p:nvSpPr>
        <p:spPr>
          <a:xfrm>
            <a:off x="7997441" y="4325656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B4EDF879-9ECB-6BA7-0326-B95641C594DB}"/>
              </a:ext>
            </a:extLst>
          </p:cNvPr>
          <p:cNvSpPr txBox="1"/>
          <p:nvPr/>
        </p:nvSpPr>
        <p:spPr>
          <a:xfrm>
            <a:off x="7997441" y="5386066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E31D99-9C7C-81DA-F6E4-942F3F6B51E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0673" y="1528073"/>
            <a:ext cx="252502" cy="369332"/>
          </a:xfrm>
          <a:prstGeom prst="rect">
            <a:avLst/>
          </a:prstGeom>
        </p:spPr>
      </p:pic>
      <p:pic>
        <p:nvPicPr>
          <p:cNvPr id="130" name="그림 129">
            <a:extLst>
              <a:ext uri="{FF2B5EF4-FFF2-40B4-BE49-F238E27FC236}">
                <a16:creationId xmlns:a16="http://schemas.microsoft.com/office/drawing/2014/main" id="{E98919D3-E874-FFFD-3552-E7616D16A8A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22662" y="1528073"/>
            <a:ext cx="252502" cy="369332"/>
          </a:xfrm>
          <a:prstGeom prst="rect">
            <a:avLst/>
          </a:prstGeom>
        </p:spPr>
      </p:pic>
      <p:sp>
        <p:nvSpPr>
          <p:cNvPr id="162" name="화살표: 오른쪽 161">
            <a:extLst>
              <a:ext uri="{FF2B5EF4-FFF2-40B4-BE49-F238E27FC236}">
                <a16:creationId xmlns:a16="http://schemas.microsoft.com/office/drawing/2014/main" id="{C979567E-F6DC-A1CB-08BA-56A68C95C531}"/>
              </a:ext>
            </a:extLst>
          </p:cNvPr>
          <p:cNvSpPr/>
          <p:nvPr/>
        </p:nvSpPr>
        <p:spPr>
          <a:xfrm>
            <a:off x="1814828" y="1811703"/>
            <a:ext cx="665018" cy="18472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140CAF60-6DA2-2016-2B71-E893CB4122C2}"/>
              </a:ext>
            </a:extLst>
          </p:cNvPr>
          <p:cNvSpPr txBox="1"/>
          <p:nvPr/>
        </p:nvSpPr>
        <p:spPr>
          <a:xfrm>
            <a:off x="1534397" y="1417161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028DDEE5-9CFD-BB47-DCBA-693C212AAF9E}"/>
              </a:ext>
            </a:extLst>
          </p:cNvPr>
          <p:cNvSpPr txBox="1"/>
          <p:nvPr/>
        </p:nvSpPr>
        <p:spPr>
          <a:xfrm>
            <a:off x="3980113" y="1620406"/>
            <a:ext cx="10014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200" b="1" dirty="0"/>
              <a:t>-75.918 </a:t>
            </a:r>
            <a:r>
              <a:rPr lang="en-US" altLang="ko-KR" sz="1200" b="1" dirty="0"/>
              <a:t>Eh</a:t>
            </a:r>
            <a:endParaRPr lang="ko-KR" altLang="en-US" b="1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E18AEC8A-FEE2-6897-36D0-5673D8D4D12C}"/>
              </a:ext>
            </a:extLst>
          </p:cNvPr>
          <p:cNvSpPr txBox="1"/>
          <p:nvPr/>
        </p:nvSpPr>
        <p:spPr>
          <a:xfrm>
            <a:off x="3879402" y="2636137"/>
            <a:ext cx="11021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-323.747 Eh</a:t>
            </a:r>
            <a:endParaRPr lang="ko-KR" altLang="en-US" b="1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52AB929A-1ACC-19DD-492B-4BABCE0B7A26}"/>
              </a:ext>
            </a:extLst>
          </p:cNvPr>
          <p:cNvSpPr txBox="1"/>
          <p:nvPr/>
        </p:nvSpPr>
        <p:spPr>
          <a:xfrm>
            <a:off x="3879402" y="3671639"/>
            <a:ext cx="11021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-399.719 Eh</a:t>
            </a:r>
            <a:endParaRPr lang="ko-KR" altLang="en-US" b="1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8C1BCEE2-9B53-E017-E68C-9E3C4DB14798}"/>
              </a:ext>
            </a:extLst>
          </p:cNvPr>
          <p:cNvSpPr txBox="1"/>
          <p:nvPr/>
        </p:nvSpPr>
        <p:spPr>
          <a:xfrm>
            <a:off x="3879402" y="4707141"/>
            <a:ext cx="11021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-324.199 Eh</a:t>
            </a:r>
            <a:endParaRPr lang="ko-KR" altLang="en-US" b="1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84BA2006-008A-9B2D-986C-6C1A96FD9B13}"/>
              </a:ext>
            </a:extLst>
          </p:cNvPr>
          <p:cNvSpPr txBox="1"/>
          <p:nvPr/>
        </p:nvSpPr>
        <p:spPr>
          <a:xfrm>
            <a:off x="3879402" y="5783996"/>
            <a:ext cx="11021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-400.186 Eh</a:t>
            </a:r>
            <a:endParaRPr lang="ko-KR" altLang="en-US" b="1" dirty="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017CC3B5-92A9-A97C-E3F4-C6D2118FFD78}"/>
              </a:ext>
            </a:extLst>
          </p:cNvPr>
          <p:cNvSpPr txBox="1"/>
          <p:nvPr/>
        </p:nvSpPr>
        <p:spPr>
          <a:xfrm>
            <a:off x="10811551" y="2670656"/>
            <a:ext cx="11215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-363.039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Eh</a:t>
            </a:r>
            <a:endParaRPr lang="ko-KR" altLang="en-US" b="1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1A229A1D-6A29-2008-38AE-30DBB2A36292}"/>
              </a:ext>
            </a:extLst>
          </p:cNvPr>
          <p:cNvSpPr txBox="1"/>
          <p:nvPr/>
        </p:nvSpPr>
        <p:spPr>
          <a:xfrm>
            <a:off x="10811551" y="3706158"/>
            <a:ext cx="11215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-439.020 Eh</a:t>
            </a:r>
            <a:endParaRPr lang="ko-KR" altLang="en-US" b="1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73393D8F-538E-1837-B4D4-E44E6F44D4B6}"/>
              </a:ext>
            </a:extLst>
          </p:cNvPr>
          <p:cNvSpPr txBox="1"/>
          <p:nvPr/>
        </p:nvSpPr>
        <p:spPr>
          <a:xfrm>
            <a:off x="10811551" y="4741660"/>
            <a:ext cx="11215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-363.503 Eh</a:t>
            </a:r>
            <a:endParaRPr lang="ko-KR" altLang="en-US" b="1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64F13980-22B4-053C-1912-6EA0FFE3B224}"/>
              </a:ext>
            </a:extLst>
          </p:cNvPr>
          <p:cNvSpPr txBox="1"/>
          <p:nvPr/>
        </p:nvSpPr>
        <p:spPr>
          <a:xfrm>
            <a:off x="10811551" y="5783996"/>
            <a:ext cx="11215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-439.488 Eh</a:t>
            </a:r>
            <a:endParaRPr lang="ko-KR" altLang="en-US" b="1" dirty="0"/>
          </a:p>
        </p:txBody>
      </p:sp>
      <p:pic>
        <p:nvPicPr>
          <p:cNvPr id="176" name="그림 175">
            <a:extLst>
              <a:ext uri="{FF2B5EF4-FFF2-40B4-BE49-F238E27FC236}">
                <a16:creationId xmlns:a16="http://schemas.microsoft.com/office/drawing/2014/main" id="{F7A88AE0-B5D5-EF49-2B02-BB4C46F8FFF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4527" y="812879"/>
            <a:ext cx="244793" cy="215121"/>
          </a:xfrm>
          <a:prstGeom prst="rect">
            <a:avLst/>
          </a:prstGeom>
        </p:spPr>
      </p:pic>
      <p:sp>
        <p:nvSpPr>
          <p:cNvPr id="177" name="TextBox 176">
            <a:extLst>
              <a:ext uri="{FF2B5EF4-FFF2-40B4-BE49-F238E27FC236}">
                <a16:creationId xmlns:a16="http://schemas.microsoft.com/office/drawing/2014/main" id="{001CD01D-269D-A30E-8373-6E8D222CE173}"/>
              </a:ext>
            </a:extLst>
          </p:cNvPr>
          <p:cNvSpPr txBox="1"/>
          <p:nvPr/>
        </p:nvSpPr>
        <p:spPr>
          <a:xfrm>
            <a:off x="1383050" y="774095"/>
            <a:ext cx="15707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H</a:t>
            </a:r>
            <a:r>
              <a:rPr lang="en-US" altLang="ko-KR" sz="1100" b="1" baseline="30000" dirty="0"/>
              <a:t>+</a:t>
            </a:r>
            <a:r>
              <a:rPr lang="en-US" altLang="ko-KR" sz="1100" b="1" dirty="0"/>
              <a:t> proton</a:t>
            </a:r>
            <a:endParaRPr lang="ko-KR" altLang="en-US" b="1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79339DF0-6130-D155-17B1-D11271ED37C6}"/>
              </a:ext>
            </a:extLst>
          </p:cNvPr>
          <p:cNvSpPr txBox="1"/>
          <p:nvPr/>
        </p:nvSpPr>
        <p:spPr>
          <a:xfrm>
            <a:off x="3695439" y="774095"/>
            <a:ext cx="15707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0 Eh</a:t>
            </a:r>
            <a:endParaRPr lang="ko-KR" altLang="en-US" b="1" dirty="0"/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B61F5EC8-0B3B-BFF8-A8CE-1A3F965DD434}"/>
              </a:ext>
            </a:extLst>
          </p:cNvPr>
          <p:cNvSpPr/>
          <p:nvPr/>
        </p:nvSpPr>
        <p:spPr>
          <a:xfrm>
            <a:off x="3369727" y="4462085"/>
            <a:ext cx="457597" cy="5472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620A6E99-9D70-2C5C-E4C5-C3638DBE5A88}"/>
              </a:ext>
            </a:extLst>
          </p:cNvPr>
          <p:cNvSpPr/>
          <p:nvPr/>
        </p:nvSpPr>
        <p:spPr>
          <a:xfrm>
            <a:off x="10353954" y="4464501"/>
            <a:ext cx="457597" cy="6435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2" name="번개 181">
            <a:extLst>
              <a:ext uri="{FF2B5EF4-FFF2-40B4-BE49-F238E27FC236}">
                <a16:creationId xmlns:a16="http://schemas.microsoft.com/office/drawing/2014/main" id="{45BA2246-A960-A864-E633-78E16C9FB107}"/>
              </a:ext>
            </a:extLst>
          </p:cNvPr>
          <p:cNvSpPr/>
          <p:nvPr/>
        </p:nvSpPr>
        <p:spPr>
          <a:xfrm>
            <a:off x="9899614" y="3709879"/>
            <a:ext cx="545577" cy="808194"/>
          </a:xfrm>
          <a:prstGeom prst="lightningBolt">
            <a:avLst/>
          </a:prstGeom>
          <a:solidFill>
            <a:srgbClr val="00B05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3" name="번개 182">
            <a:extLst>
              <a:ext uri="{FF2B5EF4-FFF2-40B4-BE49-F238E27FC236}">
                <a16:creationId xmlns:a16="http://schemas.microsoft.com/office/drawing/2014/main" id="{25B15F1E-A427-3A76-0907-3F2317EAAEC5}"/>
              </a:ext>
            </a:extLst>
          </p:cNvPr>
          <p:cNvSpPr/>
          <p:nvPr/>
        </p:nvSpPr>
        <p:spPr>
          <a:xfrm>
            <a:off x="3007256" y="3686879"/>
            <a:ext cx="545577" cy="808194"/>
          </a:xfrm>
          <a:prstGeom prst="lightningBolt">
            <a:avLst/>
          </a:prstGeom>
          <a:solidFill>
            <a:srgbClr val="00B05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45D6E6-2114-986A-808C-FB5769A8D3B2}"/>
              </a:ext>
            </a:extLst>
          </p:cNvPr>
          <p:cNvSpPr txBox="1"/>
          <p:nvPr/>
        </p:nvSpPr>
        <p:spPr>
          <a:xfrm>
            <a:off x="90225" y="2151600"/>
            <a:ext cx="731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Alanine</a:t>
            </a:r>
            <a:endParaRPr lang="ko-KR" altLang="en-US" sz="1200" b="1" i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4B5998-E987-328E-C094-13ED24B35BD0}"/>
              </a:ext>
            </a:extLst>
          </p:cNvPr>
          <p:cNvSpPr txBox="1"/>
          <p:nvPr/>
        </p:nvSpPr>
        <p:spPr>
          <a:xfrm>
            <a:off x="90225" y="3167332"/>
            <a:ext cx="731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Alanine</a:t>
            </a:r>
            <a:endParaRPr lang="ko-KR" altLang="en-US" sz="1200" b="1" i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C5F513-D659-623A-CF93-26938F2C941A}"/>
              </a:ext>
            </a:extLst>
          </p:cNvPr>
          <p:cNvSpPr txBox="1"/>
          <p:nvPr/>
        </p:nvSpPr>
        <p:spPr>
          <a:xfrm>
            <a:off x="705861" y="3167332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AA6454-E21A-2CE0-567B-A59A1D7B17E7}"/>
              </a:ext>
            </a:extLst>
          </p:cNvPr>
          <p:cNvSpPr txBox="1"/>
          <p:nvPr/>
        </p:nvSpPr>
        <p:spPr>
          <a:xfrm>
            <a:off x="889168" y="3167332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OH</a:t>
            </a:r>
            <a:r>
              <a:rPr lang="ko-KR" altLang="en-US" sz="1200" b="1" i="1" u="sng" baseline="30000" dirty="0" err="1"/>
              <a:t>ㅡ</a:t>
            </a:r>
            <a:endParaRPr lang="ko-KR" altLang="en-US" sz="1200" b="1" i="1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8EFFEB-E1A8-7022-53CA-39E97AB79B4E}"/>
              </a:ext>
            </a:extLst>
          </p:cNvPr>
          <p:cNvSpPr txBox="1"/>
          <p:nvPr/>
        </p:nvSpPr>
        <p:spPr>
          <a:xfrm>
            <a:off x="90225" y="4197025"/>
            <a:ext cx="731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Alanine</a:t>
            </a:r>
            <a:endParaRPr lang="ko-KR" altLang="en-US" sz="1200" b="1" i="1" u="sn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762D55-384A-5808-E684-068FB35C6DBD}"/>
              </a:ext>
            </a:extLst>
          </p:cNvPr>
          <p:cNvSpPr txBox="1"/>
          <p:nvPr/>
        </p:nvSpPr>
        <p:spPr>
          <a:xfrm>
            <a:off x="705861" y="4197025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DAA5C7-B7A5-7FA1-3746-96DF69C78BC1}"/>
              </a:ext>
            </a:extLst>
          </p:cNvPr>
          <p:cNvSpPr txBox="1"/>
          <p:nvPr/>
        </p:nvSpPr>
        <p:spPr>
          <a:xfrm>
            <a:off x="963708" y="4197025"/>
            <a:ext cx="377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H</a:t>
            </a:r>
            <a:r>
              <a:rPr lang="en-US" altLang="ko-KR" sz="1200" b="1" i="1" u="sng" baseline="30000" dirty="0"/>
              <a:t>+</a:t>
            </a:r>
            <a:endParaRPr lang="ko-KR" altLang="en-US" sz="1200" b="1" i="1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F75F93-9D9B-B20E-8762-D3DF4F656F62}"/>
              </a:ext>
            </a:extLst>
          </p:cNvPr>
          <p:cNvSpPr txBox="1"/>
          <p:nvPr/>
        </p:nvSpPr>
        <p:spPr>
          <a:xfrm>
            <a:off x="90225" y="5226718"/>
            <a:ext cx="731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Alanine</a:t>
            </a:r>
            <a:endParaRPr lang="ko-KR" altLang="en-US" sz="1200" b="1" i="1" u="sng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0019B3-6BE8-8D6B-64CB-DC8BBED796F0}"/>
              </a:ext>
            </a:extLst>
          </p:cNvPr>
          <p:cNvSpPr txBox="1"/>
          <p:nvPr/>
        </p:nvSpPr>
        <p:spPr>
          <a:xfrm>
            <a:off x="705861" y="5226718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73D8DD-88E0-B00E-8CD5-A692120B80C5}"/>
              </a:ext>
            </a:extLst>
          </p:cNvPr>
          <p:cNvSpPr txBox="1"/>
          <p:nvPr/>
        </p:nvSpPr>
        <p:spPr>
          <a:xfrm>
            <a:off x="948468" y="5226718"/>
            <a:ext cx="377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H</a:t>
            </a:r>
            <a:r>
              <a:rPr lang="en-US" altLang="ko-KR" sz="1200" b="1" i="1" u="sng" baseline="30000" dirty="0"/>
              <a:t>+</a:t>
            </a:r>
            <a:endParaRPr lang="ko-KR" altLang="en-US" sz="1200" b="1" i="1" u="sng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D4E760-4DE4-3DFB-1437-16F245D06B00}"/>
              </a:ext>
            </a:extLst>
          </p:cNvPr>
          <p:cNvSpPr txBox="1"/>
          <p:nvPr/>
        </p:nvSpPr>
        <p:spPr>
          <a:xfrm>
            <a:off x="1243050" y="5226089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E34482-711C-9468-09F9-366B16E7AA89}"/>
              </a:ext>
            </a:extLst>
          </p:cNvPr>
          <p:cNvSpPr txBox="1"/>
          <p:nvPr/>
        </p:nvSpPr>
        <p:spPr>
          <a:xfrm>
            <a:off x="1426357" y="5226089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OH</a:t>
            </a:r>
            <a:r>
              <a:rPr lang="ko-KR" altLang="en-US" sz="1200" b="1" i="1" u="sng" baseline="30000" dirty="0" err="1"/>
              <a:t>ㅡ</a:t>
            </a:r>
            <a:endParaRPr lang="ko-KR" altLang="en-US" sz="1200" b="1" i="1" u="sng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7B0349-0AE2-797B-3C39-DEAA34076492}"/>
              </a:ext>
            </a:extLst>
          </p:cNvPr>
          <p:cNvSpPr txBox="1"/>
          <p:nvPr/>
        </p:nvSpPr>
        <p:spPr>
          <a:xfrm>
            <a:off x="5565613" y="2151600"/>
            <a:ext cx="1505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 err="1"/>
              <a:t>Aminobutylic</a:t>
            </a:r>
            <a:r>
              <a:rPr lang="en-US" altLang="ko-KR" sz="1200" b="1" i="1" u="sng" dirty="0"/>
              <a:t> acid</a:t>
            </a:r>
            <a:endParaRPr lang="ko-KR" altLang="en-US" sz="1200" b="1" i="1" u="sng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A45012-45EF-7E57-B016-8F17B20F7713}"/>
              </a:ext>
            </a:extLst>
          </p:cNvPr>
          <p:cNvSpPr txBox="1"/>
          <p:nvPr/>
        </p:nvSpPr>
        <p:spPr>
          <a:xfrm>
            <a:off x="5565613" y="3167332"/>
            <a:ext cx="1505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 err="1"/>
              <a:t>Aminobutylic</a:t>
            </a:r>
            <a:r>
              <a:rPr lang="en-US" altLang="ko-KR" sz="1200" b="1" i="1" u="sng" dirty="0"/>
              <a:t> acid</a:t>
            </a:r>
            <a:endParaRPr lang="ko-KR" altLang="en-US" sz="1200" b="1" i="1" u="sng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FD9020-2955-541A-0494-F4ED7A0ED547}"/>
              </a:ext>
            </a:extLst>
          </p:cNvPr>
          <p:cNvSpPr txBox="1"/>
          <p:nvPr/>
        </p:nvSpPr>
        <p:spPr>
          <a:xfrm>
            <a:off x="7023627" y="3167332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128A61-1385-3548-751A-D94C1C8E006F}"/>
              </a:ext>
            </a:extLst>
          </p:cNvPr>
          <p:cNvSpPr txBox="1"/>
          <p:nvPr/>
        </p:nvSpPr>
        <p:spPr>
          <a:xfrm>
            <a:off x="7206934" y="3167332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OH</a:t>
            </a:r>
            <a:r>
              <a:rPr lang="ko-KR" altLang="en-US" sz="1200" b="1" i="1" u="sng" baseline="30000" dirty="0" err="1"/>
              <a:t>ㅡ</a:t>
            </a:r>
            <a:endParaRPr lang="ko-KR" altLang="en-US" sz="1200" b="1" i="1" u="sng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44A0AA-5D08-C7B8-B78D-7B22F2D66FCD}"/>
              </a:ext>
            </a:extLst>
          </p:cNvPr>
          <p:cNvSpPr txBox="1"/>
          <p:nvPr/>
        </p:nvSpPr>
        <p:spPr>
          <a:xfrm>
            <a:off x="5565613" y="4197025"/>
            <a:ext cx="1505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 err="1"/>
              <a:t>Aminobutylic</a:t>
            </a:r>
            <a:r>
              <a:rPr lang="en-US" altLang="ko-KR" sz="1200" b="1" i="1" u="sng" dirty="0"/>
              <a:t> acid</a:t>
            </a:r>
            <a:endParaRPr lang="ko-KR" altLang="en-US" sz="1200" b="1" i="1" u="sng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937D94-8349-C3BB-2EB8-CC05EB27C58F}"/>
              </a:ext>
            </a:extLst>
          </p:cNvPr>
          <p:cNvSpPr txBox="1"/>
          <p:nvPr/>
        </p:nvSpPr>
        <p:spPr>
          <a:xfrm>
            <a:off x="7023627" y="4197025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26B8A5-6CEA-A4D3-B1F7-4E38BFA56B43}"/>
              </a:ext>
            </a:extLst>
          </p:cNvPr>
          <p:cNvSpPr txBox="1"/>
          <p:nvPr/>
        </p:nvSpPr>
        <p:spPr>
          <a:xfrm>
            <a:off x="7281474" y="4197025"/>
            <a:ext cx="377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H</a:t>
            </a:r>
            <a:r>
              <a:rPr lang="en-US" altLang="ko-KR" sz="1200" b="1" i="1" u="sng" baseline="30000" dirty="0"/>
              <a:t>+</a:t>
            </a:r>
            <a:endParaRPr lang="ko-KR" altLang="en-US" sz="1200" b="1" i="1" u="sng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DA8055-FECD-7394-E4AC-CC9FA1555D65}"/>
              </a:ext>
            </a:extLst>
          </p:cNvPr>
          <p:cNvSpPr txBox="1"/>
          <p:nvPr/>
        </p:nvSpPr>
        <p:spPr>
          <a:xfrm>
            <a:off x="5565613" y="5226718"/>
            <a:ext cx="1505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 err="1"/>
              <a:t>Aminobutylic</a:t>
            </a:r>
            <a:r>
              <a:rPr lang="en-US" altLang="ko-KR" sz="1200" b="1" i="1" u="sng" dirty="0"/>
              <a:t> acid</a:t>
            </a:r>
            <a:endParaRPr lang="ko-KR" altLang="en-US" sz="1200" b="1" i="1" u="sng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E661CF-FEFA-CDBD-C96E-6A6D8399DD82}"/>
              </a:ext>
            </a:extLst>
          </p:cNvPr>
          <p:cNvSpPr txBox="1"/>
          <p:nvPr/>
        </p:nvSpPr>
        <p:spPr>
          <a:xfrm>
            <a:off x="7023627" y="5226718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E102820-7528-CDA7-C55F-0D885D45EB98}"/>
              </a:ext>
            </a:extLst>
          </p:cNvPr>
          <p:cNvSpPr txBox="1"/>
          <p:nvPr/>
        </p:nvSpPr>
        <p:spPr>
          <a:xfrm>
            <a:off x="7266234" y="5226718"/>
            <a:ext cx="377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H</a:t>
            </a:r>
            <a:r>
              <a:rPr lang="en-US" altLang="ko-KR" sz="1200" b="1" i="1" u="sng" baseline="30000" dirty="0"/>
              <a:t>+</a:t>
            </a:r>
            <a:endParaRPr lang="ko-KR" altLang="en-US" sz="1200" b="1" i="1" u="sng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108CF7-2BF4-26C0-9CCB-20A78E0D515B}"/>
              </a:ext>
            </a:extLst>
          </p:cNvPr>
          <p:cNvSpPr txBox="1"/>
          <p:nvPr/>
        </p:nvSpPr>
        <p:spPr>
          <a:xfrm>
            <a:off x="7560816" y="5226089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9BB04F-38C4-8F6D-DAF1-E5035528B484}"/>
              </a:ext>
            </a:extLst>
          </p:cNvPr>
          <p:cNvSpPr txBox="1"/>
          <p:nvPr/>
        </p:nvSpPr>
        <p:spPr>
          <a:xfrm>
            <a:off x="7744123" y="5226089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OH</a:t>
            </a:r>
            <a:r>
              <a:rPr lang="ko-KR" altLang="en-US" sz="1200" b="1" i="1" u="sng" baseline="30000" dirty="0" err="1"/>
              <a:t>ㅡ</a:t>
            </a:r>
            <a:endParaRPr lang="ko-KR" altLang="en-US" sz="1200" b="1" i="1" u="sng" dirty="0"/>
          </a:p>
        </p:txBody>
      </p:sp>
    </p:spTree>
    <p:extLst>
      <p:ext uri="{BB962C8B-B14F-4D97-AF65-F5344CB8AC3E}">
        <p14:creationId xmlns:p14="http://schemas.microsoft.com/office/powerpoint/2010/main" val="2712746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47875-01C3-490B-A744-10F574764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4989001D-57BE-4120-7D4E-10E67B3E8B78}"/>
              </a:ext>
            </a:extLst>
          </p:cNvPr>
          <p:cNvSpPr txBox="1"/>
          <p:nvPr/>
        </p:nvSpPr>
        <p:spPr>
          <a:xfrm>
            <a:off x="599056" y="110050"/>
            <a:ext cx="8751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1" u="sng" dirty="0">
                <a:solidFill>
                  <a:srgbClr val="002060"/>
                </a:solidFill>
              </a:rPr>
              <a:t>2</a:t>
            </a:r>
            <a:r>
              <a:rPr lang="ko-KR" altLang="en-US" b="1" i="1" u="sng" dirty="0">
                <a:solidFill>
                  <a:srgbClr val="002060"/>
                </a:solidFill>
              </a:rPr>
              <a:t>개의 </a:t>
            </a:r>
            <a:r>
              <a:rPr lang="en-US" altLang="ko-KR" b="1" i="1" u="sng" dirty="0">
                <a:solidFill>
                  <a:srgbClr val="002060"/>
                </a:solidFill>
              </a:rPr>
              <a:t>Zwitterionic form</a:t>
            </a:r>
            <a:r>
              <a:rPr lang="ko-KR" altLang="en-US" b="1" i="1" u="sng" dirty="0">
                <a:solidFill>
                  <a:srgbClr val="002060"/>
                </a:solidFill>
              </a:rPr>
              <a:t>에 대한 </a:t>
            </a:r>
            <a:r>
              <a:rPr lang="en-US" altLang="ko-KR" b="1" i="1" u="sng" dirty="0">
                <a:solidFill>
                  <a:srgbClr val="002060"/>
                </a:solidFill>
              </a:rPr>
              <a:t>proton, hydroxide ion</a:t>
            </a:r>
            <a:r>
              <a:rPr lang="ko-KR" altLang="en-US" b="1" i="1" u="sng" dirty="0">
                <a:solidFill>
                  <a:srgbClr val="002060"/>
                </a:solidFill>
              </a:rPr>
              <a:t>의 바인딩 에너지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0A4C55BA-F77D-4C73-8B7A-F78AB95682D7}"/>
              </a:ext>
            </a:extLst>
          </p:cNvPr>
          <p:cNvSpPr/>
          <p:nvPr/>
        </p:nvSpPr>
        <p:spPr>
          <a:xfrm>
            <a:off x="2953803" y="471866"/>
            <a:ext cx="1060523" cy="282225"/>
          </a:xfrm>
          <a:prstGeom prst="ellipse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  <a:cs typeface="Arial" panose="020B0604020202020204" pitchFamily="34" charset="0"/>
            </a:endParaRPr>
          </a:p>
        </p:txBody>
      </p: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D24E61AD-62A0-FDF9-83A7-15296B0948B0}"/>
              </a:ext>
            </a:extLst>
          </p:cNvPr>
          <p:cNvGrpSpPr/>
          <p:nvPr/>
        </p:nvGrpSpPr>
        <p:grpSpPr>
          <a:xfrm>
            <a:off x="6322762" y="2414638"/>
            <a:ext cx="1790849" cy="3809082"/>
            <a:chOff x="6322762" y="2082129"/>
            <a:chExt cx="1790849" cy="3809082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DAFF2245-683B-779D-EB8A-6E38D6DD9D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22762" y="2082129"/>
              <a:ext cx="1394248" cy="720000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BA11BE0D-29A5-414D-5807-1605BD4A5D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22762" y="3111823"/>
              <a:ext cx="1325942" cy="720000"/>
            </a:xfrm>
            <a:prstGeom prst="rect">
              <a:avLst/>
            </a:prstGeom>
          </p:spPr>
        </p:pic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D946443E-7102-0B2E-6CA0-817B2A895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22762" y="4141517"/>
              <a:ext cx="1498065" cy="720000"/>
            </a:xfrm>
            <a:prstGeom prst="rect">
              <a:avLst/>
            </a:prstGeom>
          </p:spPr>
        </p:pic>
        <p:pic>
          <p:nvPicPr>
            <p:cNvPr id="115" name="그림 114">
              <a:extLst>
                <a:ext uri="{FF2B5EF4-FFF2-40B4-BE49-F238E27FC236}">
                  <a16:creationId xmlns:a16="http://schemas.microsoft.com/office/drawing/2014/main" id="{8878E18C-0E68-8CBA-FD4B-29D9BC0A3D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22762" y="5171211"/>
              <a:ext cx="1790849" cy="720000"/>
            </a:xfrm>
            <a:prstGeom prst="rect">
              <a:avLst/>
            </a:prstGeom>
          </p:spPr>
        </p:pic>
      </p:grpSp>
      <p:pic>
        <p:nvPicPr>
          <p:cNvPr id="24" name="그림 23">
            <a:extLst>
              <a:ext uri="{FF2B5EF4-FFF2-40B4-BE49-F238E27FC236}">
                <a16:creationId xmlns:a16="http://schemas.microsoft.com/office/drawing/2014/main" id="{ED2E8ACB-91BE-D4B7-D1B6-262AC88460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4683" y="2414638"/>
            <a:ext cx="1656868" cy="720000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E889CDF2-E984-2C2F-5160-6385282AC6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2058" y="3444332"/>
            <a:ext cx="1239493" cy="720000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FD91F121-7166-BADE-1450-0853E19DA2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3724" y="4474026"/>
            <a:ext cx="1447827" cy="720000"/>
          </a:xfrm>
          <a:prstGeom prst="rect">
            <a:avLst/>
          </a:prstGeom>
        </p:spPr>
      </p:pic>
      <p:pic>
        <p:nvPicPr>
          <p:cNvPr id="118" name="그림 117">
            <a:extLst>
              <a:ext uri="{FF2B5EF4-FFF2-40B4-BE49-F238E27FC236}">
                <a16:creationId xmlns:a16="http://schemas.microsoft.com/office/drawing/2014/main" id="{231C9D9C-F781-61FE-E11A-F9E7F26B91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05614" y="5503720"/>
            <a:ext cx="1605937" cy="720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F5A0FDA-5F5A-D97F-E086-1CF7E0D95A2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113" y="4474025"/>
            <a:ext cx="851937" cy="720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B669262-43BA-B944-0647-9627BB991E2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1113" y="5503718"/>
            <a:ext cx="1135215" cy="720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A4E3A6E-10E5-3A9A-DF65-B3DDB649CC4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1113" y="2414638"/>
            <a:ext cx="944887" cy="720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1B6993B-48A7-F24A-A250-46CF2B3FC1C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85137" y="4474024"/>
            <a:ext cx="1065946" cy="720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4703D19-DC3F-8501-D070-5888B9BB220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54850" y="5503718"/>
            <a:ext cx="1096233" cy="720000"/>
          </a:xfrm>
          <a:prstGeom prst="rect">
            <a:avLst/>
          </a:prstGeom>
        </p:spPr>
      </p:pic>
      <p:pic>
        <p:nvPicPr>
          <p:cNvPr id="123" name="그림 122">
            <a:extLst>
              <a:ext uri="{FF2B5EF4-FFF2-40B4-BE49-F238E27FC236}">
                <a16:creationId xmlns:a16="http://schemas.microsoft.com/office/drawing/2014/main" id="{51F6FA19-ED08-EBD6-FABE-0AEFCA6ADBB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21016" y="2414638"/>
            <a:ext cx="930067" cy="720000"/>
          </a:xfrm>
          <a:prstGeom prst="rect">
            <a:avLst/>
          </a:prstGeom>
        </p:spPr>
      </p:pic>
      <p:sp>
        <p:nvSpPr>
          <p:cNvPr id="142" name="화살표: 오른쪽 141">
            <a:extLst>
              <a:ext uri="{FF2B5EF4-FFF2-40B4-BE49-F238E27FC236}">
                <a16:creationId xmlns:a16="http://schemas.microsoft.com/office/drawing/2014/main" id="{3487CF37-2628-5F2A-7471-725BBD813911}"/>
              </a:ext>
            </a:extLst>
          </p:cNvPr>
          <p:cNvSpPr/>
          <p:nvPr/>
        </p:nvSpPr>
        <p:spPr>
          <a:xfrm>
            <a:off x="1814828" y="2682274"/>
            <a:ext cx="665018" cy="18472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화살표: 오른쪽 143">
            <a:extLst>
              <a:ext uri="{FF2B5EF4-FFF2-40B4-BE49-F238E27FC236}">
                <a16:creationId xmlns:a16="http://schemas.microsoft.com/office/drawing/2014/main" id="{68D71564-0C1D-F566-7338-D40D0D2FC724}"/>
              </a:ext>
            </a:extLst>
          </p:cNvPr>
          <p:cNvSpPr/>
          <p:nvPr/>
        </p:nvSpPr>
        <p:spPr>
          <a:xfrm>
            <a:off x="1814828" y="4741660"/>
            <a:ext cx="665018" cy="18472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화살표: 오른쪽 144">
            <a:extLst>
              <a:ext uri="{FF2B5EF4-FFF2-40B4-BE49-F238E27FC236}">
                <a16:creationId xmlns:a16="http://schemas.microsoft.com/office/drawing/2014/main" id="{60CA1DC7-FBF6-FE3D-61E2-198BD9D7E7D3}"/>
              </a:ext>
            </a:extLst>
          </p:cNvPr>
          <p:cNvSpPr/>
          <p:nvPr/>
        </p:nvSpPr>
        <p:spPr>
          <a:xfrm>
            <a:off x="1814828" y="5771354"/>
            <a:ext cx="665018" cy="18472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45FA39F4-B586-5169-0A5E-3E0D8352CFCA}"/>
              </a:ext>
            </a:extLst>
          </p:cNvPr>
          <p:cNvGrpSpPr/>
          <p:nvPr/>
        </p:nvGrpSpPr>
        <p:grpSpPr>
          <a:xfrm>
            <a:off x="8277872" y="2682274"/>
            <a:ext cx="665018" cy="3273807"/>
            <a:chOff x="1814828" y="2349765"/>
            <a:chExt cx="665018" cy="3273807"/>
          </a:xfrm>
        </p:grpSpPr>
        <p:sp>
          <p:nvSpPr>
            <p:cNvPr id="148" name="화살표: 오른쪽 147">
              <a:extLst>
                <a:ext uri="{FF2B5EF4-FFF2-40B4-BE49-F238E27FC236}">
                  <a16:creationId xmlns:a16="http://schemas.microsoft.com/office/drawing/2014/main" id="{6C23FC11-1836-6136-08D8-65556B10A9F5}"/>
                </a:ext>
              </a:extLst>
            </p:cNvPr>
            <p:cNvSpPr/>
            <p:nvPr/>
          </p:nvSpPr>
          <p:spPr>
            <a:xfrm>
              <a:off x="1814828" y="2349765"/>
              <a:ext cx="665018" cy="184727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화살표: 오른쪽 148">
              <a:extLst>
                <a:ext uri="{FF2B5EF4-FFF2-40B4-BE49-F238E27FC236}">
                  <a16:creationId xmlns:a16="http://schemas.microsoft.com/office/drawing/2014/main" id="{28C12619-DE02-0870-F0D7-AFADAB019BC0}"/>
                </a:ext>
              </a:extLst>
            </p:cNvPr>
            <p:cNvSpPr/>
            <p:nvPr/>
          </p:nvSpPr>
          <p:spPr>
            <a:xfrm>
              <a:off x="1814828" y="3345266"/>
              <a:ext cx="665018" cy="184727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" name="화살표: 오른쪽 149">
              <a:extLst>
                <a:ext uri="{FF2B5EF4-FFF2-40B4-BE49-F238E27FC236}">
                  <a16:creationId xmlns:a16="http://schemas.microsoft.com/office/drawing/2014/main" id="{A0834BA3-67BB-AD3C-D639-F0E09570C3CA}"/>
                </a:ext>
              </a:extLst>
            </p:cNvPr>
            <p:cNvSpPr/>
            <p:nvPr/>
          </p:nvSpPr>
          <p:spPr>
            <a:xfrm>
              <a:off x="1814828" y="4409151"/>
              <a:ext cx="665018" cy="184727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화살표: 오른쪽 150">
              <a:extLst>
                <a:ext uri="{FF2B5EF4-FFF2-40B4-BE49-F238E27FC236}">
                  <a16:creationId xmlns:a16="http://schemas.microsoft.com/office/drawing/2014/main" id="{25BE56C1-7599-4688-DC91-B086A52DD20C}"/>
                </a:ext>
              </a:extLst>
            </p:cNvPr>
            <p:cNvSpPr/>
            <p:nvPr/>
          </p:nvSpPr>
          <p:spPr>
            <a:xfrm>
              <a:off x="1814828" y="5438845"/>
              <a:ext cx="665018" cy="184727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78E2C0CE-F287-3240-1CC2-E721F8DA5C5D}"/>
              </a:ext>
            </a:extLst>
          </p:cNvPr>
          <p:cNvSpPr txBox="1"/>
          <p:nvPr/>
        </p:nvSpPr>
        <p:spPr>
          <a:xfrm>
            <a:off x="1534397" y="2287732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819C16C9-0A6F-DE81-6232-38027EDF1163}"/>
              </a:ext>
            </a:extLst>
          </p:cNvPr>
          <p:cNvSpPr txBox="1"/>
          <p:nvPr/>
        </p:nvSpPr>
        <p:spPr>
          <a:xfrm>
            <a:off x="1534397" y="4325656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7D2A9823-D78E-59C0-E097-56D2344D0DDA}"/>
              </a:ext>
            </a:extLst>
          </p:cNvPr>
          <p:cNvSpPr txBox="1"/>
          <p:nvPr/>
        </p:nvSpPr>
        <p:spPr>
          <a:xfrm>
            <a:off x="1534397" y="5386066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C50FB86-A397-195E-5FE5-40E744182DFE}"/>
              </a:ext>
            </a:extLst>
          </p:cNvPr>
          <p:cNvSpPr txBox="1"/>
          <p:nvPr/>
        </p:nvSpPr>
        <p:spPr>
          <a:xfrm>
            <a:off x="7997441" y="2287732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E3B270E8-796F-D863-4CAB-AE85AB16936B}"/>
              </a:ext>
            </a:extLst>
          </p:cNvPr>
          <p:cNvSpPr txBox="1"/>
          <p:nvPr/>
        </p:nvSpPr>
        <p:spPr>
          <a:xfrm>
            <a:off x="7997441" y="3298116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BB88A95-785B-6B48-F268-CD0EE88D03BE}"/>
              </a:ext>
            </a:extLst>
          </p:cNvPr>
          <p:cNvSpPr txBox="1"/>
          <p:nvPr/>
        </p:nvSpPr>
        <p:spPr>
          <a:xfrm>
            <a:off x="7997441" y="4325656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8C6BD938-462A-47C2-44A0-5547B6ADBE84}"/>
              </a:ext>
            </a:extLst>
          </p:cNvPr>
          <p:cNvSpPr txBox="1"/>
          <p:nvPr/>
        </p:nvSpPr>
        <p:spPr>
          <a:xfrm>
            <a:off x="7997441" y="5386066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FAA70F8-2FC3-7669-2150-B3818045383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0673" y="1528073"/>
            <a:ext cx="252502" cy="369332"/>
          </a:xfrm>
          <a:prstGeom prst="rect">
            <a:avLst/>
          </a:prstGeom>
        </p:spPr>
      </p:pic>
      <p:pic>
        <p:nvPicPr>
          <p:cNvPr id="130" name="그림 129">
            <a:extLst>
              <a:ext uri="{FF2B5EF4-FFF2-40B4-BE49-F238E27FC236}">
                <a16:creationId xmlns:a16="http://schemas.microsoft.com/office/drawing/2014/main" id="{E03712D5-AA58-CF23-3B8E-2F6E11C9D45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22662" y="1528073"/>
            <a:ext cx="252502" cy="369332"/>
          </a:xfrm>
          <a:prstGeom prst="rect">
            <a:avLst/>
          </a:prstGeom>
        </p:spPr>
      </p:pic>
      <p:sp>
        <p:nvSpPr>
          <p:cNvPr id="162" name="화살표: 오른쪽 161">
            <a:extLst>
              <a:ext uri="{FF2B5EF4-FFF2-40B4-BE49-F238E27FC236}">
                <a16:creationId xmlns:a16="http://schemas.microsoft.com/office/drawing/2014/main" id="{05F8ADB7-B5FB-A3E8-575E-EEB0E032F8FF}"/>
              </a:ext>
            </a:extLst>
          </p:cNvPr>
          <p:cNvSpPr/>
          <p:nvPr/>
        </p:nvSpPr>
        <p:spPr>
          <a:xfrm>
            <a:off x="1814828" y="1811703"/>
            <a:ext cx="665018" cy="18472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3BC660A1-7313-8B78-8743-9CD7A66D5506}"/>
              </a:ext>
            </a:extLst>
          </p:cNvPr>
          <p:cNvSpPr txBox="1"/>
          <p:nvPr/>
        </p:nvSpPr>
        <p:spPr>
          <a:xfrm>
            <a:off x="1534397" y="1417161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0D4AF2DD-B9B5-E39F-03D1-7429C260C949}"/>
              </a:ext>
            </a:extLst>
          </p:cNvPr>
          <p:cNvSpPr txBox="1"/>
          <p:nvPr/>
        </p:nvSpPr>
        <p:spPr>
          <a:xfrm>
            <a:off x="3980113" y="1620406"/>
            <a:ext cx="10014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200" b="1" dirty="0"/>
              <a:t>-75.918 </a:t>
            </a:r>
            <a:r>
              <a:rPr lang="en-US" altLang="ko-KR" sz="1200" b="1" dirty="0"/>
              <a:t>Eh</a:t>
            </a:r>
            <a:endParaRPr lang="ko-KR" altLang="en-US" b="1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1177129E-2860-37B9-B400-D42C82BC47D2}"/>
              </a:ext>
            </a:extLst>
          </p:cNvPr>
          <p:cNvSpPr txBox="1"/>
          <p:nvPr/>
        </p:nvSpPr>
        <p:spPr>
          <a:xfrm>
            <a:off x="3879402" y="2636137"/>
            <a:ext cx="11021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-323.747 Eh</a:t>
            </a:r>
            <a:endParaRPr lang="ko-KR" altLang="en-US" b="1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73038002-DE8D-AD5B-AC40-D7B1E9ACC3EE}"/>
              </a:ext>
            </a:extLst>
          </p:cNvPr>
          <p:cNvSpPr txBox="1"/>
          <p:nvPr/>
        </p:nvSpPr>
        <p:spPr>
          <a:xfrm>
            <a:off x="3879402" y="4707141"/>
            <a:ext cx="11021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-324.199 Eh</a:t>
            </a:r>
            <a:endParaRPr lang="ko-KR" altLang="en-US" b="1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8AD94A8B-C414-370E-F6AB-2DBDC2F3FBB0}"/>
              </a:ext>
            </a:extLst>
          </p:cNvPr>
          <p:cNvSpPr txBox="1"/>
          <p:nvPr/>
        </p:nvSpPr>
        <p:spPr>
          <a:xfrm>
            <a:off x="3879402" y="5783996"/>
            <a:ext cx="11021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-400.186 Eh</a:t>
            </a:r>
            <a:endParaRPr lang="ko-KR" altLang="en-US" b="1" dirty="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C941B075-3EE2-A013-0F4D-187D97A62166}"/>
              </a:ext>
            </a:extLst>
          </p:cNvPr>
          <p:cNvSpPr txBox="1"/>
          <p:nvPr/>
        </p:nvSpPr>
        <p:spPr>
          <a:xfrm>
            <a:off x="10811551" y="2670656"/>
            <a:ext cx="11215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-363.039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Eh</a:t>
            </a:r>
            <a:endParaRPr lang="ko-KR" altLang="en-US" b="1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381CA95-8B33-EA32-67B9-66E4C00D9508}"/>
              </a:ext>
            </a:extLst>
          </p:cNvPr>
          <p:cNvSpPr txBox="1"/>
          <p:nvPr/>
        </p:nvSpPr>
        <p:spPr>
          <a:xfrm>
            <a:off x="10811551" y="3706158"/>
            <a:ext cx="11215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-439.020 Eh</a:t>
            </a:r>
            <a:endParaRPr lang="ko-KR" altLang="en-US" b="1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79FE581F-1C35-5D81-43F3-090BF5338683}"/>
              </a:ext>
            </a:extLst>
          </p:cNvPr>
          <p:cNvSpPr txBox="1"/>
          <p:nvPr/>
        </p:nvSpPr>
        <p:spPr>
          <a:xfrm>
            <a:off x="10811551" y="4741660"/>
            <a:ext cx="11215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-363.503 Eh</a:t>
            </a:r>
            <a:endParaRPr lang="ko-KR" altLang="en-US" b="1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3F2FAF4-3625-C8A6-6857-497B37FCA2FD}"/>
              </a:ext>
            </a:extLst>
          </p:cNvPr>
          <p:cNvSpPr txBox="1"/>
          <p:nvPr/>
        </p:nvSpPr>
        <p:spPr>
          <a:xfrm>
            <a:off x="10811551" y="5783996"/>
            <a:ext cx="11215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-439.488 Eh</a:t>
            </a:r>
            <a:endParaRPr lang="ko-KR" altLang="en-US" b="1" dirty="0"/>
          </a:p>
        </p:txBody>
      </p:sp>
      <p:pic>
        <p:nvPicPr>
          <p:cNvPr id="176" name="그림 175">
            <a:extLst>
              <a:ext uri="{FF2B5EF4-FFF2-40B4-BE49-F238E27FC236}">
                <a16:creationId xmlns:a16="http://schemas.microsoft.com/office/drawing/2014/main" id="{808C050E-2A2E-0FCA-180D-B837EC681A6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4527" y="812879"/>
            <a:ext cx="244793" cy="215121"/>
          </a:xfrm>
          <a:prstGeom prst="rect">
            <a:avLst/>
          </a:prstGeom>
        </p:spPr>
      </p:pic>
      <p:sp>
        <p:nvSpPr>
          <p:cNvPr id="177" name="TextBox 176">
            <a:extLst>
              <a:ext uri="{FF2B5EF4-FFF2-40B4-BE49-F238E27FC236}">
                <a16:creationId xmlns:a16="http://schemas.microsoft.com/office/drawing/2014/main" id="{0B5E1406-0191-5C02-19E6-3C4CBC643755}"/>
              </a:ext>
            </a:extLst>
          </p:cNvPr>
          <p:cNvSpPr txBox="1"/>
          <p:nvPr/>
        </p:nvSpPr>
        <p:spPr>
          <a:xfrm>
            <a:off x="1383050" y="774095"/>
            <a:ext cx="15707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H</a:t>
            </a:r>
            <a:r>
              <a:rPr lang="en-US" altLang="ko-KR" sz="1100" b="1" baseline="30000" dirty="0"/>
              <a:t>+</a:t>
            </a:r>
            <a:r>
              <a:rPr lang="en-US" altLang="ko-KR" sz="1100" b="1" dirty="0"/>
              <a:t> proton</a:t>
            </a:r>
            <a:endParaRPr lang="ko-KR" altLang="en-US" b="1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78D8DA1D-988E-7AC4-A2D2-2C2012B6D64D}"/>
              </a:ext>
            </a:extLst>
          </p:cNvPr>
          <p:cNvSpPr txBox="1"/>
          <p:nvPr/>
        </p:nvSpPr>
        <p:spPr>
          <a:xfrm>
            <a:off x="3695439" y="774095"/>
            <a:ext cx="15707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0 Eh</a:t>
            </a:r>
            <a:endParaRPr lang="ko-KR" altLang="en-US" b="1" dirty="0"/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BA66129B-303C-A160-AF7A-62853096ABAC}"/>
              </a:ext>
            </a:extLst>
          </p:cNvPr>
          <p:cNvSpPr/>
          <p:nvPr/>
        </p:nvSpPr>
        <p:spPr>
          <a:xfrm>
            <a:off x="2768346" y="5665440"/>
            <a:ext cx="457597" cy="5472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3" name="번개 182">
            <a:extLst>
              <a:ext uri="{FF2B5EF4-FFF2-40B4-BE49-F238E27FC236}">
                <a16:creationId xmlns:a16="http://schemas.microsoft.com/office/drawing/2014/main" id="{FF67B992-2DA9-FE0D-AB70-42486C2FB18B}"/>
              </a:ext>
            </a:extLst>
          </p:cNvPr>
          <p:cNvSpPr/>
          <p:nvPr/>
        </p:nvSpPr>
        <p:spPr>
          <a:xfrm>
            <a:off x="2405875" y="4890234"/>
            <a:ext cx="545577" cy="808194"/>
          </a:xfrm>
          <a:prstGeom prst="lightningBolt">
            <a:avLst/>
          </a:prstGeom>
          <a:solidFill>
            <a:srgbClr val="00B05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67FC03C-0750-E31C-4B0D-50EE46BB376D}"/>
              </a:ext>
            </a:extLst>
          </p:cNvPr>
          <p:cNvSpPr/>
          <p:nvPr/>
        </p:nvSpPr>
        <p:spPr>
          <a:xfrm>
            <a:off x="3383335" y="5513784"/>
            <a:ext cx="457597" cy="5472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9545C66-0A05-D55E-8A97-FBDEE43A6770}"/>
              </a:ext>
            </a:extLst>
          </p:cNvPr>
          <p:cNvSpPr/>
          <p:nvPr/>
        </p:nvSpPr>
        <p:spPr>
          <a:xfrm>
            <a:off x="9212355" y="5576478"/>
            <a:ext cx="747239" cy="5472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번개 6">
            <a:extLst>
              <a:ext uri="{FF2B5EF4-FFF2-40B4-BE49-F238E27FC236}">
                <a16:creationId xmlns:a16="http://schemas.microsoft.com/office/drawing/2014/main" id="{39F7C801-DDC4-C431-0C01-B611FCA19CD9}"/>
              </a:ext>
            </a:extLst>
          </p:cNvPr>
          <p:cNvSpPr/>
          <p:nvPr/>
        </p:nvSpPr>
        <p:spPr>
          <a:xfrm>
            <a:off x="8849884" y="4801272"/>
            <a:ext cx="545577" cy="808194"/>
          </a:xfrm>
          <a:prstGeom prst="lightningBolt">
            <a:avLst/>
          </a:prstGeom>
          <a:solidFill>
            <a:srgbClr val="00B05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A4EF733-7F7E-1661-6B0A-FACA2FE779F4}"/>
              </a:ext>
            </a:extLst>
          </p:cNvPr>
          <p:cNvSpPr/>
          <p:nvPr/>
        </p:nvSpPr>
        <p:spPr>
          <a:xfrm>
            <a:off x="10353953" y="5583855"/>
            <a:ext cx="457597" cy="5472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3F6BE5-C46B-49B3-7A6A-2A3E4097AC2C}"/>
              </a:ext>
            </a:extLst>
          </p:cNvPr>
          <p:cNvSpPr txBox="1"/>
          <p:nvPr/>
        </p:nvSpPr>
        <p:spPr>
          <a:xfrm>
            <a:off x="90225" y="2151600"/>
            <a:ext cx="731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Alanine</a:t>
            </a:r>
            <a:endParaRPr lang="ko-KR" altLang="en-US" sz="1200" b="1" i="1" u="sng" dirty="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269DAEF-1B1E-B53B-8CF1-169D71625FF9}"/>
              </a:ext>
            </a:extLst>
          </p:cNvPr>
          <p:cNvGrpSpPr/>
          <p:nvPr/>
        </p:nvGrpSpPr>
        <p:grpSpPr>
          <a:xfrm>
            <a:off x="90225" y="3167332"/>
            <a:ext cx="4891294" cy="996999"/>
            <a:chOff x="90225" y="3167332"/>
            <a:chExt cx="4891294" cy="996999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2FEEC1F-A81D-CFE5-11A0-5823BB633A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91113" y="3444331"/>
              <a:ext cx="931979" cy="720000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467D1C20-133D-927A-8901-579AEB6AAF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2849959" y="3444331"/>
              <a:ext cx="1001124" cy="720000"/>
            </a:xfrm>
            <a:prstGeom prst="rect">
              <a:avLst/>
            </a:prstGeom>
          </p:spPr>
        </p:pic>
        <p:sp>
          <p:nvSpPr>
            <p:cNvPr id="143" name="화살표: 오른쪽 142">
              <a:extLst>
                <a:ext uri="{FF2B5EF4-FFF2-40B4-BE49-F238E27FC236}">
                  <a16:creationId xmlns:a16="http://schemas.microsoft.com/office/drawing/2014/main" id="{3F7D962F-9C1C-ABE4-2CDA-F3A896C0EF31}"/>
                </a:ext>
              </a:extLst>
            </p:cNvPr>
            <p:cNvSpPr/>
            <p:nvPr/>
          </p:nvSpPr>
          <p:spPr>
            <a:xfrm>
              <a:off x="1814828" y="3677775"/>
              <a:ext cx="665018" cy="184727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A29D8D31-1D5C-F700-6E71-A17055242C76}"/>
                </a:ext>
              </a:extLst>
            </p:cNvPr>
            <p:cNvSpPr txBox="1"/>
            <p:nvPr/>
          </p:nvSpPr>
          <p:spPr>
            <a:xfrm>
              <a:off x="1534397" y="3298116"/>
              <a:ext cx="122588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b="1" dirty="0"/>
                <a:t>Geometry Optimization</a:t>
              </a:r>
              <a:endParaRPr lang="ko-KR" altLang="en-US" b="1" dirty="0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415BDE57-79FF-EBC2-A992-8E75D571D71E}"/>
                </a:ext>
              </a:extLst>
            </p:cNvPr>
            <p:cNvSpPr txBox="1"/>
            <p:nvPr/>
          </p:nvSpPr>
          <p:spPr>
            <a:xfrm>
              <a:off x="3879402" y="3671639"/>
              <a:ext cx="110211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1200" b="1" dirty="0"/>
                <a:t>-399.719 Eh</a:t>
              </a:r>
              <a:endParaRPr lang="ko-KR" altLang="en-US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768890F-C015-54BB-46B1-03903C532CA5}"/>
                </a:ext>
              </a:extLst>
            </p:cNvPr>
            <p:cNvSpPr txBox="1"/>
            <p:nvPr/>
          </p:nvSpPr>
          <p:spPr>
            <a:xfrm>
              <a:off x="90225" y="3167332"/>
              <a:ext cx="7312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b="1" i="1" u="sng" dirty="0"/>
                <a:t>Alanine</a:t>
              </a:r>
              <a:endParaRPr lang="ko-KR" altLang="en-US" sz="1200" b="1" i="1" u="sng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4F7203A-E90E-6AE6-5257-DF1A85E7F769}"/>
                </a:ext>
              </a:extLst>
            </p:cNvPr>
            <p:cNvSpPr txBox="1"/>
            <p:nvPr/>
          </p:nvSpPr>
          <p:spPr>
            <a:xfrm>
              <a:off x="705861" y="3167332"/>
              <a:ext cx="2952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b="1" dirty="0"/>
                <a:t>+</a:t>
              </a:r>
              <a:endParaRPr lang="ko-KR" altLang="en-US" sz="1200" b="1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6A21ADF-135A-E7F3-866B-1E64E43CBFE0}"/>
                </a:ext>
              </a:extLst>
            </p:cNvPr>
            <p:cNvSpPr txBox="1"/>
            <p:nvPr/>
          </p:nvSpPr>
          <p:spPr>
            <a:xfrm>
              <a:off x="889168" y="3167332"/>
              <a:ext cx="5261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b="1" i="1" u="sng" dirty="0"/>
                <a:t>OH</a:t>
              </a:r>
              <a:r>
                <a:rPr lang="ko-KR" altLang="en-US" sz="1200" b="1" i="1" u="sng" baseline="30000" dirty="0" err="1"/>
                <a:t>ㅡ</a:t>
              </a:r>
              <a:endParaRPr lang="ko-KR" altLang="en-US" sz="1200" b="1" i="1" u="sng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15C5283A-9754-9A2A-C295-C0DDC15CF00F}"/>
              </a:ext>
            </a:extLst>
          </p:cNvPr>
          <p:cNvSpPr txBox="1"/>
          <p:nvPr/>
        </p:nvSpPr>
        <p:spPr>
          <a:xfrm>
            <a:off x="90225" y="4197025"/>
            <a:ext cx="731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Alanine</a:t>
            </a:r>
            <a:endParaRPr lang="ko-KR" altLang="en-US" sz="1200" b="1" i="1" u="sng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8A7313-7C96-7AFA-0B39-76DCDA87C0D2}"/>
              </a:ext>
            </a:extLst>
          </p:cNvPr>
          <p:cNvSpPr txBox="1"/>
          <p:nvPr/>
        </p:nvSpPr>
        <p:spPr>
          <a:xfrm>
            <a:off x="705861" y="4197025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DC7AF0-7459-1EF7-F7E0-147D18047B38}"/>
              </a:ext>
            </a:extLst>
          </p:cNvPr>
          <p:cNvSpPr txBox="1"/>
          <p:nvPr/>
        </p:nvSpPr>
        <p:spPr>
          <a:xfrm>
            <a:off x="963708" y="4197025"/>
            <a:ext cx="377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H</a:t>
            </a:r>
            <a:r>
              <a:rPr lang="en-US" altLang="ko-KR" sz="1200" b="1" i="1" u="sng" baseline="30000" dirty="0"/>
              <a:t>+</a:t>
            </a:r>
            <a:endParaRPr lang="ko-KR" altLang="en-US" sz="1200" b="1" i="1" u="sng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9F6B26-03D3-ED06-095C-D39F079B3926}"/>
              </a:ext>
            </a:extLst>
          </p:cNvPr>
          <p:cNvSpPr txBox="1"/>
          <p:nvPr/>
        </p:nvSpPr>
        <p:spPr>
          <a:xfrm>
            <a:off x="90225" y="5226718"/>
            <a:ext cx="731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Alanine</a:t>
            </a:r>
            <a:endParaRPr lang="ko-KR" altLang="en-US" sz="1200" b="1" i="1" u="sng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DF4120-C8B1-81A2-E584-5F9231F2FC4B}"/>
              </a:ext>
            </a:extLst>
          </p:cNvPr>
          <p:cNvSpPr txBox="1"/>
          <p:nvPr/>
        </p:nvSpPr>
        <p:spPr>
          <a:xfrm>
            <a:off x="705861" y="5226718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813078-0AC6-AE47-8356-A466173E4DBC}"/>
              </a:ext>
            </a:extLst>
          </p:cNvPr>
          <p:cNvSpPr txBox="1"/>
          <p:nvPr/>
        </p:nvSpPr>
        <p:spPr>
          <a:xfrm>
            <a:off x="948468" y="5226718"/>
            <a:ext cx="377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H</a:t>
            </a:r>
            <a:r>
              <a:rPr lang="en-US" altLang="ko-KR" sz="1200" b="1" i="1" u="sng" baseline="30000" dirty="0"/>
              <a:t>+</a:t>
            </a:r>
            <a:endParaRPr lang="ko-KR" altLang="en-US" sz="1200" b="1" i="1" u="sng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70FEC2-8588-2763-854D-967B3FA69212}"/>
              </a:ext>
            </a:extLst>
          </p:cNvPr>
          <p:cNvSpPr txBox="1"/>
          <p:nvPr/>
        </p:nvSpPr>
        <p:spPr>
          <a:xfrm>
            <a:off x="1243050" y="5226089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A9D1D7-F2DA-BAE7-3EB2-1C8E8FD5FE41}"/>
              </a:ext>
            </a:extLst>
          </p:cNvPr>
          <p:cNvSpPr txBox="1"/>
          <p:nvPr/>
        </p:nvSpPr>
        <p:spPr>
          <a:xfrm>
            <a:off x="1426357" y="5226089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OH</a:t>
            </a:r>
            <a:r>
              <a:rPr lang="ko-KR" altLang="en-US" sz="1200" b="1" i="1" u="sng" baseline="30000" dirty="0" err="1"/>
              <a:t>ㅡ</a:t>
            </a:r>
            <a:endParaRPr lang="ko-KR" altLang="en-US" sz="1200" b="1" i="1" u="sng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CDA64D-B10D-C466-C2C1-244C4E13F15A}"/>
              </a:ext>
            </a:extLst>
          </p:cNvPr>
          <p:cNvSpPr txBox="1"/>
          <p:nvPr/>
        </p:nvSpPr>
        <p:spPr>
          <a:xfrm>
            <a:off x="5565613" y="2151600"/>
            <a:ext cx="1505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 err="1"/>
              <a:t>Aminobutylic</a:t>
            </a:r>
            <a:r>
              <a:rPr lang="en-US" altLang="ko-KR" sz="1200" b="1" i="1" u="sng" dirty="0"/>
              <a:t> acid</a:t>
            </a:r>
            <a:endParaRPr lang="ko-KR" altLang="en-US" sz="1200" b="1" i="1" u="sng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6D212F-B3CC-5C04-C627-C36B3C182198}"/>
              </a:ext>
            </a:extLst>
          </p:cNvPr>
          <p:cNvSpPr txBox="1"/>
          <p:nvPr/>
        </p:nvSpPr>
        <p:spPr>
          <a:xfrm>
            <a:off x="5565613" y="3167332"/>
            <a:ext cx="1505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 err="1"/>
              <a:t>Aminobutylic</a:t>
            </a:r>
            <a:r>
              <a:rPr lang="en-US" altLang="ko-KR" sz="1200" b="1" i="1" u="sng" dirty="0"/>
              <a:t> acid</a:t>
            </a:r>
            <a:endParaRPr lang="ko-KR" altLang="en-US" sz="1200" b="1" i="1" u="sng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A8F369-A728-AFD8-B779-9252084EDC10}"/>
              </a:ext>
            </a:extLst>
          </p:cNvPr>
          <p:cNvSpPr txBox="1"/>
          <p:nvPr/>
        </p:nvSpPr>
        <p:spPr>
          <a:xfrm>
            <a:off x="7023627" y="3167332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40D759-1DD6-F5F5-F947-70C225293E44}"/>
              </a:ext>
            </a:extLst>
          </p:cNvPr>
          <p:cNvSpPr txBox="1"/>
          <p:nvPr/>
        </p:nvSpPr>
        <p:spPr>
          <a:xfrm>
            <a:off x="7206934" y="3167332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OH</a:t>
            </a:r>
            <a:r>
              <a:rPr lang="ko-KR" altLang="en-US" sz="1200" b="1" i="1" u="sng" baseline="30000" dirty="0" err="1"/>
              <a:t>ㅡ</a:t>
            </a:r>
            <a:endParaRPr lang="ko-KR" altLang="en-US" sz="1200" b="1" i="1" u="sng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F40C08A-66A6-68BC-CB0C-0C4F9277217B}"/>
              </a:ext>
            </a:extLst>
          </p:cNvPr>
          <p:cNvSpPr txBox="1"/>
          <p:nvPr/>
        </p:nvSpPr>
        <p:spPr>
          <a:xfrm>
            <a:off x="5565613" y="4197025"/>
            <a:ext cx="1505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 err="1"/>
              <a:t>Aminobutylic</a:t>
            </a:r>
            <a:r>
              <a:rPr lang="en-US" altLang="ko-KR" sz="1200" b="1" i="1" u="sng" dirty="0"/>
              <a:t> acid</a:t>
            </a:r>
            <a:endParaRPr lang="ko-KR" altLang="en-US" sz="1200" b="1" i="1" u="sng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3A0A3B-3FFA-747F-F147-2D19A4F72BE7}"/>
              </a:ext>
            </a:extLst>
          </p:cNvPr>
          <p:cNvSpPr txBox="1"/>
          <p:nvPr/>
        </p:nvSpPr>
        <p:spPr>
          <a:xfrm>
            <a:off x="7023627" y="4197025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7ED86A-4ADE-5D15-0000-5256BE1D60D6}"/>
              </a:ext>
            </a:extLst>
          </p:cNvPr>
          <p:cNvSpPr txBox="1"/>
          <p:nvPr/>
        </p:nvSpPr>
        <p:spPr>
          <a:xfrm>
            <a:off x="7281474" y="4197025"/>
            <a:ext cx="377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H</a:t>
            </a:r>
            <a:r>
              <a:rPr lang="en-US" altLang="ko-KR" sz="1200" b="1" i="1" u="sng" baseline="30000" dirty="0"/>
              <a:t>+</a:t>
            </a:r>
            <a:endParaRPr lang="ko-KR" altLang="en-US" sz="1200" b="1" i="1" u="sng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FAAAD93-9D2C-C1F7-46F6-FFC273549672}"/>
              </a:ext>
            </a:extLst>
          </p:cNvPr>
          <p:cNvSpPr txBox="1"/>
          <p:nvPr/>
        </p:nvSpPr>
        <p:spPr>
          <a:xfrm>
            <a:off x="5565613" y="5226718"/>
            <a:ext cx="1505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 err="1"/>
              <a:t>Aminobutylic</a:t>
            </a:r>
            <a:r>
              <a:rPr lang="en-US" altLang="ko-KR" sz="1200" b="1" i="1" u="sng" dirty="0"/>
              <a:t> acid</a:t>
            </a:r>
            <a:endParaRPr lang="ko-KR" altLang="en-US" sz="1200" b="1" i="1" u="sng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2B1B5D-0CA0-B157-1102-D7600E19043B}"/>
              </a:ext>
            </a:extLst>
          </p:cNvPr>
          <p:cNvSpPr txBox="1"/>
          <p:nvPr/>
        </p:nvSpPr>
        <p:spPr>
          <a:xfrm>
            <a:off x="7023627" y="5226718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EC75EC8-160F-5511-344A-0022D943ED8B}"/>
              </a:ext>
            </a:extLst>
          </p:cNvPr>
          <p:cNvSpPr txBox="1"/>
          <p:nvPr/>
        </p:nvSpPr>
        <p:spPr>
          <a:xfrm>
            <a:off x="7266234" y="5226718"/>
            <a:ext cx="377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H</a:t>
            </a:r>
            <a:r>
              <a:rPr lang="en-US" altLang="ko-KR" sz="1200" b="1" i="1" u="sng" baseline="30000" dirty="0"/>
              <a:t>+</a:t>
            </a:r>
            <a:endParaRPr lang="ko-KR" altLang="en-US" sz="1200" b="1" i="1" u="sng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C92AA21-D915-0A0C-79C0-BE58A90C448A}"/>
              </a:ext>
            </a:extLst>
          </p:cNvPr>
          <p:cNvSpPr txBox="1"/>
          <p:nvPr/>
        </p:nvSpPr>
        <p:spPr>
          <a:xfrm>
            <a:off x="7560816" y="5226089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58E8E52-EDF7-8C59-650A-86E7FE3FC823}"/>
              </a:ext>
            </a:extLst>
          </p:cNvPr>
          <p:cNvSpPr txBox="1"/>
          <p:nvPr/>
        </p:nvSpPr>
        <p:spPr>
          <a:xfrm>
            <a:off x="7744123" y="5226089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OH</a:t>
            </a:r>
            <a:r>
              <a:rPr lang="ko-KR" altLang="en-US" sz="1200" b="1" i="1" u="sng" baseline="30000" dirty="0" err="1"/>
              <a:t>ㅡ</a:t>
            </a:r>
            <a:endParaRPr lang="ko-KR" altLang="en-US" sz="1200" b="1" i="1" u="sng" dirty="0"/>
          </a:p>
        </p:txBody>
      </p:sp>
    </p:spTree>
    <p:extLst>
      <p:ext uri="{BB962C8B-B14F-4D97-AF65-F5344CB8AC3E}">
        <p14:creationId xmlns:p14="http://schemas.microsoft.com/office/powerpoint/2010/main" val="1226633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D0BEC-7766-4F03-A87B-E416911A6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그림 84">
            <a:extLst>
              <a:ext uri="{FF2B5EF4-FFF2-40B4-BE49-F238E27FC236}">
                <a16:creationId xmlns:a16="http://schemas.microsoft.com/office/drawing/2014/main" id="{954969AD-1A4A-FFA3-C770-851D57CA5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35" y="522852"/>
            <a:ext cx="6000750" cy="447675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329F15E-927D-572C-3603-2B2B6CA3D0F2}"/>
              </a:ext>
            </a:extLst>
          </p:cNvPr>
          <p:cNvSpPr txBox="1"/>
          <p:nvPr/>
        </p:nvSpPr>
        <p:spPr>
          <a:xfrm>
            <a:off x="599056" y="110050"/>
            <a:ext cx="8751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1" u="sng" dirty="0">
                <a:solidFill>
                  <a:srgbClr val="002060"/>
                </a:solidFill>
              </a:rPr>
              <a:t>2</a:t>
            </a:r>
            <a:r>
              <a:rPr lang="ko-KR" altLang="en-US" b="1" i="1" u="sng" dirty="0">
                <a:solidFill>
                  <a:srgbClr val="002060"/>
                </a:solidFill>
              </a:rPr>
              <a:t>개의 </a:t>
            </a:r>
            <a:r>
              <a:rPr lang="en-US" altLang="ko-KR" b="1" i="1" u="sng" dirty="0">
                <a:solidFill>
                  <a:srgbClr val="002060"/>
                </a:solidFill>
              </a:rPr>
              <a:t>Zwitterionic form</a:t>
            </a:r>
            <a:r>
              <a:rPr lang="ko-KR" altLang="en-US" b="1" i="1" u="sng" dirty="0">
                <a:solidFill>
                  <a:srgbClr val="002060"/>
                </a:solidFill>
              </a:rPr>
              <a:t>에 대한 </a:t>
            </a:r>
            <a:r>
              <a:rPr lang="en-US" altLang="ko-KR" b="1" i="1" u="sng" dirty="0">
                <a:solidFill>
                  <a:srgbClr val="002060"/>
                </a:solidFill>
              </a:rPr>
              <a:t>proton, hydroxide ion</a:t>
            </a:r>
            <a:r>
              <a:rPr lang="ko-KR" altLang="en-US" b="1" i="1" u="sng" dirty="0">
                <a:solidFill>
                  <a:srgbClr val="002060"/>
                </a:solidFill>
              </a:rPr>
              <a:t>의 바인딩 에너지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7DEB54CD-A012-127C-12DF-289677922774}"/>
              </a:ext>
            </a:extLst>
          </p:cNvPr>
          <p:cNvSpPr/>
          <p:nvPr/>
        </p:nvSpPr>
        <p:spPr>
          <a:xfrm>
            <a:off x="2953803" y="471866"/>
            <a:ext cx="1060523" cy="282225"/>
          </a:xfrm>
          <a:prstGeom prst="ellipse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  <a:cs typeface="Arial" panose="020B0604020202020204" pitchFamily="34" charset="0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20DA9EA4-7752-910A-7454-15F3B36E2333}"/>
              </a:ext>
            </a:extLst>
          </p:cNvPr>
          <p:cNvCxnSpPr>
            <a:cxnSpLocks/>
          </p:cNvCxnSpPr>
          <p:nvPr/>
        </p:nvCxnSpPr>
        <p:spPr>
          <a:xfrm flipV="1">
            <a:off x="1835316" y="4098882"/>
            <a:ext cx="561975" cy="5715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6048EE0-BCB8-0046-B198-A93B5174A41E}"/>
              </a:ext>
            </a:extLst>
          </p:cNvPr>
          <p:cNvSpPr txBox="1"/>
          <p:nvPr/>
        </p:nvSpPr>
        <p:spPr>
          <a:xfrm>
            <a:off x="896616" y="4777035"/>
            <a:ext cx="2933700" cy="5078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highlight>
                  <a:srgbClr val="FFFF00"/>
                </a:highlight>
              </a:rPr>
              <a:t>Question</a:t>
            </a:r>
          </a:p>
          <a:p>
            <a:r>
              <a:rPr lang="en-US" altLang="ko-KR" sz="900" b="1" dirty="0"/>
              <a:t>OH</a:t>
            </a:r>
            <a:r>
              <a:rPr lang="ko-KR" altLang="en-US" sz="900" b="1" baseline="30000" dirty="0" err="1"/>
              <a:t>ㅡ</a:t>
            </a:r>
            <a:r>
              <a:rPr lang="ko-KR" altLang="en-US" sz="900" b="1" dirty="0" err="1"/>
              <a:t>의</a:t>
            </a:r>
            <a:r>
              <a:rPr lang="ko-KR" altLang="en-US" sz="900" b="1" dirty="0"/>
              <a:t> 경우 </a:t>
            </a:r>
            <a:r>
              <a:rPr lang="en-US" altLang="ko-KR" sz="900" b="1" dirty="0"/>
              <a:t>NH3+</a:t>
            </a:r>
            <a:r>
              <a:rPr lang="ko-KR" altLang="en-US" sz="900" b="1" dirty="0"/>
              <a:t>의 </a:t>
            </a:r>
            <a:r>
              <a:rPr lang="en-US" altLang="ko-KR" sz="900" b="1" dirty="0"/>
              <a:t>H+</a:t>
            </a:r>
            <a:r>
              <a:rPr lang="ko-KR" altLang="en-US" sz="900" b="1" dirty="0"/>
              <a:t>를 가져가 </a:t>
            </a:r>
            <a:r>
              <a:rPr lang="en-US" altLang="ko-KR" sz="900" b="1" dirty="0"/>
              <a:t>H2O</a:t>
            </a:r>
            <a:r>
              <a:rPr lang="ko-KR" altLang="en-US" sz="900" b="1" dirty="0"/>
              <a:t>로 바뀌는데 </a:t>
            </a:r>
            <a:r>
              <a:rPr lang="en-US" altLang="ko-KR" sz="900" b="1" dirty="0"/>
              <a:t>Binding Energy</a:t>
            </a:r>
            <a:r>
              <a:rPr lang="ko-KR" altLang="en-US" sz="900" b="1" dirty="0"/>
              <a:t>라는 표현이 적절할지</a:t>
            </a:r>
          </a:p>
        </p:txBody>
      </p:sp>
      <p:pic>
        <p:nvPicPr>
          <p:cNvPr id="67" name="그림 66">
            <a:extLst>
              <a:ext uri="{FF2B5EF4-FFF2-40B4-BE49-F238E27FC236}">
                <a16:creationId xmlns:a16="http://schemas.microsoft.com/office/drawing/2014/main" id="{6AAD17CE-3C25-75FA-BD77-A53B774F9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416" y="5732125"/>
            <a:ext cx="1179277" cy="911050"/>
          </a:xfrm>
          <a:prstGeom prst="rect">
            <a:avLst/>
          </a:prstGeom>
        </p:spPr>
      </p:pic>
      <p:pic>
        <p:nvPicPr>
          <p:cNvPr id="68" name="그림 67">
            <a:extLst>
              <a:ext uri="{FF2B5EF4-FFF2-40B4-BE49-F238E27FC236}">
                <a16:creationId xmlns:a16="http://schemas.microsoft.com/office/drawing/2014/main" id="{A2686F7B-146A-3BD2-5513-37BEAA9D4F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0255" y="5720179"/>
            <a:ext cx="1266770" cy="911050"/>
          </a:xfrm>
          <a:prstGeom prst="rect">
            <a:avLst/>
          </a:prstGeom>
        </p:spPr>
      </p:pic>
      <p:sp>
        <p:nvSpPr>
          <p:cNvPr id="69" name="화살표: 오른쪽 68">
            <a:extLst>
              <a:ext uri="{FF2B5EF4-FFF2-40B4-BE49-F238E27FC236}">
                <a16:creationId xmlns:a16="http://schemas.microsoft.com/office/drawing/2014/main" id="{D308AC51-C34B-9B6E-6768-04349620105B}"/>
              </a:ext>
            </a:extLst>
          </p:cNvPr>
          <p:cNvSpPr/>
          <p:nvPr/>
        </p:nvSpPr>
        <p:spPr>
          <a:xfrm>
            <a:off x="2252744" y="6027513"/>
            <a:ext cx="841479" cy="23374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2574FB5-602F-C101-09BE-DEBC369D3330}"/>
              </a:ext>
            </a:extLst>
          </p:cNvPr>
          <p:cNvSpPr txBox="1"/>
          <p:nvPr/>
        </p:nvSpPr>
        <p:spPr>
          <a:xfrm>
            <a:off x="1897901" y="5547112"/>
            <a:ext cx="1551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Geometry Optimization</a:t>
            </a:r>
            <a:endParaRPr lang="ko-KR" altLang="en-US" sz="2400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041FBE5-337E-8DC5-D6FB-2063EA4569EC}"/>
              </a:ext>
            </a:extLst>
          </p:cNvPr>
          <p:cNvSpPr txBox="1"/>
          <p:nvPr/>
        </p:nvSpPr>
        <p:spPr>
          <a:xfrm>
            <a:off x="354538" y="5381625"/>
            <a:ext cx="9156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 i="1" u="sng" dirty="0"/>
              <a:t>Alanine</a:t>
            </a:r>
            <a:endParaRPr lang="ko-KR" altLang="en-US" sz="1600" b="1" i="1" u="sng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566E69B-944A-EA5A-9C5A-80A4E24D57CC}"/>
              </a:ext>
            </a:extLst>
          </p:cNvPr>
          <p:cNvSpPr txBox="1"/>
          <p:nvPr/>
        </p:nvSpPr>
        <p:spPr>
          <a:xfrm>
            <a:off x="1149422" y="5381625"/>
            <a:ext cx="3321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 dirty="0"/>
              <a:t>+</a:t>
            </a:r>
            <a:endParaRPr lang="ko-KR" altLang="en-US" sz="1600" b="1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42908CF-54BB-2E52-E905-42C6B9B72E33}"/>
              </a:ext>
            </a:extLst>
          </p:cNvPr>
          <p:cNvSpPr txBox="1"/>
          <p:nvPr/>
        </p:nvSpPr>
        <p:spPr>
          <a:xfrm>
            <a:off x="1374323" y="5381625"/>
            <a:ext cx="6383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 i="1" u="sng" dirty="0"/>
              <a:t>OH</a:t>
            </a:r>
            <a:r>
              <a:rPr lang="ko-KR" altLang="en-US" sz="1600" b="1" i="1" u="sng" baseline="30000" dirty="0" err="1"/>
              <a:t>ㅡ</a:t>
            </a:r>
            <a:endParaRPr lang="ko-KR" altLang="en-US" sz="1600" b="1" i="1" u="sng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98D77A4-EAA9-2D1C-82B9-A897DDE557AE}"/>
              </a:ext>
            </a:extLst>
          </p:cNvPr>
          <p:cNvSpPr txBox="1"/>
          <p:nvPr/>
        </p:nvSpPr>
        <p:spPr>
          <a:xfrm>
            <a:off x="6852785" y="754091"/>
            <a:ext cx="4986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highlight>
                  <a:srgbClr val="FFFF00"/>
                </a:highlight>
              </a:rPr>
              <a:t>예상대로 </a:t>
            </a:r>
            <a:r>
              <a:rPr lang="en-US" altLang="ko-KR" sz="1400" dirty="0">
                <a:highlight>
                  <a:srgbClr val="FFFF00"/>
                </a:highlight>
              </a:rPr>
              <a:t>AB</a:t>
            </a:r>
            <a:r>
              <a:rPr lang="ko-KR" altLang="en-US" sz="1400" dirty="0">
                <a:highlight>
                  <a:srgbClr val="FFFF00"/>
                </a:highlight>
              </a:rPr>
              <a:t>에서 바인딩에너지가 더 크게 일관되게 계산되는 것을 확인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7996E09-52E0-34B4-9516-F63D1233FFF1}"/>
              </a:ext>
            </a:extLst>
          </p:cNvPr>
          <p:cNvSpPr txBox="1"/>
          <p:nvPr/>
        </p:nvSpPr>
        <p:spPr>
          <a:xfrm>
            <a:off x="6852785" y="1411316"/>
            <a:ext cx="4986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but </a:t>
            </a:r>
            <a:r>
              <a:rPr lang="ko-KR" altLang="en-US" sz="1400" dirty="0"/>
              <a:t>계산 결과에서 </a:t>
            </a:r>
            <a:r>
              <a:rPr lang="en-US" altLang="ko-KR" sz="1400" dirty="0"/>
              <a:t>1100 kJ/mol </a:t>
            </a:r>
            <a:r>
              <a:rPr lang="ko-KR" altLang="en-US" sz="1400" dirty="0"/>
              <a:t>이상의 매우 높은 바인딩 에너지 값이 나타난 점이 눈에 띄는 부분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948DFB6-C799-A668-79EB-0B6ADE907DE1}"/>
              </a:ext>
            </a:extLst>
          </p:cNvPr>
          <p:cNvSpPr txBox="1"/>
          <p:nvPr/>
        </p:nvSpPr>
        <p:spPr>
          <a:xfrm>
            <a:off x="6852785" y="2019613"/>
            <a:ext cx="49867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일반적인 이온 결합 에너지가 약 </a:t>
            </a:r>
            <a:r>
              <a:rPr lang="en-US" altLang="ko-KR" sz="1400" dirty="0"/>
              <a:t>700–800 kJ/mol </a:t>
            </a:r>
            <a:r>
              <a:rPr lang="ko-KR" altLang="en-US" sz="1400" dirty="0"/>
              <a:t>수준인 점을 고려할 때</a:t>
            </a:r>
            <a:r>
              <a:rPr lang="en-US" altLang="ko-KR" sz="1400" dirty="0"/>
              <a:t>, H⁺</a:t>
            </a:r>
            <a:r>
              <a:rPr lang="ko-KR" altLang="en-US" sz="1400" dirty="0"/>
              <a:t>와 </a:t>
            </a:r>
            <a:r>
              <a:rPr lang="ko-KR" altLang="en-US" sz="1400" dirty="0" err="1"/>
              <a:t>양쪽성</a:t>
            </a:r>
            <a:r>
              <a:rPr lang="ko-KR" altLang="en-US" sz="1400" dirty="0"/>
              <a:t> 이온 사이의 상호작용이 실제로 이 정도 수준에 이를 수 있는지에 대해서는 검토가 필요한 상황</a:t>
            </a:r>
          </a:p>
        </p:txBody>
      </p:sp>
      <p:sp>
        <p:nvSpPr>
          <p:cNvPr id="82" name="화살표: 오른쪽 81">
            <a:extLst>
              <a:ext uri="{FF2B5EF4-FFF2-40B4-BE49-F238E27FC236}">
                <a16:creationId xmlns:a16="http://schemas.microsoft.com/office/drawing/2014/main" id="{DB35EC3C-A041-8981-4E17-6E9363A1BE50}"/>
              </a:ext>
            </a:extLst>
          </p:cNvPr>
          <p:cNvSpPr/>
          <p:nvPr/>
        </p:nvSpPr>
        <p:spPr>
          <a:xfrm>
            <a:off x="6981825" y="3110872"/>
            <a:ext cx="381000" cy="39052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417FF06-2C29-4FF1-D639-D3CBB13F6B7B}"/>
              </a:ext>
            </a:extLst>
          </p:cNvPr>
          <p:cNvSpPr txBox="1"/>
          <p:nvPr/>
        </p:nvSpPr>
        <p:spPr>
          <a:xfrm>
            <a:off x="7362825" y="3024343"/>
            <a:ext cx="47339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한가지 추측</a:t>
            </a:r>
            <a:endParaRPr lang="en-US" altLang="ko-KR" sz="1400" dirty="0"/>
          </a:p>
          <a:p>
            <a:r>
              <a:rPr lang="ko-KR" altLang="en-US" sz="1400" dirty="0"/>
              <a:t>전자가 전혀 없는 </a:t>
            </a:r>
            <a:r>
              <a:rPr lang="en-US" altLang="ko-KR" sz="1400" dirty="0"/>
              <a:t>H⁺</a:t>
            </a:r>
            <a:r>
              <a:rPr lang="ko-KR" altLang="en-US" sz="1400" dirty="0"/>
              <a:t>의 기준 에너지를 </a:t>
            </a:r>
            <a:r>
              <a:rPr lang="en-US" altLang="ko-KR" sz="1400" dirty="0"/>
              <a:t>0</a:t>
            </a:r>
            <a:r>
              <a:rPr lang="ko-KR" altLang="en-US" sz="1400" dirty="0"/>
              <a:t>으로 설정하고 </a:t>
            </a:r>
            <a:endParaRPr lang="en-US" altLang="ko-KR" sz="1400" dirty="0"/>
          </a:p>
          <a:p>
            <a:r>
              <a:rPr lang="ko-KR" altLang="en-US" sz="1400" dirty="0"/>
              <a:t>바인딩 에너지를 산출함으로써 </a:t>
            </a:r>
            <a:endParaRPr lang="en-US" altLang="ko-KR" sz="1400" dirty="0"/>
          </a:p>
          <a:p>
            <a:r>
              <a:rPr lang="ko-KR" altLang="en-US" sz="1400" dirty="0"/>
              <a:t>실제 </a:t>
            </a:r>
            <a:r>
              <a:rPr lang="en-US" altLang="ko-KR" sz="1400" dirty="0"/>
              <a:t>H⁺ </a:t>
            </a:r>
            <a:r>
              <a:rPr lang="ko-KR" altLang="en-US" sz="1400" dirty="0"/>
              <a:t>프로톤 에너지를 과소평가했을 가능성이 있다면</a:t>
            </a:r>
            <a:r>
              <a:rPr lang="en-US" altLang="ko-KR" sz="1400" dirty="0"/>
              <a:t>?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98817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8210C-2D66-7533-FBC1-BB6140981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69BF4AD1-974D-1CB3-60D7-0803509A1062}"/>
              </a:ext>
            </a:extLst>
          </p:cNvPr>
          <p:cNvSpPr txBox="1"/>
          <p:nvPr/>
        </p:nvSpPr>
        <p:spPr>
          <a:xfrm>
            <a:off x="10993023" y="1678125"/>
            <a:ext cx="1001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highlight>
                  <a:srgbClr val="FFFF00"/>
                </a:highlight>
              </a:rPr>
              <a:t>차이를 구해 </a:t>
            </a:r>
            <a:r>
              <a:rPr lang="en-US" altLang="ko-KR" sz="800" b="1" dirty="0">
                <a:highlight>
                  <a:srgbClr val="FFFF00"/>
                </a:highlight>
              </a:rPr>
              <a:t>H</a:t>
            </a:r>
            <a:r>
              <a:rPr lang="en-US" altLang="ko-KR" sz="800" b="1" baseline="30000" dirty="0">
                <a:highlight>
                  <a:srgbClr val="FFFF00"/>
                </a:highlight>
              </a:rPr>
              <a:t>+</a:t>
            </a:r>
            <a:r>
              <a:rPr lang="ko-KR" altLang="en-US" sz="800" b="1" dirty="0">
                <a:highlight>
                  <a:srgbClr val="FFFF00"/>
                </a:highlight>
              </a:rPr>
              <a:t>의 에너지를 유추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FD02C2-2232-E63B-1F66-EF6DBD50FE90}"/>
              </a:ext>
            </a:extLst>
          </p:cNvPr>
          <p:cNvSpPr txBox="1"/>
          <p:nvPr/>
        </p:nvSpPr>
        <p:spPr>
          <a:xfrm>
            <a:off x="599056" y="110050"/>
            <a:ext cx="8751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1" u="sng" dirty="0">
                <a:solidFill>
                  <a:srgbClr val="002060"/>
                </a:solidFill>
              </a:rPr>
              <a:t>2</a:t>
            </a:r>
            <a:r>
              <a:rPr lang="ko-KR" altLang="en-US" b="1" i="1" u="sng" dirty="0">
                <a:solidFill>
                  <a:srgbClr val="002060"/>
                </a:solidFill>
              </a:rPr>
              <a:t>개의 </a:t>
            </a:r>
            <a:r>
              <a:rPr lang="en-US" altLang="ko-KR" b="1" i="1" u="sng" dirty="0">
                <a:solidFill>
                  <a:srgbClr val="002060"/>
                </a:solidFill>
              </a:rPr>
              <a:t>Zwitterionic form</a:t>
            </a:r>
            <a:r>
              <a:rPr lang="ko-KR" altLang="en-US" b="1" i="1" u="sng" dirty="0">
                <a:solidFill>
                  <a:srgbClr val="002060"/>
                </a:solidFill>
              </a:rPr>
              <a:t>에 대한 </a:t>
            </a:r>
            <a:r>
              <a:rPr lang="en-US" altLang="ko-KR" b="1" i="1" u="sng" dirty="0">
                <a:solidFill>
                  <a:srgbClr val="002060"/>
                </a:solidFill>
              </a:rPr>
              <a:t>proton, hydroxide ion</a:t>
            </a:r>
            <a:r>
              <a:rPr lang="ko-KR" altLang="en-US" b="1" i="1" u="sng" dirty="0">
                <a:solidFill>
                  <a:srgbClr val="002060"/>
                </a:solidFill>
              </a:rPr>
              <a:t>의 바인딩 에너지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353F34BC-0024-E709-873E-05DBFF3F1688}"/>
              </a:ext>
            </a:extLst>
          </p:cNvPr>
          <p:cNvSpPr/>
          <p:nvPr/>
        </p:nvSpPr>
        <p:spPr>
          <a:xfrm>
            <a:off x="2953803" y="471866"/>
            <a:ext cx="1060523" cy="282225"/>
          </a:xfrm>
          <a:prstGeom prst="ellipse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  <a:cs typeface="Arial" panose="020B0604020202020204" pitchFamily="34" charset="0"/>
            </a:endParaRPr>
          </a:p>
        </p:txBody>
      </p: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D34385C6-7864-553E-CD31-6CA7721D2A50}"/>
              </a:ext>
            </a:extLst>
          </p:cNvPr>
          <p:cNvGrpSpPr/>
          <p:nvPr/>
        </p:nvGrpSpPr>
        <p:grpSpPr>
          <a:xfrm>
            <a:off x="6322762" y="2414638"/>
            <a:ext cx="1790849" cy="3809082"/>
            <a:chOff x="6322762" y="2082129"/>
            <a:chExt cx="1790849" cy="3809082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07099564-D055-50C1-BC81-86C1610CBB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22762" y="2082129"/>
              <a:ext cx="1394248" cy="720000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987D41D8-3B5B-4D02-A0BE-CF1BD438A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22762" y="3111823"/>
              <a:ext cx="1325942" cy="720000"/>
            </a:xfrm>
            <a:prstGeom prst="rect">
              <a:avLst/>
            </a:prstGeom>
          </p:spPr>
        </p:pic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0971E350-972A-0BD0-F13E-BA68AAD38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22762" y="4141517"/>
              <a:ext cx="1498065" cy="720000"/>
            </a:xfrm>
            <a:prstGeom prst="rect">
              <a:avLst/>
            </a:prstGeom>
          </p:spPr>
        </p:pic>
        <p:pic>
          <p:nvPicPr>
            <p:cNvPr id="115" name="그림 114">
              <a:extLst>
                <a:ext uri="{FF2B5EF4-FFF2-40B4-BE49-F238E27FC236}">
                  <a16:creationId xmlns:a16="http://schemas.microsoft.com/office/drawing/2014/main" id="{B550C2A7-DCBA-A1C8-FF55-D99C90AC9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22762" y="5171211"/>
              <a:ext cx="1790849" cy="720000"/>
            </a:xfrm>
            <a:prstGeom prst="rect">
              <a:avLst/>
            </a:prstGeom>
          </p:spPr>
        </p:pic>
      </p:grpSp>
      <p:pic>
        <p:nvPicPr>
          <p:cNvPr id="24" name="그림 23">
            <a:extLst>
              <a:ext uri="{FF2B5EF4-FFF2-40B4-BE49-F238E27FC236}">
                <a16:creationId xmlns:a16="http://schemas.microsoft.com/office/drawing/2014/main" id="{5F8F4B32-08C6-D44F-11B4-0B0195EDD5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4683" y="2414638"/>
            <a:ext cx="1656868" cy="720000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188345CB-E58A-51FD-72D4-7FA3BF02E1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2058" y="3444332"/>
            <a:ext cx="1239493" cy="720000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EF5AEE0D-4349-467B-ED4E-EDA9A02C8C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3724" y="4474026"/>
            <a:ext cx="1447827" cy="720000"/>
          </a:xfrm>
          <a:prstGeom prst="rect">
            <a:avLst/>
          </a:prstGeom>
        </p:spPr>
      </p:pic>
      <p:pic>
        <p:nvPicPr>
          <p:cNvPr id="118" name="그림 117">
            <a:extLst>
              <a:ext uri="{FF2B5EF4-FFF2-40B4-BE49-F238E27FC236}">
                <a16:creationId xmlns:a16="http://schemas.microsoft.com/office/drawing/2014/main" id="{8FEB1F83-8AE8-2F62-E1A5-F3AEB039D7B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05614" y="5503720"/>
            <a:ext cx="1605937" cy="720000"/>
          </a:xfrm>
          <a:prstGeom prst="rect">
            <a:avLst/>
          </a:prstGeom>
        </p:spPr>
      </p:pic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FDD6962B-06DE-16A3-EEC3-C0DA0D3E44F9}"/>
              </a:ext>
            </a:extLst>
          </p:cNvPr>
          <p:cNvGrpSpPr/>
          <p:nvPr/>
        </p:nvGrpSpPr>
        <p:grpSpPr>
          <a:xfrm>
            <a:off x="391113" y="2414638"/>
            <a:ext cx="1135215" cy="3809080"/>
            <a:chOff x="391113" y="2082129"/>
            <a:chExt cx="1135215" cy="380908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A3518ED-44E7-6A66-638E-7BF582585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91113" y="3111822"/>
              <a:ext cx="931979" cy="720000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E79B56E5-EB9C-AD39-BE98-F98DBAB7D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91113" y="4141516"/>
              <a:ext cx="851937" cy="720000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DBC40769-6092-05DC-11A0-AC67A9D29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91113" y="5171209"/>
              <a:ext cx="1135215" cy="720000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5F06E8A-8BF6-B05E-BF3A-C42AE7C19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91113" y="2082129"/>
              <a:ext cx="944887" cy="720000"/>
            </a:xfrm>
            <a:prstGeom prst="rect">
              <a:avLst/>
            </a:prstGeom>
          </p:spPr>
        </p:pic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158EBDB1-AB58-FE55-9E47-50B01F91D62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49959" y="3444331"/>
            <a:ext cx="1001124" cy="720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C892997-B159-5593-A23E-3E6393FC085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85137" y="4474024"/>
            <a:ext cx="1065946" cy="720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64E175D0-F80F-B811-13ED-D8557FCB162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54850" y="5503718"/>
            <a:ext cx="1096233" cy="720000"/>
          </a:xfrm>
          <a:prstGeom prst="rect">
            <a:avLst/>
          </a:prstGeom>
        </p:spPr>
      </p:pic>
      <p:pic>
        <p:nvPicPr>
          <p:cNvPr id="123" name="그림 122">
            <a:extLst>
              <a:ext uri="{FF2B5EF4-FFF2-40B4-BE49-F238E27FC236}">
                <a16:creationId xmlns:a16="http://schemas.microsoft.com/office/drawing/2014/main" id="{54F8E0F3-85E1-6838-096E-D26BF699A18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21016" y="2414638"/>
            <a:ext cx="930067" cy="720000"/>
          </a:xfrm>
          <a:prstGeom prst="rect">
            <a:avLst/>
          </a:prstGeom>
        </p:spPr>
      </p:pic>
      <p:sp>
        <p:nvSpPr>
          <p:cNvPr id="142" name="화살표: 오른쪽 141">
            <a:extLst>
              <a:ext uri="{FF2B5EF4-FFF2-40B4-BE49-F238E27FC236}">
                <a16:creationId xmlns:a16="http://schemas.microsoft.com/office/drawing/2014/main" id="{4214979E-D59E-C05B-5A80-8256B24A4E4D}"/>
              </a:ext>
            </a:extLst>
          </p:cNvPr>
          <p:cNvSpPr/>
          <p:nvPr/>
        </p:nvSpPr>
        <p:spPr>
          <a:xfrm>
            <a:off x="1814828" y="2682274"/>
            <a:ext cx="665018" cy="18472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화살표: 오른쪽 142">
            <a:extLst>
              <a:ext uri="{FF2B5EF4-FFF2-40B4-BE49-F238E27FC236}">
                <a16:creationId xmlns:a16="http://schemas.microsoft.com/office/drawing/2014/main" id="{606F60D5-11E1-748D-13FA-02F61E156B5E}"/>
              </a:ext>
            </a:extLst>
          </p:cNvPr>
          <p:cNvSpPr/>
          <p:nvPr/>
        </p:nvSpPr>
        <p:spPr>
          <a:xfrm>
            <a:off x="1814828" y="3677775"/>
            <a:ext cx="665018" cy="18472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화살표: 오른쪽 143">
            <a:extLst>
              <a:ext uri="{FF2B5EF4-FFF2-40B4-BE49-F238E27FC236}">
                <a16:creationId xmlns:a16="http://schemas.microsoft.com/office/drawing/2014/main" id="{B4DA9AB7-FCA3-39C4-DFD7-08C0C9B1C40A}"/>
              </a:ext>
            </a:extLst>
          </p:cNvPr>
          <p:cNvSpPr/>
          <p:nvPr/>
        </p:nvSpPr>
        <p:spPr>
          <a:xfrm>
            <a:off x="1814828" y="4741660"/>
            <a:ext cx="665018" cy="18472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화살표: 오른쪽 144">
            <a:extLst>
              <a:ext uri="{FF2B5EF4-FFF2-40B4-BE49-F238E27FC236}">
                <a16:creationId xmlns:a16="http://schemas.microsoft.com/office/drawing/2014/main" id="{73F71FDC-211E-9557-0B02-EF6A89E0FCE5}"/>
              </a:ext>
            </a:extLst>
          </p:cNvPr>
          <p:cNvSpPr/>
          <p:nvPr/>
        </p:nvSpPr>
        <p:spPr>
          <a:xfrm>
            <a:off x="1814828" y="5771354"/>
            <a:ext cx="665018" cy="18472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C9801935-FDB2-95DD-CD70-830BC0BC0962}"/>
              </a:ext>
            </a:extLst>
          </p:cNvPr>
          <p:cNvGrpSpPr/>
          <p:nvPr/>
        </p:nvGrpSpPr>
        <p:grpSpPr>
          <a:xfrm>
            <a:off x="8277872" y="2682274"/>
            <a:ext cx="665018" cy="3273807"/>
            <a:chOff x="1814828" y="2349765"/>
            <a:chExt cx="665018" cy="3273807"/>
          </a:xfrm>
        </p:grpSpPr>
        <p:sp>
          <p:nvSpPr>
            <p:cNvPr id="148" name="화살표: 오른쪽 147">
              <a:extLst>
                <a:ext uri="{FF2B5EF4-FFF2-40B4-BE49-F238E27FC236}">
                  <a16:creationId xmlns:a16="http://schemas.microsoft.com/office/drawing/2014/main" id="{8CBC332B-F2EE-4687-9CEA-6B0CA8E0B225}"/>
                </a:ext>
              </a:extLst>
            </p:cNvPr>
            <p:cNvSpPr/>
            <p:nvPr/>
          </p:nvSpPr>
          <p:spPr>
            <a:xfrm>
              <a:off x="1814828" y="2349765"/>
              <a:ext cx="665018" cy="184727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화살표: 오른쪽 148">
              <a:extLst>
                <a:ext uri="{FF2B5EF4-FFF2-40B4-BE49-F238E27FC236}">
                  <a16:creationId xmlns:a16="http://schemas.microsoft.com/office/drawing/2014/main" id="{79A19270-5710-B983-0D54-F8FAFE69C748}"/>
                </a:ext>
              </a:extLst>
            </p:cNvPr>
            <p:cNvSpPr/>
            <p:nvPr/>
          </p:nvSpPr>
          <p:spPr>
            <a:xfrm>
              <a:off x="1814828" y="3345266"/>
              <a:ext cx="665018" cy="184727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" name="화살표: 오른쪽 149">
              <a:extLst>
                <a:ext uri="{FF2B5EF4-FFF2-40B4-BE49-F238E27FC236}">
                  <a16:creationId xmlns:a16="http://schemas.microsoft.com/office/drawing/2014/main" id="{9DBE993E-A5B1-BA68-D8B0-FC8EFE824099}"/>
                </a:ext>
              </a:extLst>
            </p:cNvPr>
            <p:cNvSpPr/>
            <p:nvPr/>
          </p:nvSpPr>
          <p:spPr>
            <a:xfrm>
              <a:off x="1814828" y="4409151"/>
              <a:ext cx="665018" cy="184727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화살표: 오른쪽 150">
              <a:extLst>
                <a:ext uri="{FF2B5EF4-FFF2-40B4-BE49-F238E27FC236}">
                  <a16:creationId xmlns:a16="http://schemas.microsoft.com/office/drawing/2014/main" id="{C9A30551-A0FE-AD9B-8FEB-A51F949A0CF2}"/>
                </a:ext>
              </a:extLst>
            </p:cNvPr>
            <p:cNvSpPr/>
            <p:nvPr/>
          </p:nvSpPr>
          <p:spPr>
            <a:xfrm>
              <a:off x="1814828" y="5438845"/>
              <a:ext cx="665018" cy="184727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E2284E2B-0234-990A-BCF5-9DCE556BA5DA}"/>
              </a:ext>
            </a:extLst>
          </p:cNvPr>
          <p:cNvSpPr txBox="1"/>
          <p:nvPr/>
        </p:nvSpPr>
        <p:spPr>
          <a:xfrm>
            <a:off x="1534397" y="2287732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15A19C50-ABEE-EDF9-4A8B-CAD9A50174BF}"/>
              </a:ext>
            </a:extLst>
          </p:cNvPr>
          <p:cNvSpPr txBox="1"/>
          <p:nvPr/>
        </p:nvSpPr>
        <p:spPr>
          <a:xfrm>
            <a:off x="1534397" y="3298116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34EE5BD6-D5FB-0452-E89E-F157369B05BF}"/>
              </a:ext>
            </a:extLst>
          </p:cNvPr>
          <p:cNvSpPr txBox="1"/>
          <p:nvPr/>
        </p:nvSpPr>
        <p:spPr>
          <a:xfrm>
            <a:off x="1534397" y="4325656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31EA2DF-0651-27FC-F232-BAE9E871AC03}"/>
              </a:ext>
            </a:extLst>
          </p:cNvPr>
          <p:cNvSpPr txBox="1"/>
          <p:nvPr/>
        </p:nvSpPr>
        <p:spPr>
          <a:xfrm>
            <a:off x="1534397" y="5386066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44CC1A1-12ED-1157-3D1E-4F8BAE014711}"/>
              </a:ext>
            </a:extLst>
          </p:cNvPr>
          <p:cNvSpPr txBox="1"/>
          <p:nvPr/>
        </p:nvSpPr>
        <p:spPr>
          <a:xfrm>
            <a:off x="7997441" y="2287732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0651B5B6-0BC9-C065-7C5A-9776D288B1F9}"/>
              </a:ext>
            </a:extLst>
          </p:cNvPr>
          <p:cNvSpPr txBox="1"/>
          <p:nvPr/>
        </p:nvSpPr>
        <p:spPr>
          <a:xfrm>
            <a:off x="7997441" y="3298116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9057B24F-6BDE-7D9D-D43A-D07DADE7F487}"/>
              </a:ext>
            </a:extLst>
          </p:cNvPr>
          <p:cNvSpPr txBox="1"/>
          <p:nvPr/>
        </p:nvSpPr>
        <p:spPr>
          <a:xfrm>
            <a:off x="7997441" y="4325656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835C87E7-05DA-41D5-F468-BE7C66D05C72}"/>
              </a:ext>
            </a:extLst>
          </p:cNvPr>
          <p:cNvSpPr txBox="1"/>
          <p:nvPr/>
        </p:nvSpPr>
        <p:spPr>
          <a:xfrm>
            <a:off x="7997441" y="5386066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0BB3629-6E6B-D1C8-717C-E4B09757824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0673" y="1528073"/>
            <a:ext cx="252502" cy="369332"/>
          </a:xfrm>
          <a:prstGeom prst="rect">
            <a:avLst/>
          </a:prstGeom>
        </p:spPr>
      </p:pic>
      <p:pic>
        <p:nvPicPr>
          <p:cNvPr id="130" name="그림 129">
            <a:extLst>
              <a:ext uri="{FF2B5EF4-FFF2-40B4-BE49-F238E27FC236}">
                <a16:creationId xmlns:a16="http://schemas.microsoft.com/office/drawing/2014/main" id="{22830FA8-E8ED-C149-5EB5-34FA5DADE04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22662" y="1528073"/>
            <a:ext cx="252502" cy="369332"/>
          </a:xfrm>
          <a:prstGeom prst="rect">
            <a:avLst/>
          </a:prstGeom>
        </p:spPr>
      </p:pic>
      <p:sp>
        <p:nvSpPr>
          <p:cNvPr id="162" name="화살표: 오른쪽 161">
            <a:extLst>
              <a:ext uri="{FF2B5EF4-FFF2-40B4-BE49-F238E27FC236}">
                <a16:creationId xmlns:a16="http://schemas.microsoft.com/office/drawing/2014/main" id="{28D39DB9-BE11-B3CE-5099-923726CCAD78}"/>
              </a:ext>
            </a:extLst>
          </p:cNvPr>
          <p:cNvSpPr/>
          <p:nvPr/>
        </p:nvSpPr>
        <p:spPr>
          <a:xfrm>
            <a:off x="1814828" y="1811703"/>
            <a:ext cx="665018" cy="18472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C4351750-16C3-7112-47A3-7C1156CF7C8F}"/>
              </a:ext>
            </a:extLst>
          </p:cNvPr>
          <p:cNvSpPr txBox="1"/>
          <p:nvPr/>
        </p:nvSpPr>
        <p:spPr>
          <a:xfrm>
            <a:off x="1534397" y="1417161"/>
            <a:ext cx="1225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Geometry Optimization</a:t>
            </a:r>
            <a:endParaRPr lang="ko-KR" altLang="en-US" b="1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A8439818-FA88-508D-D47F-8D6FAF4A06F4}"/>
              </a:ext>
            </a:extLst>
          </p:cNvPr>
          <p:cNvSpPr txBox="1"/>
          <p:nvPr/>
        </p:nvSpPr>
        <p:spPr>
          <a:xfrm>
            <a:off x="3980113" y="1620406"/>
            <a:ext cx="10014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200" b="1" dirty="0"/>
              <a:t>-75.918 </a:t>
            </a:r>
            <a:r>
              <a:rPr lang="en-US" altLang="ko-KR" sz="1200" b="1" dirty="0"/>
              <a:t>Eh</a:t>
            </a:r>
            <a:endParaRPr lang="ko-KR" altLang="en-US" b="1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893D2105-9D2B-BDFD-1DB8-D25554198953}"/>
              </a:ext>
            </a:extLst>
          </p:cNvPr>
          <p:cNvSpPr txBox="1"/>
          <p:nvPr/>
        </p:nvSpPr>
        <p:spPr>
          <a:xfrm>
            <a:off x="3879402" y="2636137"/>
            <a:ext cx="11021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-323.747 Eh</a:t>
            </a:r>
            <a:endParaRPr lang="ko-KR" altLang="en-US" b="1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03EB2689-3F0C-941D-7C23-46C305660DC9}"/>
              </a:ext>
            </a:extLst>
          </p:cNvPr>
          <p:cNvSpPr txBox="1"/>
          <p:nvPr/>
        </p:nvSpPr>
        <p:spPr>
          <a:xfrm>
            <a:off x="3879402" y="3671639"/>
            <a:ext cx="11021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-399.719 Eh</a:t>
            </a:r>
            <a:endParaRPr lang="ko-KR" altLang="en-US" b="1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745DA07F-4F0A-7F6A-8FFC-3F6205AC8163}"/>
              </a:ext>
            </a:extLst>
          </p:cNvPr>
          <p:cNvSpPr txBox="1"/>
          <p:nvPr/>
        </p:nvSpPr>
        <p:spPr>
          <a:xfrm>
            <a:off x="3879402" y="4707141"/>
            <a:ext cx="11021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-324.199 Eh</a:t>
            </a:r>
            <a:endParaRPr lang="ko-KR" altLang="en-US" b="1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D18346CA-BD15-F8A4-CD05-543FB7118877}"/>
              </a:ext>
            </a:extLst>
          </p:cNvPr>
          <p:cNvSpPr txBox="1"/>
          <p:nvPr/>
        </p:nvSpPr>
        <p:spPr>
          <a:xfrm>
            <a:off x="3879402" y="5783996"/>
            <a:ext cx="11021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-400.186 Eh</a:t>
            </a:r>
            <a:endParaRPr lang="ko-KR" altLang="en-US" b="1" dirty="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DFEEFE31-9E15-BA7F-1852-CC6E935473E3}"/>
              </a:ext>
            </a:extLst>
          </p:cNvPr>
          <p:cNvSpPr txBox="1"/>
          <p:nvPr/>
        </p:nvSpPr>
        <p:spPr>
          <a:xfrm>
            <a:off x="10811551" y="2670656"/>
            <a:ext cx="11215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-363.039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Eh</a:t>
            </a:r>
            <a:endParaRPr lang="ko-KR" altLang="en-US" b="1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EB3D73AB-4087-0EB8-8944-FB9787E195CF}"/>
              </a:ext>
            </a:extLst>
          </p:cNvPr>
          <p:cNvSpPr txBox="1"/>
          <p:nvPr/>
        </p:nvSpPr>
        <p:spPr>
          <a:xfrm>
            <a:off x="10811551" y="3706158"/>
            <a:ext cx="11215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-439.020 Eh</a:t>
            </a:r>
            <a:endParaRPr lang="ko-KR" altLang="en-US" b="1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F51ACB66-1358-1D26-BD9C-ACFA69159226}"/>
              </a:ext>
            </a:extLst>
          </p:cNvPr>
          <p:cNvSpPr txBox="1"/>
          <p:nvPr/>
        </p:nvSpPr>
        <p:spPr>
          <a:xfrm>
            <a:off x="10811551" y="4741660"/>
            <a:ext cx="11215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-363.503 Eh</a:t>
            </a:r>
            <a:endParaRPr lang="ko-KR" altLang="en-US" b="1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D5EF9D7-70CB-47A7-159A-5DEFEBB337BD}"/>
              </a:ext>
            </a:extLst>
          </p:cNvPr>
          <p:cNvSpPr txBox="1"/>
          <p:nvPr/>
        </p:nvSpPr>
        <p:spPr>
          <a:xfrm>
            <a:off x="10811551" y="5783996"/>
            <a:ext cx="11215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="1" dirty="0"/>
              <a:t>-439.488 Eh</a:t>
            </a:r>
            <a:endParaRPr lang="ko-KR" altLang="en-US" b="1" dirty="0"/>
          </a:p>
        </p:txBody>
      </p:sp>
      <p:pic>
        <p:nvPicPr>
          <p:cNvPr id="176" name="그림 175">
            <a:extLst>
              <a:ext uri="{FF2B5EF4-FFF2-40B4-BE49-F238E27FC236}">
                <a16:creationId xmlns:a16="http://schemas.microsoft.com/office/drawing/2014/main" id="{62A7FC7E-6E6D-E25C-C9EB-925FF663F22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4527" y="812879"/>
            <a:ext cx="244793" cy="215121"/>
          </a:xfrm>
          <a:prstGeom prst="rect">
            <a:avLst/>
          </a:prstGeom>
        </p:spPr>
      </p:pic>
      <p:sp>
        <p:nvSpPr>
          <p:cNvPr id="177" name="TextBox 176">
            <a:extLst>
              <a:ext uri="{FF2B5EF4-FFF2-40B4-BE49-F238E27FC236}">
                <a16:creationId xmlns:a16="http://schemas.microsoft.com/office/drawing/2014/main" id="{2C402C2F-44B0-A351-D597-A5E6309976E0}"/>
              </a:ext>
            </a:extLst>
          </p:cNvPr>
          <p:cNvSpPr txBox="1"/>
          <p:nvPr/>
        </p:nvSpPr>
        <p:spPr>
          <a:xfrm>
            <a:off x="1383050" y="774095"/>
            <a:ext cx="15707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H</a:t>
            </a:r>
            <a:r>
              <a:rPr lang="en-US" altLang="ko-KR" sz="1100" b="1" baseline="30000" dirty="0"/>
              <a:t>+</a:t>
            </a:r>
            <a:r>
              <a:rPr lang="en-US" altLang="ko-KR" sz="1100" b="1" dirty="0"/>
              <a:t> proton</a:t>
            </a:r>
            <a:endParaRPr lang="ko-KR" altLang="en-US" b="1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2DBDFECC-C41E-34E8-C7F3-76A636188FF7}"/>
              </a:ext>
            </a:extLst>
          </p:cNvPr>
          <p:cNvSpPr txBox="1"/>
          <p:nvPr/>
        </p:nvSpPr>
        <p:spPr>
          <a:xfrm>
            <a:off x="3695439" y="774095"/>
            <a:ext cx="15707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0 Eh</a:t>
            </a:r>
            <a:endParaRPr lang="ko-KR" altLang="en-US" b="1" dirty="0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BA478BD9-A333-3B67-5A25-5FA82CA9B019}"/>
              </a:ext>
            </a:extLst>
          </p:cNvPr>
          <p:cNvSpPr txBox="1"/>
          <p:nvPr/>
        </p:nvSpPr>
        <p:spPr>
          <a:xfrm>
            <a:off x="90225" y="2151600"/>
            <a:ext cx="731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Alanine</a:t>
            </a:r>
            <a:endParaRPr lang="ko-KR" altLang="en-US" sz="1200" b="1" i="1" u="sng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54EA4F44-2CBA-193E-FC33-9956DE7C22E3}"/>
              </a:ext>
            </a:extLst>
          </p:cNvPr>
          <p:cNvSpPr txBox="1"/>
          <p:nvPr/>
        </p:nvSpPr>
        <p:spPr>
          <a:xfrm>
            <a:off x="90225" y="3167332"/>
            <a:ext cx="731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Alanine</a:t>
            </a:r>
            <a:endParaRPr lang="ko-KR" altLang="en-US" sz="1200" b="1" i="1" u="sng" dirty="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22EC2A5A-24AE-0EE5-7CF6-523F0BBF4269}"/>
              </a:ext>
            </a:extLst>
          </p:cNvPr>
          <p:cNvSpPr txBox="1"/>
          <p:nvPr/>
        </p:nvSpPr>
        <p:spPr>
          <a:xfrm>
            <a:off x="705861" y="3167332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83A17155-E519-845F-32EB-89D8DC7A3A1B}"/>
              </a:ext>
            </a:extLst>
          </p:cNvPr>
          <p:cNvSpPr txBox="1"/>
          <p:nvPr/>
        </p:nvSpPr>
        <p:spPr>
          <a:xfrm>
            <a:off x="889168" y="3167332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OH</a:t>
            </a:r>
            <a:r>
              <a:rPr lang="ko-KR" altLang="en-US" sz="1200" b="1" i="1" u="sng" baseline="30000" dirty="0" err="1"/>
              <a:t>ㅡ</a:t>
            </a:r>
            <a:endParaRPr lang="ko-KR" altLang="en-US" sz="1200" b="1" i="1" u="sng" dirty="0"/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6A510124-9F19-B032-6E82-387F2FCA5008}"/>
              </a:ext>
            </a:extLst>
          </p:cNvPr>
          <p:cNvSpPr txBox="1"/>
          <p:nvPr/>
        </p:nvSpPr>
        <p:spPr>
          <a:xfrm>
            <a:off x="90225" y="4197025"/>
            <a:ext cx="731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Alanine</a:t>
            </a:r>
            <a:endParaRPr lang="ko-KR" altLang="en-US" sz="1200" b="1" i="1" u="sng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87E36DE-A74C-7244-DBBB-31FDE59E0D41}"/>
              </a:ext>
            </a:extLst>
          </p:cNvPr>
          <p:cNvSpPr txBox="1"/>
          <p:nvPr/>
        </p:nvSpPr>
        <p:spPr>
          <a:xfrm>
            <a:off x="705861" y="4197025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690951E9-BC9C-27F3-A3AB-F18E2110BACA}"/>
              </a:ext>
            </a:extLst>
          </p:cNvPr>
          <p:cNvSpPr txBox="1"/>
          <p:nvPr/>
        </p:nvSpPr>
        <p:spPr>
          <a:xfrm>
            <a:off x="963708" y="4197025"/>
            <a:ext cx="377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H</a:t>
            </a:r>
            <a:r>
              <a:rPr lang="en-US" altLang="ko-KR" sz="1200" b="1" i="1" u="sng" baseline="30000" dirty="0"/>
              <a:t>+</a:t>
            </a:r>
            <a:endParaRPr lang="ko-KR" altLang="en-US" sz="1200" b="1" i="1" u="sng" dirty="0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8ECC5923-4F13-86AD-E456-3C5FC083DC66}"/>
              </a:ext>
            </a:extLst>
          </p:cNvPr>
          <p:cNvSpPr txBox="1"/>
          <p:nvPr/>
        </p:nvSpPr>
        <p:spPr>
          <a:xfrm>
            <a:off x="90225" y="5226718"/>
            <a:ext cx="731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Alanine</a:t>
            </a:r>
            <a:endParaRPr lang="ko-KR" altLang="en-US" sz="1200" b="1" i="1" u="sng" dirty="0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C76D365D-D0BC-43DA-F783-E657B032ED12}"/>
              </a:ext>
            </a:extLst>
          </p:cNvPr>
          <p:cNvSpPr txBox="1"/>
          <p:nvPr/>
        </p:nvSpPr>
        <p:spPr>
          <a:xfrm>
            <a:off x="705861" y="5226718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A0858CCB-EEDE-C0DA-183B-295EB4DD36F3}"/>
              </a:ext>
            </a:extLst>
          </p:cNvPr>
          <p:cNvSpPr txBox="1"/>
          <p:nvPr/>
        </p:nvSpPr>
        <p:spPr>
          <a:xfrm>
            <a:off x="948468" y="5226718"/>
            <a:ext cx="377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H</a:t>
            </a:r>
            <a:r>
              <a:rPr lang="en-US" altLang="ko-KR" sz="1200" b="1" i="1" u="sng" baseline="30000" dirty="0"/>
              <a:t>+</a:t>
            </a:r>
            <a:endParaRPr lang="ko-KR" altLang="en-US" sz="1200" b="1" i="1" u="sng" dirty="0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50177D4E-D784-8AB7-DDA4-295A8DE91ECD}"/>
              </a:ext>
            </a:extLst>
          </p:cNvPr>
          <p:cNvSpPr txBox="1"/>
          <p:nvPr/>
        </p:nvSpPr>
        <p:spPr>
          <a:xfrm>
            <a:off x="1243050" y="5226089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69929271-7029-D3D1-CB34-24ED04580097}"/>
              </a:ext>
            </a:extLst>
          </p:cNvPr>
          <p:cNvSpPr txBox="1"/>
          <p:nvPr/>
        </p:nvSpPr>
        <p:spPr>
          <a:xfrm>
            <a:off x="1426357" y="5226089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OH</a:t>
            </a:r>
            <a:r>
              <a:rPr lang="ko-KR" altLang="en-US" sz="1200" b="1" i="1" u="sng" baseline="30000" dirty="0" err="1"/>
              <a:t>ㅡ</a:t>
            </a:r>
            <a:endParaRPr lang="ko-KR" altLang="en-US" sz="1200" b="1" i="1" u="sng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5B051B04-4642-086E-BA10-17E5F22E1F84}"/>
              </a:ext>
            </a:extLst>
          </p:cNvPr>
          <p:cNvSpPr txBox="1"/>
          <p:nvPr/>
        </p:nvSpPr>
        <p:spPr>
          <a:xfrm>
            <a:off x="5565613" y="2151600"/>
            <a:ext cx="1505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 err="1"/>
              <a:t>Aminobutylic</a:t>
            </a:r>
            <a:r>
              <a:rPr lang="en-US" altLang="ko-KR" sz="1200" b="1" i="1" u="sng" dirty="0"/>
              <a:t> acid</a:t>
            </a:r>
            <a:endParaRPr lang="ko-KR" altLang="en-US" sz="1200" b="1" i="1" u="sng" dirty="0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D7E15498-8238-90AA-AE7A-5ADF53193331}"/>
              </a:ext>
            </a:extLst>
          </p:cNvPr>
          <p:cNvSpPr txBox="1"/>
          <p:nvPr/>
        </p:nvSpPr>
        <p:spPr>
          <a:xfrm>
            <a:off x="5565613" y="3167332"/>
            <a:ext cx="1505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 err="1"/>
              <a:t>Aminobutylic</a:t>
            </a:r>
            <a:r>
              <a:rPr lang="en-US" altLang="ko-KR" sz="1200" b="1" i="1" u="sng" dirty="0"/>
              <a:t> acid</a:t>
            </a:r>
            <a:endParaRPr lang="ko-KR" altLang="en-US" sz="1200" b="1" i="1" u="sng" dirty="0"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DC3A883C-A5BE-2A51-5AA1-79ABFB8DC429}"/>
              </a:ext>
            </a:extLst>
          </p:cNvPr>
          <p:cNvSpPr txBox="1"/>
          <p:nvPr/>
        </p:nvSpPr>
        <p:spPr>
          <a:xfrm>
            <a:off x="7023627" y="3167332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FB7AC362-43C6-4F3B-F58E-ED95AE2AA536}"/>
              </a:ext>
            </a:extLst>
          </p:cNvPr>
          <p:cNvSpPr txBox="1"/>
          <p:nvPr/>
        </p:nvSpPr>
        <p:spPr>
          <a:xfrm>
            <a:off x="7206934" y="3167332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OH</a:t>
            </a:r>
            <a:r>
              <a:rPr lang="ko-KR" altLang="en-US" sz="1200" b="1" i="1" u="sng" baseline="30000" dirty="0" err="1"/>
              <a:t>ㅡ</a:t>
            </a:r>
            <a:endParaRPr lang="ko-KR" altLang="en-US" sz="1200" b="1" i="1" u="sng" dirty="0"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029B77F7-C918-544C-DA90-569EE552E082}"/>
              </a:ext>
            </a:extLst>
          </p:cNvPr>
          <p:cNvSpPr txBox="1"/>
          <p:nvPr/>
        </p:nvSpPr>
        <p:spPr>
          <a:xfrm>
            <a:off x="5565613" y="4197025"/>
            <a:ext cx="1505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 err="1"/>
              <a:t>Aminobutylic</a:t>
            </a:r>
            <a:r>
              <a:rPr lang="en-US" altLang="ko-KR" sz="1200" b="1" i="1" u="sng" dirty="0"/>
              <a:t> acid</a:t>
            </a:r>
            <a:endParaRPr lang="ko-KR" altLang="en-US" sz="1200" b="1" i="1" u="sng" dirty="0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BBABFE98-0B82-37FA-4232-3BAC2ED9B117}"/>
              </a:ext>
            </a:extLst>
          </p:cNvPr>
          <p:cNvSpPr txBox="1"/>
          <p:nvPr/>
        </p:nvSpPr>
        <p:spPr>
          <a:xfrm>
            <a:off x="7023627" y="4197025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56399BE2-7A18-7029-ED3E-DBCAFFB85186}"/>
              </a:ext>
            </a:extLst>
          </p:cNvPr>
          <p:cNvSpPr txBox="1"/>
          <p:nvPr/>
        </p:nvSpPr>
        <p:spPr>
          <a:xfrm>
            <a:off x="7281474" y="4197025"/>
            <a:ext cx="377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H</a:t>
            </a:r>
            <a:r>
              <a:rPr lang="en-US" altLang="ko-KR" sz="1200" b="1" i="1" u="sng" baseline="30000" dirty="0"/>
              <a:t>+</a:t>
            </a:r>
            <a:endParaRPr lang="ko-KR" altLang="en-US" sz="1200" b="1" i="1" u="sng" dirty="0"/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68BE1EC6-2F85-8244-EB48-E0A243094442}"/>
              </a:ext>
            </a:extLst>
          </p:cNvPr>
          <p:cNvSpPr txBox="1"/>
          <p:nvPr/>
        </p:nvSpPr>
        <p:spPr>
          <a:xfrm>
            <a:off x="5565613" y="5226718"/>
            <a:ext cx="1505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 err="1"/>
              <a:t>Aminobutylic</a:t>
            </a:r>
            <a:r>
              <a:rPr lang="en-US" altLang="ko-KR" sz="1200" b="1" i="1" u="sng" dirty="0"/>
              <a:t> acid</a:t>
            </a:r>
            <a:endParaRPr lang="ko-KR" altLang="en-US" sz="1200" b="1" i="1" u="sng" dirty="0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218A6769-63CE-45EB-E465-DDEADFDF69B4}"/>
              </a:ext>
            </a:extLst>
          </p:cNvPr>
          <p:cNvSpPr txBox="1"/>
          <p:nvPr/>
        </p:nvSpPr>
        <p:spPr>
          <a:xfrm>
            <a:off x="7023627" y="5226718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B02E6B32-9E34-03D0-EDBC-9CC3CAEAC6EF}"/>
              </a:ext>
            </a:extLst>
          </p:cNvPr>
          <p:cNvSpPr txBox="1"/>
          <p:nvPr/>
        </p:nvSpPr>
        <p:spPr>
          <a:xfrm>
            <a:off x="7266234" y="5226718"/>
            <a:ext cx="377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H</a:t>
            </a:r>
            <a:r>
              <a:rPr lang="en-US" altLang="ko-KR" sz="1200" b="1" i="1" u="sng" baseline="30000" dirty="0"/>
              <a:t>+</a:t>
            </a:r>
            <a:endParaRPr lang="ko-KR" altLang="en-US" sz="1200" b="1" i="1" u="sng" dirty="0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716BF22D-98E0-1302-6F99-3D3C668D4F10}"/>
              </a:ext>
            </a:extLst>
          </p:cNvPr>
          <p:cNvSpPr txBox="1"/>
          <p:nvPr/>
        </p:nvSpPr>
        <p:spPr>
          <a:xfrm>
            <a:off x="7560816" y="5226089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/>
              <a:t>+</a:t>
            </a:r>
            <a:endParaRPr lang="ko-KR" altLang="en-US" sz="1200" b="1" dirty="0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E4F77EF2-E79A-1417-ACDA-92DB65167378}"/>
              </a:ext>
            </a:extLst>
          </p:cNvPr>
          <p:cNvSpPr txBox="1"/>
          <p:nvPr/>
        </p:nvSpPr>
        <p:spPr>
          <a:xfrm>
            <a:off x="7744123" y="5226089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i="1" u="sng" dirty="0"/>
              <a:t>OH</a:t>
            </a:r>
            <a:r>
              <a:rPr lang="ko-KR" altLang="en-US" sz="1200" b="1" i="1" u="sng" baseline="30000" dirty="0" err="1"/>
              <a:t>ㅡ</a:t>
            </a:r>
            <a:endParaRPr lang="ko-KR" altLang="en-US" sz="1200" b="1" i="1" u="sng" dirty="0"/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FDEB364B-3700-962D-7DAB-DB7B0123859C}"/>
              </a:ext>
            </a:extLst>
          </p:cNvPr>
          <p:cNvSpPr/>
          <p:nvPr/>
        </p:nvSpPr>
        <p:spPr>
          <a:xfrm>
            <a:off x="5469393" y="672888"/>
            <a:ext cx="741636" cy="464024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EC49A90-9271-5FC8-7157-0636252927C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02662" y="1783204"/>
            <a:ext cx="244793" cy="2151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D90EA7-C6CD-DC7D-B0C3-5E95A75D7709}"/>
              </a:ext>
            </a:extLst>
          </p:cNvPr>
          <p:cNvSpPr txBox="1"/>
          <p:nvPr/>
        </p:nvSpPr>
        <p:spPr>
          <a:xfrm>
            <a:off x="7501185" y="1744420"/>
            <a:ext cx="15707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H</a:t>
            </a:r>
            <a:r>
              <a:rPr lang="en-US" altLang="ko-KR" sz="1100" b="1" baseline="30000" dirty="0"/>
              <a:t>+</a:t>
            </a:r>
            <a:r>
              <a:rPr lang="en-US" altLang="ko-KR" sz="1100" b="1" dirty="0"/>
              <a:t> proton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BB64A2-CBAD-93F4-4A28-E8A61379FBDB}"/>
              </a:ext>
            </a:extLst>
          </p:cNvPr>
          <p:cNvSpPr txBox="1"/>
          <p:nvPr/>
        </p:nvSpPr>
        <p:spPr>
          <a:xfrm>
            <a:off x="9786825" y="1755069"/>
            <a:ext cx="15707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-0.198 Eh</a:t>
            </a:r>
            <a:endParaRPr lang="ko-KR" altLang="en-US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A9EC4FE-FBE5-8651-2FC6-077F1165805A}"/>
              </a:ext>
            </a:extLst>
          </p:cNvPr>
          <p:cNvSpPr/>
          <p:nvPr/>
        </p:nvSpPr>
        <p:spPr>
          <a:xfrm>
            <a:off x="249382" y="479382"/>
            <a:ext cx="4655127" cy="87553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95E295C9-0C0D-67B2-6138-D58FD577016D}"/>
              </a:ext>
            </a:extLst>
          </p:cNvPr>
          <p:cNvGrpSpPr/>
          <p:nvPr/>
        </p:nvGrpSpPr>
        <p:grpSpPr>
          <a:xfrm>
            <a:off x="6775913" y="551782"/>
            <a:ext cx="2312440" cy="640186"/>
            <a:chOff x="6706162" y="551782"/>
            <a:chExt cx="2312440" cy="640186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172E2AF4-EBE6-4DC4-EC38-E4D88458E8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706162" y="551782"/>
              <a:ext cx="2299855" cy="640186"/>
            </a:xfrm>
            <a:prstGeom prst="rect">
              <a:avLst/>
            </a:prstGeom>
          </p:spPr>
        </p:pic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77C8B68D-8C73-39DA-3668-22619378D058}"/>
                </a:ext>
              </a:extLst>
            </p:cNvPr>
            <p:cNvCxnSpPr/>
            <p:nvPr/>
          </p:nvCxnSpPr>
          <p:spPr>
            <a:xfrm>
              <a:off x="7071154" y="871875"/>
              <a:ext cx="1539227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D4D6A3A-9DB2-C9A7-BAE1-34D5FD5DA4AE}"/>
                </a:ext>
              </a:extLst>
            </p:cNvPr>
            <p:cNvSpPr txBox="1"/>
            <p:nvPr/>
          </p:nvSpPr>
          <p:spPr>
            <a:xfrm>
              <a:off x="6718747" y="609193"/>
              <a:ext cx="229985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rgbClr val="FF0000"/>
                  </a:solidFill>
                </a:rPr>
                <a:t>100A </a:t>
              </a:r>
              <a:r>
                <a:rPr lang="ko-KR" altLang="en-US" sz="800" dirty="0">
                  <a:solidFill>
                    <a:srgbClr val="FF0000"/>
                  </a:solidFill>
                </a:rPr>
                <a:t>이상으로 거리를 </a:t>
              </a:r>
              <a:r>
                <a:rPr lang="ko-KR" altLang="en-US" sz="800" dirty="0" err="1">
                  <a:solidFill>
                    <a:srgbClr val="FF0000"/>
                  </a:solidFill>
                </a:rPr>
                <a:t>띄워놓은</a:t>
              </a:r>
              <a:r>
                <a:rPr lang="ko-KR" altLang="en-US" sz="800" dirty="0">
                  <a:solidFill>
                    <a:srgbClr val="FF0000"/>
                  </a:solidFill>
                </a:rPr>
                <a:t> 상태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0FE0E84A-5033-2B3B-8C1F-009206951947}"/>
              </a:ext>
            </a:extLst>
          </p:cNvPr>
          <p:cNvSpPr txBox="1"/>
          <p:nvPr/>
        </p:nvSpPr>
        <p:spPr>
          <a:xfrm>
            <a:off x="9786825" y="760160"/>
            <a:ext cx="15707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-76.116 Eh</a:t>
            </a:r>
            <a:endParaRPr lang="ko-KR" altLang="en-US" b="1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AF884F2A-5771-EC47-46B9-5EA08159ED9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33040" y="1233598"/>
            <a:ext cx="252502" cy="36933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E455A2F0-940B-CF42-3FC4-F43EC8BB4A9B}"/>
              </a:ext>
            </a:extLst>
          </p:cNvPr>
          <p:cNvSpPr txBox="1"/>
          <p:nvPr/>
        </p:nvSpPr>
        <p:spPr>
          <a:xfrm>
            <a:off x="10071498" y="1325931"/>
            <a:ext cx="10014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 b="1" dirty="0"/>
              <a:t>-75.918 </a:t>
            </a:r>
            <a:r>
              <a:rPr lang="en-US" altLang="ko-KR" sz="1100" b="1" dirty="0"/>
              <a:t>Eh</a:t>
            </a:r>
            <a:endParaRPr lang="ko-KR" altLang="en-US" sz="1600" b="1" dirty="0"/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5DFBE514-3ECB-5FF8-5E81-1553F37A5DD9}"/>
              </a:ext>
            </a:extLst>
          </p:cNvPr>
          <p:cNvCxnSpPr>
            <a:cxnSpLocks/>
          </p:cNvCxnSpPr>
          <p:nvPr/>
        </p:nvCxnSpPr>
        <p:spPr>
          <a:xfrm>
            <a:off x="10008582" y="612978"/>
            <a:ext cx="0" cy="12910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A869903D-130C-3B24-A219-C74690EA2493}"/>
              </a:ext>
            </a:extLst>
          </p:cNvPr>
          <p:cNvCxnSpPr>
            <a:cxnSpLocks/>
          </p:cNvCxnSpPr>
          <p:nvPr/>
        </p:nvCxnSpPr>
        <p:spPr>
          <a:xfrm flipH="1">
            <a:off x="9679709" y="1620827"/>
            <a:ext cx="13931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DBEADE26-F6D5-AECC-513E-6D86D9D93893}"/>
              </a:ext>
            </a:extLst>
          </p:cNvPr>
          <p:cNvCxnSpPr>
            <a:cxnSpLocks/>
          </p:cNvCxnSpPr>
          <p:nvPr/>
        </p:nvCxnSpPr>
        <p:spPr>
          <a:xfrm>
            <a:off x="9750921" y="1456736"/>
            <a:ext cx="12151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7A5100E-B090-D763-7F74-C483C90B5924}"/>
              </a:ext>
            </a:extLst>
          </p:cNvPr>
          <p:cNvSpPr/>
          <p:nvPr/>
        </p:nvSpPr>
        <p:spPr>
          <a:xfrm>
            <a:off x="6326910" y="479382"/>
            <a:ext cx="5728502" cy="16448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265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6CAAD-FB2A-4016-08A7-ECA31369D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453540BB-299A-0163-21AF-604979189042}"/>
              </a:ext>
            </a:extLst>
          </p:cNvPr>
          <p:cNvSpPr txBox="1"/>
          <p:nvPr/>
        </p:nvSpPr>
        <p:spPr>
          <a:xfrm>
            <a:off x="599056" y="110050"/>
            <a:ext cx="8751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1" u="sng" dirty="0">
                <a:solidFill>
                  <a:srgbClr val="002060"/>
                </a:solidFill>
              </a:rPr>
              <a:t>2</a:t>
            </a:r>
            <a:r>
              <a:rPr lang="ko-KR" altLang="en-US" b="1" i="1" u="sng" dirty="0">
                <a:solidFill>
                  <a:srgbClr val="002060"/>
                </a:solidFill>
              </a:rPr>
              <a:t>개의 </a:t>
            </a:r>
            <a:r>
              <a:rPr lang="en-US" altLang="ko-KR" b="1" i="1" u="sng" dirty="0">
                <a:solidFill>
                  <a:srgbClr val="002060"/>
                </a:solidFill>
              </a:rPr>
              <a:t>Zwitterionic form</a:t>
            </a:r>
            <a:r>
              <a:rPr lang="ko-KR" altLang="en-US" b="1" i="1" u="sng" dirty="0">
                <a:solidFill>
                  <a:srgbClr val="002060"/>
                </a:solidFill>
              </a:rPr>
              <a:t>에 대한 </a:t>
            </a:r>
            <a:r>
              <a:rPr lang="en-US" altLang="ko-KR" b="1" i="1" u="sng" dirty="0">
                <a:solidFill>
                  <a:srgbClr val="002060"/>
                </a:solidFill>
              </a:rPr>
              <a:t>proton, hydroxide ion</a:t>
            </a:r>
            <a:r>
              <a:rPr lang="ko-KR" altLang="en-US" b="1" i="1" u="sng" dirty="0">
                <a:solidFill>
                  <a:srgbClr val="002060"/>
                </a:solidFill>
              </a:rPr>
              <a:t>의 바인딩 에너지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4AA2A324-D7B8-B633-788B-2F753A9DFDA0}"/>
              </a:ext>
            </a:extLst>
          </p:cNvPr>
          <p:cNvSpPr/>
          <p:nvPr/>
        </p:nvSpPr>
        <p:spPr>
          <a:xfrm>
            <a:off x="2953803" y="471866"/>
            <a:ext cx="1060523" cy="282225"/>
          </a:xfrm>
          <a:prstGeom prst="ellipse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82" name="화살표: 오른쪽 81">
            <a:extLst>
              <a:ext uri="{FF2B5EF4-FFF2-40B4-BE49-F238E27FC236}">
                <a16:creationId xmlns:a16="http://schemas.microsoft.com/office/drawing/2014/main" id="{6E6E9046-53EA-3DA9-A6D8-2A3C49E51095}"/>
              </a:ext>
            </a:extLst>
          </p:cNvPr>
          <p:cNvSpPr/>
          <p:nvPr/>
        </p:nvSpPr>
        <p:spPr>
          <a:xfrm>
            <a:off x="6981825" y="3110872"/>
            <a:ext cx="381000" cy="39052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ECF9A19-2339-2B26-A373-60D42FC15F8F}"/>
              </a:ext>
            </a:extLst>
          </p:cNvPr>
          <p:cNvSpPr txBox="1"/>
          <p:nvPr/>
        </p:nvSpPr>
        <p:spPr>
          <a:xfrm>
            <a:off x="599056" y="4770282"/>
            <a:ext cx="99736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0</a:t>
            </a:r>
            <a:r>
              <a:rPr lang="ko-KR" altLang="en-US" sz="1400" dirty="0"/>
              <a:t>이 아니라 </a:t>
            </a:r>
            <a:r>
              <a:rPr lang="en-US" altLang="ko-KR" sz="1400" dirty="0"/>
              <a:t>H</a:t>
            </a:r>
            <a:r>
              <a:rPr lang="en-US" altLang="ko-KR" sz="1400" baseline="30000" dirty="0"/>
              <a:t>+</a:t>
            </a:r>
            <a:r>
              <a:rPr lang="ko-KR" altLang="en-US" sz="1400" dirty="0"/>
              <a:t>의 에너지를 추정한 값을 바인딩 에너지 계산에 사용하니 </a:t>
            </a:r>
            <a:r>
              <a:rPr lang="en-US" altLang="ko-KR" sz="1400" dirty="0"/>
              <a:t>H</a:t>
            </a:r>
            <a:r>
              <a:rPr lang="en-US" altLang="ko-KR" sz="1400" baseline="30000" dirty="0"/>
              <a:t>+</a:t>
            </a:r>
            <a:r>
              <a:rPr lang="ko-KR" altLang="en-US" sz="1400" dirty="0"/>
              <a:t>의 </a:t>
            </a:r>
            <a:r>
              <a:rPr lang="ko-KR" altLang="en-US" sz="1400" dirty="0" err="1"/>
              <a:t>양쪽성</a:t>
            </a:r>
            <a:r>
              <a:rPr lang="ko-KR" altLang="en-US" sz="1400" dirty="0"/>
              <a:t> 이온에서의 바인딩 에너지가 타당한 수준 </a:t>
            </a:r>
            <a:r>
              <a:rPr lang="en-US" altLang="ko-KR" sz="1400" dirty="0"/>
              <a:t>(-700 ~ -660 </a:t>
            </a:r>
            <a:r>
              <a:rPr lang="en-US" altLang="ko-KR" sz="1400" dirty="0" err="1"/>
              <a:t>kj</a:t>
            </a:r>
            <a:r>
              <a:rPr lang="en-US" altLang="ko-KR" sz="1400" dirty="0"/>
              <a:t>/mol) </a:t>
            </a:r>
            <a:r>
              <a:rPr lang="ko-KR" altLang="en-US" sz="1400" dirty="0"/>
              <a:t>정도의 에너지 범위에 들어올 수 있었다</a:t>
            </a:r>
            <a:r>
              <a:rPr lang="en-US" altLang="ko-KR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H</a:t>
            </a:r>
            <a:r>
              <a:rPr lang="en-US" altLang="ko-KR" sz="1400" baseline="30000" dirty="0"/>
              <a:t>+</a:t>
            </a:r>
            <a:r>
              <a:rPr lang="ko-KR" altLang="en-US" sz="1400" dirty="0"/>
              <a:t>의 에너지를 추정한 방식이 타당하다면 이렇게 구한 </a:t>
            </a:r>
            <a:r>
              <a:rPr lang="en-US" altLang="ko-KR" sz="1400" dirty="0"/>
              <a:t>binding</a:t>
            </a:r>
            <a:r>
              <a:rPr lang="ko-KR" altLang="en-US" sz="1400" dirty="0"/>
              <a:t>에너지도 타당할 수 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4630CBF-BAE5-D490-C2E7-564979C51A2E}"/>
              </a:ext>
            </a:extLst>
          </p:cNvPr>
          <p:cNvGrpSpPr/>
          <p:nvPr/>
        </p:nvGrpSpPr>
        <p:grpSpPr>
          <a:xfrm>
            <a:off x="453913" y="856438"/>
            <a:ext cx="10711544" cy="3867870"/>
            <a:chOff x="453913" y="669133"/>
            <a:chExt cx="10711544" cy="386787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E17BA0EF-0CD1-4079-75C6-1019BA4C2BA2}"/>
                </a:ext>
              </a:extLst>
            </p:cNvPr>
            <p:cNvGrpSpPr/>
            <p:nvPr/>
          </p:nvGrpSpPr>
          <p:grpSpPr>
            <a:xfrm>
              <a:off x="453913" y="669133"/>
              <a:ext cx="10711544" cy="3867870"/>
              <a:chOff x="-4468367" y="669133"/>
              <a:chExt cx="12581119" cy="4542962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54E4EA8D-76ED-4364-BF54-3A57B42211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4468367" y="669133"/>
                <a:ext cx="6000750" cy="4476750"/>
              </a:xfrm>
              <a:prstGeom prst="rect">
                <a:avLst/>
              </a:prstGeom>
            </p:spPr>
          </p:pic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2EBB89A6-76CA-1B27-C570-43975B6E06B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12001" y="735345"/>
                <a:ext cx="6000751" cy="44767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8" name="화살표: 오른쪽 7">
              <a:extLst>
                <a:ext uri="{FF2B5EF4-FFF2-40B4-BE49-F238E27FC236}">
                  <a16:creationId xmlns:a16="http://schemas.microsoft.com/office/drawing/2014/main" id="{6712DC26-C079-A15F-6EF4-67C8DA0E7FF1}"/>
                </a:ext>
              </a:extLst>
            </p:cNvPr>
            <p:cNvSpPr/>
            <p:nvPr/>
          </p:nvSpPr>
          <p:spPr>
            <a:xfrm>
              <a:off x="5617029" y="1992525"/>
              <a:ext cx="381000" cy="991786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6274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6CE47-F836-C3C6-A6E8-AA1DF68F3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590C1905-697A-0038-A65B-5258B39C5697}"/>
              </a:ext>
            </a:extLst>
          </p:cNvPr>
          <p:cNvSpPr txBox="1"/>
          <p:nvPr/>
        </p:nvSpPr>
        <p:spPr>
          <a:xfrm>
            <a:off x="599056" y="110050"/>
            <a:ext cx="10278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1" u="sng" dirty="0">
                <a:solidFill>
                  <a:srgbClr val="002060"/>
                </a:solidFill>
              </a:rPr>
              <a:t>2</a:t>
            </a:r>
            <a:r>
              <a:rPr lang="ko-KR" altLang="en-US" b="1" i="1" u="sng" dirty="0">
                <a:solidFill>
                  <a:srgbClr val="002060"/>
                </a:solidFill>
              </a:rPr>
              <a:t>개의 </a:t>
            </a:r>
            <a:r>
              <a:rPr lang="en-US" altLang="ko-KR" b="1" i="1" u="sng" dirty="0">
                <a:solidFill>
                  <a:srgbClr val="002060"/>
                </a:solidFill>
              </a:rPr>
              <a:t>Zwitterionic form / Zn ion / H2O / sulfate ion</a:t>
            </a:r>
            <a:r>
              <a:rPr lang="ko-KR" altLang="en-US" b="1" i="1" u="sng" dirty="0">
                <a:solidFill>
                  <a:srgbClr val="002060"/>
                </a:solidFill>
              </a:rPr>
              <a:t>의 </a:t>
            </a:r>
            <a:r>
              <a:rPr lang="en-US" altLang="ko-KR" b="1" i="1" u="sng" dirty="0">
                <a:solidFill>
                  <a:srgbClr val="002060"/>
                </a:solidFill>
              </a:rPr>
              <a:t>Zn 100 / 101 / 002 Plane </a:t>
            </a:r>
            <a:r>
              <a:rPr lang="ko-KR" altLang="en-US" b="1" i="1" u="sng" dirty="0">
                <a:solidFill>
                  <a:srgbClr val="002060"/>
                </a:solidFill>
              </a:rPr>
              <a:t>흡착 에너지</a:t>
            </a:r>
            <a:r>
              <a:rPr lang="en-US" altLang="ko-KR" b="1" i="1" u="sng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554C4BA5-9CAE-34F7-ED11-CE6BBB238916}"/>
              </a:ext>
            </a:extLst>
          </p:cNvPr>
          <p:cNvSpPr/>
          <p:nvPr/>
        </p:nvSpPr>
        <p:spPr>
          <a:xfrm>
            <a:off x="2953803" y="471866"/>
            <a:ext cx="1060523" cy="282225"/>
          </a:xfrm>
          <a:prstGeom prst="ellipse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latin typeface="나눔스퀘어OTF" panose="020B0600000101010101" pitchFamily="34" charset="-127"/>
              <a:ea typeface="나눔스퀘어OTF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250009C-63EC-1A24-E64C-95E2E1E57977}"/>
              </a:ext>
            </a:extLst>
          </p:cNvPr>
          <p:cNvSpPr txBox="1"/>
          <p:nvPr/>
        </p:nvSpPr>
        <p:spPr>
          <a:xfrm>
            <a:off x="358910" y="4573417"/>
            <a:ext cx="9973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흡착 에너지 계산 진행중</a:t>
            </a:r>
            <a:r>
              <a:rPr lang="en-US" altLang="ko-KR" sz="1400" dirty="0"/>
              <a:t>..</a:t>
            </a:r>
            <a:endParaRPr lang="ko-KR" altLang="en-US" sz="1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5D3BF57-BB69-26CC-03EF-DF15EE56A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5208" y="765010"/>
            <a:ext cx="720000" cy="72567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48E3BBD-1C2D-247F-1074-FE2D6D057B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1137" y="799730"/>
            <a:ext cx="720000" cy="65922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831555-0648-5BFB-839B-BE1C7A29AF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2458" y="662195"/>
            <a:ext cx="720000" cy="120781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DD0E511-1C01-3AF3-D785-92BB3C9B84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056" y="799730"/>
            <a:ext cx="720000" cy="90375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85B2F4C5-F3EF-8405-FE38-5E092C6FE0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056" y="2976500"/>
            <a:ext cx="1440000" cy="68936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8A66A29-5120-F7BC-128D-179AA50E8B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37737" y="2908571"/>
            <a:ext cx="1440000" cy="93264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7652350B-84AA-A152-B41A-E4CBF8F1A3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14326" y="2914122"/>
            <a:ext cx="1440000" cy="75345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087D3967-F329-93D8-7736-505CA97F818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90049" y="887896"/>
            <a:ext cx="720000" cy="489706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94424C6B-66DE-302B-9C25-8B628270D9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V="1">
            <a:off x="4239279" y="730605"/>
            <a:ext cx="720000" cy="120781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0CC66EB2-0243-DB49-6BD0-F742FB5C2B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V="1">
            <a:off x="1756886" y="814461"/>
            <a:ext cx="720000" cy="90375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6080170-BA6D-4D2B-49FB-4BD6B37906FF}"/>
              </a:ext>
            </a:extLst>
          </p:cNvPr>
          <p:cNvSpPr txBox="1"/>
          <p:nvPr/>
        </p:nvSpPr>
        <p:spPr>
          <a:xfrm>
            <a:off x="3072631" y="1976739"/>
            <a:ext cx="6046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/>
              <a:t>AB (1)</a:t>
            </a:r>
            <a:endParaRPr lang="ko-KR" altLang="en-US" sz="11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0CE0DB-3090-28F4-B162-1B5A636F92D7}"/>
              </a:ext>
            </a:extLst>
          </p:cNvPr>
          <p:cNvSpPr txBox="1"/>
          <p:nvPr/>
        </p:nvSpPr>
        <p:spPr>
          <a:xfrm>
            <a:off x="4230462" y="1990162"/>
            <a:ext cx="6046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/>
              <a:t>AB (2)</a:t>
            </a:r>
            <a:endParaRPr lang="ko-KR" altLang="en-US" sz="11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DA2D384-0A23-F368-725B-9B19AF726A21}"/>
              </a:ext>
            </a:extLst>
          </p:cNvPr>
          <p:cNvSpPr txBox="1"/>
          <p:nvPr/>
        </p:nvSpPr>
        <p:spPr>
          <a:xfrm>
            <a:off x="631623" y="1776949"/>
            <a:ext cx="5870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/>
              <a:t>AL (1)</a:t>
            </a:r>
            <a:endParaRPr lang="ko-KR" altLang="en-US" sz="11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19ABE5-6F8A-2BA9-F2DD-46EA355306B8}"/>
              </a:ext>
            </a:extLst>
          </p:cNvPr>
          <p:cNvSpPr txBox="1"/>
          <p:nvPr/>
        </p:nvSpPr>
        <p:spPr>
          <a:xfrm>
            <a:off x="1789454" y="1790372"/>
            <a:ext cx="5870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/>
              <a:t>AL (2)</a:t>
            </a:r>
            <a:endParaRPr lang="ko-KR" altLang="en-US" sz="11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B683A6-6014-262E-69D9-BF6CA51BEBF5}"/>
              </a:ext>
            </a:extLst>
          </p:cNvPr>
          <p:cNvSpPr txBox="1"/>
          <p:nvPr/>
        </p:nvSpPr>
        <p:spPr>
          <a:xfrm>
            <a:off x="5758192" y="1510446"/>
            <a:ext cx="9140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/>
              <a:t>Sulfate ion</a:t>
            </a:r>
            <a:endParaRPr lang="ko-KR" altLang="en-US" sz="11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B5F691-9521-FDB0-DBB0-C67CD0F2A916}"/>
              </a:ext>
            </a:extLst>
          </p:cNvPr>
          <p:cNvSpPr txBox="1"/>
          <p:nvPr/>
        </p:nvSpPr>
        <p:spPr>
          <a:xfrm>
            <a:off x="7467095" y="1510446"/>
            <a:ext cx="7280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/>
              <a:t>Zinc ion</a:t>
            </a:r>
            <a:endParaRPr lang="ko-KR" altLang="en-US" sz="11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6031A9-9F8D-BFBF-C1A0-7CC7A1CAFC34}"/>
              </a:ext>
            </a:extLst>
          </p:cNvPr>
          <p:cNvSpPr txBox="1"/>
          <p:nvPr/>
        </p:nvSpPr>
        <p:spPr>
          <a:xfrm>
            <a:off x="9065322" y="1510446"/>
            <a:ext cx="5613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/>
              <a:t>water</a:t>
            </a:r>
            <a:endParaRPr lang="ko-KR" altLang="en-US" sz="11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8D260AC-4E98-528A-809E-376BFA032BB5}"/>
              </a:ext>
            </a:extLst>
          </p:cNvPr>
          <p:cNvSpPr txBox="1"/>
          <p:nvPr/>
        </p:nvSpPr>
        <p:spPr>
          <a:xfrm>
            <a:off x="992685" y="3667371"/>
            <a:ext cx="6527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/>
              <a:t>Zn 002</a:t>
            </a:r>
            <a:endParaRPr lang="ko-KR" altLang="en-US" sz="11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6583FF-51D6-3A0E-8D03-AD78B1706046}"/>
              </a:ext>
            </a:extLst>
          </p:cNvPr>
          <p:cNvSpPr txBox="1"/>
          <p:nvPr/>
        </p:nvSpPr>
        <p:spPr>
          <a:xfrm>
            <a:off x="2722214" y="3828508"/>
            <a:ext cx="6527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/>
              <a:t>Zn 100</a:t>
            </a:r>
            <a:endParaRPr lang="ko-KR" altLang="en-US" sz="11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AF6D18-2FAA-2A33-D75F-4826FFD01CC0}"/>
              </a:ext>
            </a:extLst>
          </p:cNvPr>
          <p:cNvSpPr txBox="1"/>
          <p:nvPr/>
        </p:nvSpPr>
        <p:spPr>
          <a:xfrm>
            <a:off x="4407954" y="3667371"/>
            <a:ext cx="6527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/>
              <a:t>Zn 101</a:t>
            </a:r>
            <a:endParaRPr lang="ko-KR" altLang="en-US" sz="1100" b="1" dirty="0"/>
          </a:p>
        </p:txBody>
      </p:sp>
      <p:pic>
        <p:nvPicPr>
          <p:cNvPr id="39" name="녹음 2025-06-19 172826">
            <a:hlinkClick r:id="" action="ppaction://media"/>
            <a:extLst>
              <a:ext uri="{FF2B5EF4-FFF2-40B4-BE49-F238E27FC236}">
                <a16:creationId xmlns:a16="http://schemas.microsoft.com/office/drawing/2014/main" id="{87D56F9E-CC07-E5BE-59E6-115792E3CC1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121319" y="2120967"/>
            <a:ext cx="2329580" cy="2677279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BFE37033-E1AF-B25B-8061-36C063D60743}"/>
              </a:ext>
            </a:extLst>
          </p:cNvPr>
          <p:cNvSpPr txBox="1"/>
          <p:nvPr/>
        </p:nvSpPr>
        <p:spPr>
          <a:xfrm>
            <a:off x="410863" y="4121233"/>
            <a:ext cx="4132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총 </a:t>
            </a:r>
            <a:r>
              <a:rPr lang="en-US" altLang="ko-KR" dirty="0">
                <a:highlight>
                  <a:srgbClr val="FFFF00"/>
                </a:highlight>
              </a:rPr>
              <a:t>21</a:t>
            </a:r>
            <a:r>
              <a:rPr lang="ko-KR" altLang="en-US" dirty="0">
                <a:highlight>
                  <a:srgbClr val="FFFF00"/>
                </a:highlight>
              </a:rPr>
              <a:t>개의 케이스를 </a:t>
            </a:r>
            <a:r>
              <a:rPr lang="en-US" altLang="ko-KR" dirty="0">
                <a:highlight>
                  <a:srgbClr val="FFFF00"/>
                </a:highlight>
              </a:rPr>
              <a:t>DFT</a:t>
            </a:r>
            <a:r>
              <a:rPr lang="ko-KR" altLang="en-US" dirty="0">
                <a:highlight>
                  <a:srgbClr val="FFFF00"/>
                </a:highlight>
              </a:rPr>
              <a:t>로 계산 필요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CF4FC8-F252-6BCE-09E5-E9CA093B4239}"/>
              </a:ext>
            </a:extLst>
          </p:cNvPr>
          <p:cNvSpPr txBox="1"/>
          <p:nvPr/>
        </p:nvSpPr>
        <p:spPr>
          <a:xfrm>
            <a:off x="6067687" y="5092941"/>
            <a:ext cx="59952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한가지 문제점</a:t>
            </a:r>
            <a:r>
              <a:rPr lang="en-US" altLang="ko-KR" sz="1200" b="1" dirty="0"/>
              <a:t> :</a:t>
            </a:r>
          </a:p>
          <a:p>
            <a:r>
              <a:rPr lang="en-US" altLang="ko-KR" sz="1200" dirty="0"/>
              <a:t>NH3+</a:t>
            </a:r>
            <a:r>
              <a:rPr lang="ko-KR" altLang="en-US" sz="1200" dirty="0"/>
              <a:t>의 </a:t>
            </a:r>
            <a:r>
              <a:rPr lang="en-US" altLang="ko-KR" sz="1200" dirty="0"/>
              <a:t>H+</a:t>
            </a:r>
            <a:r>
              <a:rPr lang="ko-KR" altLang="en-US" sz="1200" dirty="0"/>
              <a:t>가 </a:t>
            </a:r>
            <a:r>
              <a:rPr lang="en-US" altLang="ko-KR" sz="1200" dirty="0"/>
              <a:t>NH3+</a:t>
            </a:r>
            <a:r>
              <a:rPr lang="ko-KR" altLang="en-US" sz="1200" dirty="0"/>
              <a:t>에서 </a:t>
            </a:r>
            <a:r>
              <a:rPr lang="ko-KR" altLang="en-US" sz="1200" dirty="0" err="1"/>
              <a:t>떨어져나가고</a:t>
            </a:r>
            <a:r>
              <a:rPr lang="ko-KR" altLang="en-US" sz="1200" dirty="0"/>
              <a:t> </a:t>
            </a:r>
            <a:r>
              <a:rPr lang="en-US" altLang="ko-KR" sz="1200" dirty="0"/>
              <a:t>COO-</a:t>
            </a:r>
            <a:r>
              <a:rPr lang="ko-KR" altLang="en-US" sz="1200" dirty="0"/>
              <a:t>에 부착되는 현상 발생</a:t>
            </a:r>
            <a:endParaRPr lang="en-US" altLang="ko-KR" sz="1200" dirty="0"/>
          </a:p>
          <a:p>
            <a:r>
              <a:rPr lang="en-US" altLang="ko-KR" sz="1200" b="1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200" dirty="0"/>
              <a:t>기존 </a:t>
            </a:r>
            <a:r>
              <a:rPr lang="en-US" altLang="ko-KR" sz="1200" dirty="0"/>
              <a:t>orca</a:t>
            </a:r>
            <a:r>
              <a:rPr lang="ko-KR" altLang="en-US" sz="1200" dirty="0"/>
              <a:t>기반 구조최적화에서는 일어나지 않은 현상</a:t>
            </a:r>
            <a:endParaRPr lang="en-US" altLang="ko-KR" sz="1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200" dirty="0"/>
              <a:t>Quantum Espresso Planewave </a:t>
            </a:r>
            <a:r>
              <a:rPr lang="ko-KR" altLang="en-US" sz="1200" dirty="0"/>
              <a:t>기반 </a:t>
            </a:r>
            <a:r>
              <a:rPr lang="en-US" altLang="ko-KR" sz="1200" dirty="0"/>
              <a:t>DFT </a:t>
            </a:r>
            <a:r>
              <a:rPr lang="ko-KR" altLang="en-US" sz="1200" dirty="0"/>
              <a:t>계산 </a:t>
            </a:r>
            <a:r>
              <a:rPr lang="ko-KR" altLang="en-US" sz="1200" dirty="0" err="1"/>
              <a:t>특성때문인</a:t>
            </a:r>
            <a:r>
              <a:rPr lang="ko-KR" altLang="en-US" sz="1200" dirty="0"/>
              <a:t> 것으로 추정</a:t>
            </a:r>
            <a:endParaRPr lang="en-US" altLang="ko-KR" sz="1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200" dirty="0" err="1"/>
              <a:t>징크</a:t>
            </a:r>
            <a:r>
              <a:rPr lang="ko-KR" altLang="en-US" sz="1200" dirty="0"/>
              <a:t> 표면 흡착에너지를 구하기 위해서는 고립 분자도 </a:t>
            </a:r>
            <a:r>
              <a:rPr lang="en-US" altLang="ko-KR" sz="1200" dirty="0"/>
              <a:t>Quantum Espresso</a:t>
            </a:r>
            <a:r>
              <a:rPr lang="ko-KR" altLang="en-US" sz="1200" dirty="0"/>
              <a:t>로 구조최적화를 </a:t>
            </a:r>
            <a:r>
              <a:rPr lang="ko-KR" altLang="en-US" sz="1200" dirty="0" err="1"/>
              <a:t>진행해야하는데</a:t>
            </a:r>
            <a:r>
              <a:rPr lang="en-US" altLang="ko-KR" sz="1200" dirty="0"/>
              <a:t>, Quantum Espresso</a:t>
            </a:r>
            <a:r>
              <a:rPr lang="ko-KR" altLang="en-US" sz="1200" dirty="0"/>
              <a:t>로 계산하면서도 온전한 </a:t>
            </a:r>
            <a:r>
              <a:rPr lang="ko-KR" altLang="en-US" sz="1200" dirty="0" err="1"/>
              <a:t>양쪽성</a:t>
            </a:r>
            <a:r>
              <a:rPr lang="ko-KR" altLang="en-US" sz="1200" dirty="0"/>
              <a:t> 이온인 상태로 구조최적화가 되도록 하는 방법을 </a:t>
            </a:r>
            <a:r>
              <a:rPr lang="ko-KR" altLang="en-US" sz="1200" dirty="0" err="1"/>
              <a:t>검토해봐야할</a:t>
            </a:r>
            <a:r>
              <a:rPr lang="ko-KR" altLang="en-US" sz="1200" dirty="0"/>
              <a:t> 것</a:t>
            </a:r>
          </a:p>
        </p:txBody>
      </p:sp>
    </p:spTree>
    <p:extLst>
      <p:ext uri="{BB962C8B-B14F-4D97-AF65-F5344CB8AC3E}">
        <p14:creationId xmlns:p14="http://schemas.microsoft.com/office/powerpoint/2010/main" val="2273732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30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1550</Words>
  <Application>Microsoft Office PowerPoint</Application>
  <PresentationFormat>와이드스크린</PresentationFormat>
  <Paragraphs>365</Paragraphs>
  <Slides>10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Arial</vt:lpstr>
      <vt:lpstr>Wingdings</vt:lpstr>
      <vt:lpstr>나눔스퀘어OTF</vt:lpstr>
      <vt:lpstr>나눔스퀘어OTF_ac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안용상</dc:creator>
  <cp:lastModifiedBy>안용상</cp:lastModifiedBy>
  <cp:revision>16</cp:revision>
  <dcterms:created xsi:type="dcterms:W3CDTF">2025-06-11T03:46:58Z</dcterms:created>
  <dcterms:modified xsi:type="dcterms:W3CDTF">2025-06-19T09:59:14Z</dcterms:modified>
</cp:coreProperties>
</file>