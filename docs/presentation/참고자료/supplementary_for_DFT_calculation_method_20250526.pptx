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4B15C-FB42-79C9-F130-073B4AD72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A51644-04A7-03E6-5C62-445D2C51C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59AAB3-6A19-97EF-D134-D2EADCF8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EC41C-4064-F27C-6180-3D992519B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21374-D42D-5579-CF09-69C6D5B4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1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11A6C-BF8C-A7B9-2B8F-4E31A5C5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42B485-0D9D-9118-593D-19EC5983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A3A97-D9B3-9563-5C24-15EDACD5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32FEDF-3027-0C65-B0E6-A51D3257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1BE3B-A213-A02F-36DC-64053A15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38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D43D1-7B65-1208-A039-1E43EFC9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8A438C-BDE1-D7B0-F199-6717C07CB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F0F705-DF3E-EE5E-2312-67852ACD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980DB-933E-6AA8-B35A-A3DF1F32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74BB7-2E6D-E846-826D-28DE0373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0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FFA15-DC90-B145-0069-A7FAD38A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58FF20-E95A-4757-D6B5-545F22348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CDE798-9483-55BF-6FEA-BBE41EAD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9806A-2F2E-B27C-6958-FB300EF9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51173B-0DFA-C8F0-9E1B-16389957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D19C83-319D-0AD8-4BD3-48E24573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5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48FD6-2739-ED64-118E-141CD28F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2FB26-BEA1-064E-4073-33E0B6D57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683BB3-2959-2396-ACEA-6255388A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8A40FD-D7BC-CE1B-BD92-593BFEA64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0A433C-0E34-D2D2-45F8-C6B51A3A3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DBCBF-2176-FB85-A63F-8BF947EE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58054F-DD24-B511-1C83-409D3EFC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E2B5F2-5C3D-3700-E912-3D9ED6BA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00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116BA-69E6-1206-813A-A85F2694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205A1-78E4-C21C-DFBF-D423E729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C86D78-DD95-2B92-365C-A951CC0D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6D62BD-20E7-D471-FE1F-91C0A868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9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9BAFB6-9322-7AD6-7E96-7ECD6EF5F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0AB983-15C7-4170-5F95-FB501F06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1916A-2E56-105A-2265-F8923594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08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A9733-64A2-FC7A-ED98-4CF3F62F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6D535-58F1-C882-275C-CBB8678A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B039A0-1DE3-AA65-8379-8BAD72A7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91D598-F81E-BC13-CA54-16D6810D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6E93-E4B3-B2ED-0125-865CFCF1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06D56A-429A-A705-BC30-E4B81794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4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E3370-E0D8-6838-3DA8-EF455370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4ABF9C-2C4A-6F36-6F08-985491443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D651B3-5E60-86C1-6F47-944629750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8FD395-016A-701C-2E74-EC1663C9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6D7D9C-BA6B-E06E-DC31-F9EE51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E66555-4420-AD0C-B658-A697C252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6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8114E-C9EF-2240-0A00-1837E0FC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96D28C-C66C-0B49-760E-E49AB7794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4EE17-8F1D-8E25-9297-3359D4DC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A640E-7E25-9C29-60B0-1E5E316B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FA88C6-DFA6-AA34-8C80-D621CB3B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7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BC0077-57BA-8F43-FDCD-32AF066D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727C5D-7E2E-8659-ADBF-A2C20E688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A18A5C-ECBA-E482-9F79-2D5C4DE3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A15D1F-8A8E-793B-998E-7A9D9117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430B2-67C5-66DF-0F31-82ED1F16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02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CF9501-5BF5-5C82-C109-12E48BA2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B76016-0DBE-2120-B1E4-9A369CAC3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BCF0E-F1DB-0D6D-D67C-D9B80A30F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C42B2-C0A6-4272-8A01-8CEE32A0C248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EA35B-3FF8-B6CE-9C67-8BCEC8D8B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926C1-330E-56E8-30F1-725787AD1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6A991-2552-4598-9B56-0CD06F97E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05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F5916EAF-7537-646C-B1B8-0FB75656A16F}"/>
              </a:ext>
            </a:extLst>
          </p:cNvPr>
          <p:cNvGrpSpPr/>
          <p:nvPr/>
        </p:nvGrpSpPr>
        <p:grpSpPr>
          <a:xfrm>
            <a:off x="533400" y="273088"/>
            <a:ext cx="11420475" cy="6073698"/>
            <a:chOff x="266700" y="444538"/>
            <a:chExt cx="11420475" cy="6073698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F84F2D0F-6F50-3279-0627-8A4D4F183E91}"/>
                </a:ext>
              </a:extLst>
            </p:cNvPr>
            <p:cNvGrpSpPr/>
            <p:nvPr/>
          </p:nvGrpSpPr>
          <p:grpSpPr>
            <a:xfrm>
              <a:off x="897987" y="1671327"/>
              <a:ext cx="9708519" cy="4846909"/>
              <a:chOff x="-9601421" y="-3938819"/>
              <a:chExt cx="21978935" cy="10972827"/>
            </a:xfrm>
          </p:grpSpPr>
          <p:pic>
            <p:nvPicPr>
              <p:cNvPr id="9" name="그림 8" descr="텍스트, 라인, 도표, 스크린샷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E4278017-1A23-B2BC-6ADE-7CD1A9AF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601420" y="-3938814"/>
                <a:ext cx="7315215" cy="5486411"/>
              </a:xfrm>
              <a:prstGeom prst="rect">
                <a:avLst/>
              </a:prstGeom>
            </p:spPr>
          </p:pic>
          <p:pic>
            <p:nvPicPr>
              <p:cNvPr id="19" name="그림 18" descr="텍스트, 라인, 도표, 그래프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6B98CC5A-F382-F162-38FE-A9EF015F3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86206" y="-3938814"/>
                <a:ext cx="7315215" cy="5486411"/>
              </a:xfrm>
              <a:prstGeom prst="rect">
                <a:avLst/>
              </a:prstGeom>
            </p:spPr>
          </p:pic>
          <p:pic>
            <p:nvPicPr>
              <p:cNvPr id="21" name="그림 20" descr="텍스트, 스크린샷, 라인, 도표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9BEC9A5D-6507-41B5-EEC4-15C174F6C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2300" y="-3938819"/>
                <a:ext cx="7315214" cy="5486412"/>
              </a:xfrm>
              <a:prstGeom prst="rect">
                <a:avLst/>
              </a:prstGeom>
            </p:spPr>
          </p:pic>
          <p:pic>
            <p:nvPicPr>
              <p:cNvPr id="23" name="그림 22" descr="텍스트, 스크린샷, 도표, 라인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9975BFA6-A867-D22D-4575-CAC6BECF24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601421" y="1547597"/>
                <a:ext cx="7315215" cy="5486411"/>
              </a:xfrm>
              <a:prstGeom prst="rect">
                <a:avLst/>
              </a:prstGeom>
            </p:spPr>
          </p:pic>
          <p:pic>
            <p:nvPicPr>
              <p:cNvPr id="25" name="그림 24" descr="텍스트, 도표, 라인, 그래프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A289BE00-FEFB-DFCB-C8E6-B7DD3631E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86206" y="1547596"/>
                <a:ext cx="7315215" cy="5486411"/>
              </a:xfrm>
              <a:prstGeom prst="rect">
                <a:avLst/>
              </a:prstGeom>
            </p:spPr>
          </p:pic>
          <p:pic>
            <p:nvPicPr>
              <p:cNvPr id="29" name="그림 28" descr="텍스트, 도표, 라인, 스크린샷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610D7069-DFB0-67A5-9AE5-B4D72DAD85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29009" y="1547596"/>
                <a:ext cx="7315215" cy="5486411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024358-2B53-A58E-9D6B-09DC51813F69}"/>
                </a:ext>
              </a:extLst>
            </p:cNvPr>
            <p:cNvSpPr txBox="1"/>
            <p:nvPr/>
          </p:nvSpPr>
          <p:spPr>
            <a:xfrm>
              <a:off x="266700" y="444538"/>
              <a:ext cx="1142047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</a:t>
              </a:r>
              <a:r>
                <a:rPr lang="en-US" altLang="ko-KR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1400" b="1" dirty="0" err="1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Preliminary convergence test results for plane-wave DFT calculations. The parameters tested include wavefunction cutoff energy (</a:t>
              </a:r>
              <a:r>
                <a:rPr lang="en-US" altLang="ko-K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ecutwfc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charge density cutoff energy (</a:t>
              </a:r>
              <a:r>
                <a:rPr lang="en-US" altLang="ko-K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ecutrho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electronic smearing width (degauss), self-consistent field convergence threshold (</a:t>
              </a:r>
              <a:r>
                <a:rPr lang="en-US" altLang="ko-K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conv_thr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mixing parameter (</a:t>
              </a:r>
              <a:r>
                <a:rPr lang="en-US" altLang="ko-K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mixing_beta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 and k-point mesh settings (a–f). Each parameter was systematically varied to determine its impact on the total energy convergence and calculation stability.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76C3FD1-9CE1-4F53-9DB4-66CD5379A5CF}"/>
              </a:ext>
            </a:extLst>
          </p:cNvPr>
          <p:cNvSpPr txBox="1"/>
          <p:nvPr/>
        </p:nvSpPr>
        <p:spPr>
          <a:xfrm>
            <a:off x="1339849" y="1320800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(a)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04381-A2EF-E231-3C00-EBD850453A64}"/>
              </a:ext>
            </a:extLst>
          </p:cNvPr>
          <p:cNvSpPr txBox="1"/>
          <p:nvPr/>
        </p:nvSpPr>
        <p:spPr>
          <a:xfrm>
            <a:off x="4646467" y="1320800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(b)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4897E-3894-0980-E961-E5DA673FE6FE}"/>
              </a:ext>
            </a:extLst>
          </p:cNvPr>
          <p:cNvSpPr txBox="1"/>
          <p:nvPr/>
        </p:nvSpPr>
        <p:spPr>
          <a:xfrm>
            <a:off x="7877738" y="1320800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(c)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32478-3EEC-B31B-F16C-1E5786CB4712}"/>
              </a:ext>
            </a:extLst>
          </p:cNvPr>
          <p:cNvSpPr txBox="1"/>
          <p:nvPr/>
        </p:nvSpPr>
        <p:spPr>
          <a:xfrm>
            <a:off x="1339849" y="3794635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(d)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E1F46-09A6-A3AD-993C-59F7E87C1A7C}"/>
              </a:ext>
            </a:extLst>
          </p:cNvPr>
          <p:cNvSpPr txBox="1"/>
          <p:nvPr/>
        </p:nvSpPr>
        <p:spPr>
          <a:xfrm>
            <a:off x="4646467" y="3794635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(e)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3A5AD-88C8-C6CE-7924-C63A0DB65374}"/>
              </a:ext>
            </a:extLst>
          </p:cNvPr>
          <p:cNvSpPr txBox="1"/>
          <p:nvPr/>
        </p:nvSpPr>
        <p:spPr>
          <a:xfrm>
            <a:off x="7877738" y="3794635"/>
            <a:ext cx="492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(f)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273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안용상</dc:creator>
  <cp:lastModifiedBy>안용상</cp:lastModifiedBy>
  <cp:revision>2</cp:revision>
  <dcterms:created xsi:type="dcterms:W3CDTF">2025-05-26T09:38:48Z</dcterms:created>
  <dcterms:modified xsi:type="dcterms:W3CDTF">2025-05-26T09:57:54Z</dcterms:modified>
</cp:coreProperties>
</file>